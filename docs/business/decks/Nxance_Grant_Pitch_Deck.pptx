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Play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0JcfFOwVfAtKQWCqBjow5tefY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regular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Play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Nxance pitch deck for identity and product context.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AI-generated visual created specifically for this Nxance grant proposal; no external asset.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Nxance MVP Grant Budget workbook created for this proposal.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Pilot targets are planning targets and are not represented as achieved results.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'Nxance - Pitch Deck.pdf', early validation figures: 12 investor interviews, 8 expressed willingness to pay, 50 demo users.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Qualitative problem framing is based on the user-provided product narrative.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'Nxance - Pitch Deck.pdf', solution modules and positioning.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95" name="Google Shape;9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'Nxance - Pitch Deck.pdf' for current prototype and validation evidence.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Future-stage labels are targets in the six-month grant work plan.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Nxance grant design rationale developed from the user-provided product plan and the MVP budget model.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Nxance pitch deck for product modules.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Regulatory boundary is a planning control; confirm with qualified securities counsel before external submission or launch.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NVIDIA DGX Spark India: https://www.nvidia.com/en-in/products/workstations/dgx-spark/ — 128GB unified memory, up to 1 PFLOP FP4, 4TB and DGX 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NVIDIA Marketplace: https://marketplace.nvidia.com/en-us/enterprise/personal-ai-supercomputers/dgx-spark/ — USD 4,699 listed price accessed 2026-09-02.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RBI/FBIL reference rate reporting: https://www.rbi.org.in/Scripts/BS_NSDPDisplay.aspx?param=4 — rounded planning rate of ₹96/USD; refresh before procurement.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Lenovo India client AI workstations: https://techtoday.lenovo.com/in/en/workstations/client-ai — Ubuntu/Linux workstation context.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Product image sourced from the official NVIDIA DGX Spark page.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14" name="Google Shape;21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Nxance MVP Grant Budget workbook, Milestones sheet. Draw amounts are planning figures and should be mapped to each grant's disbursement rules.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42" name="Google Shape;24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Nxance MVP Grant Budget workbook, Pilot acquisition &amp; marketing category.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₹499/month is a planning price assumption from the existing Nxance pricing hypothesis; the resulting MRR is an indicator, not achieved revenue.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92" name="Google Shape;29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Nxance MVP Grant Budget workbook, Scenario Compare and Detailed Budget sheets.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DGX Spark planning basis: NVIDIA Marketplace price and RBI/FBIL exchange-rate reporting; India quotation required before procurement.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32" name="Google Shape;33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Startup India Seed Fund Scheme FAQ: https://seedfund.startupindia.gov.in/faq — up to ₹20 lakh grant for proof of concept, prototype development and product trials.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Gujarat Startup Assistance: https://startup.gujarat.gov.in/scheme-for-assistance/scheme-one — state portal indicates seed support up to ₹30 lakh; confirm current eligibility and call.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i-Hub Gujarat S4: https://ihubgujarat.in/srujan — ₹2.5–10 lakh PoC-to-product/market support; confirm current cohort dates.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MeitY Startup Hub / TIDE 2.0: https://msh.meity.gov.in/ and participating incubator example https://itic.iith.ac.in/ — call-specific support and eligibility.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NIDHI-PRAYAS 2.0 innovator rules: https://nidhi-prayas.org/innovators/ — pure software, e-commerce, service and app-based solutions are excluded.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*Gujarat route remains conditional on entity, location, recognition and current-call eligibility.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53" name="Google Shape;35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3" name="Google Shape;39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'Nxance - Pitch Deck.pdf' for founding team names and roles. Grant ownership assignments are proposed for this application and should be confirmed by the team.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94" name="Google Shape;394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RBI Inter-operable Regulatory Sandbox FAQ: https://www.rbi.org.in/commonman/English/scripts/FAQs.aspx?Id=3822 — potential validation route, not grant funding.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SEBI Regulatory Sandbox: https://www.sebi.gov.in/sebiweb/other/RegulatorySandbox.jsp — potential validation route, not grant funding.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Compliance controls are planning measures and do not constitute legal advice; obtain qualified counsel before launch.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430" name="Google Shape;430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3" name="Google Shape;463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Nxance MVP Grant Budget workbook and six-month Milestones sheet.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All future outcomes shown are targets. Final grant amount and eligible cost heads must be adapted to the active call and incubator approval.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464" name="Google Shape;464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7086600" y="0"/>
            <a:ext cx="51054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19900" y="0"/>
            <a:ext cx="266700" cy="6858000"/>
          </a:xfrm>
          <a:prstGeom prst="rect">
            <a:avLst/>
          </a:prstGeom>
          <a:solidFill>
            <a:srgbClr val="55C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450" y="458578"/>
            <a:ext cx="1714500" cy="61637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552450" y="1409700"/>
            <a:ext cx="2324100" cy="323850"/>
          </a:xfrm>
          <a:prstGeom prst="roundRect">
            <a:avLst>
              <a:gd fmla="val 23529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647700" y="1457325"/>
            <a:ext cx="21336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i="0" lang="en-US" sz="12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REUSABLE INDIA MASTER</a:t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52450" y="1943100"/>
            <a:ext cx="59055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5400"/>
              <a:buFont typeface="Play"/>
              <a:buNone/>
            </a:pPr>
            <a:r>
              <a:rPr b="1" i="0" lang="en-US" sz="54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Nxance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5400"/>
              <a:buFont typeface="Play"/>
              <a:buNone/>
            </a:pPr>
            <a:r>
              <a:rPr b="1" i="0" lang="en-US" sz="54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Grant Proposal</a:t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552450" y="3895725"/>
            <a:ext cx="58102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75"/>
              <a:buFont typeface="Arial"/>
              <a:buNone/>
            </a:pPr>
            <a:r>
              <a:rPr b="0" i="0" lang="en-US" sz="18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Explainable investment intelligence — from working prototype to secure paid pilot.</a:t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552450" y="5010150"/>
            <a:ext cx="2152650" cy="323850"/>
          </a:xfrm>
          <a:prstGeom prst="roundRect">
            <a:avLst>
              <a:gd fmla="val 23529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647700" y="5057775"/>
            <a:ext cx="1962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₹</a:t>
            </a:r>
            <a:r>
              <a:rPr b="1" lang="en-US" sz="1200">
                <a:solidFill>
                  <a:srgbClr val="FFFFFF"/>
                </a:solidFill>
              </a:rPr>
              <a:t>30</a:t>
            </a:r>
            <a:r>
              <a:rPr b="1" i="0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LAKH ENVELOPE</a:t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57500" y="5010150"/>
            <a:ext cx="1447800" cy="323850"/>
          </a:xfrm>
          <a:prstGeom prst="roundRect">
            <a:avLst>
              <a:gd fmla="val 23529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2952750" y="5057775"/>
            <a:ext cx="12573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i="0" lang="en-US" sz="12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6 MONTHS</a:t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552450" y="5753100"/>
            <a:ext cx="3333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Ohshn Intelligence LLP</a:t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552450" y="6076950"/>
            <a:ext cx="4095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Prototype → pilot → first paying users</a:t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7467600" y="762000"/>
            <a:ext cx="4152900" cy="5334000"/>
          </a:xfrm>
          <a:prstGeom prst="roundRect">
            <a:avLst>
              <a:gd fmla="val 1835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" name="Google Shape;30;p1"/>
          <p:cNvPicPr preferRelativeResize="0"/>
          <p:nvPr/>
        </p:nvPicPr>
        <p:blipFill rotWithShape="1">
          <a:blip r:embed="rId4">
            <a:alphaModFix/>
          </a:blip>
          <a:srcRect b="0" l="11923" r="11923" t="0"/>
          <a:stretch/>
        </p:blipFill>
        <p:spPr>
          <a:xfrm>
            <a:off x="7658100" y="952500"/>
            <a:ext cx="3771900" cy="49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514350" y="295275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NXANCE • GRANT PROPOSAL</a:t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514350" y="609600"/>
            <a:ext cx="9620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150"/>
              <a:buFont typeface="Play"/>
              <a:buNone/>
            </a:pPr>
            <a:r>
              <a:rPr b="1" i="0" lang="en-US" sz="315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₹</a:t>
            </a:r>
            <a:r>
              <a:rPr b="1" lang="en-US" sz="315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30</a:t>
            </a:r>
            <a:r>
              <a:rPr b="1" i="0" lang="en-US" sz="315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L turns the prototype into a paid pilot</a:t>
            </a:r>
            <a:endParaRPr/>
          </a:p>
        </p:txBody>
      </p:sp>
      <p:pic>
        <p:nvPicPr>
          <p:cNvPr id="38" name="Google Shape;3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2250" y="287974"/>
            <a:ext cx="1285875" cy="462277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514350" y="6429375"/>
            <a:ext cx="111633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11001375" y="6515100"/>
            <a:ext cx="6762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514350" y="1381125"/>
            <a:ext cx="10572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725"/>
              <a:buFont typeface="Arial"/>
              <a:buNone/>
            </a:pPr>
            <a:r>
              <a:rPr b="0" i="0" lang="en-US" sz="17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plan is modular: a ₹2</a:t>
            </a:r>
            <a:r>
              <a:rPr lang="en-US" sz="1725">
                <a:solidFill>
                  <a:srgbClr val="64748B"/>
                </a:solidFill>
              </a:rPr>
              <a:t>5</a:t>
            </a:r>
            <a:r>
              <a:rPr b="0" i="0" lang="en-US" sz="17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 grant-compatible core, plus a ₹5L extension or co-funding layer.</a:t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514350" y="2095500"/>
            <a:ext cx="3409950" cy="2762250"/>
          </a:xfrm>
          <a:prstGeom prst="roundRect">
            <a:avLst>
              <a:gd fmla="val 2759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742950" y="230505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50"/>
              <a:buFont typeface="Play"/>
              <a:buNone/>
            </a:pPr>
            <a:r>
              <a:rPr b="1" i="0" lang="en-US" sz="2250">
                <a:solidFill>
                  <a:srgbClr val="2563EB"/>
                </a:solidFill>
                <a:latin typeface="Play"/>
                <a:ea typeface="Play"/>
                <a:cs typeface="Play"/>
                <a:sym typeface="Play"/>
              </a:rPr>
              <a:t>01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742950" y="2781300"/>
            <a:ext cx="2952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Play"/>
              <a:buNone/>
            </a:pPr>
            <a:r>
              <a:rPr b="1" i="0" lang="en-US" sz="18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Build the production MVP</a:t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742950" y="3352800"/>
            <a:ext cx="295275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Harden Health Check, integrate Portfolio Builder and NxanceLM, establish controlled data flows, and create repeatable local AI evaluation.</a:t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210050" y="2095500"/>
            <a:ext cx="3409950" cy="2762250"/>
          </a:xfrm>
          <a:prstGeom prst="roundRect">
            <a:avLst>
              <a:gd fmla="val 2759" name="adj"/>
            </a:avLst>
          </a:prstGeom>
          <a:solidFill>
            <a:srgbClr val="EAF5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438650" y="230505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50"/>
              <a:buFont typeface="Play"/>
              <a:buNone/>
            </a:pPr>
            <a:r>
              <a:rPr b="1" i="0" lang="en-US" sz="2250">
                <a:solidFill>
                  <a:srgbClr val="2563EB"/>
                </a:solidFill>
                <a:latin typeface="Play"/>
                <a:ea typeface="Play"/>
                <a:cs typeface="Play"/>
                <a:sym typeface="Play"/>
              </a:rPr>
              <a:t>02</a:t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438650" y="2781300"/>
            <a:ext cx="2952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Play"/>
              <a:buNone/>
            </a:pPr>
            <a:r>
              <a:rPr b="1" i="0" lang="en-US" sz="18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Validate safely</a:t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438650" y="3352800"/>
            <a:ext cx="295275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Independent QA, security and privacy controls; closed alpha with 100 users; pilot candidate with 250 qualified beta users.</a:t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7905750" y="2095500"/>
            <a:ext cx="3771900" cy="2762250"/>
          </a:xfrm>
          <a:prstGeom prst="roundRect">
            <a:avLst>
              <a:gd fmla="val 2759" name="adj"/>
            </a:avLst>
          </a:prstGeom>
          <a:solidFill>
            <a:srgbClr val="DCFCE7"/>
          </a:solidFill>
          <a:ln cap="flat" cmpd="sng" w="9525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8134350" y="230505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250"/>
              <a:buFont typeface="Play"/>
              <a:buNone/>
            </a:pPr>
            <a:r>
              <a:rPr b="1" i="0" lang="en-US" sz="2250">
                <a:solidFill>
                  <a:srgbClr val="16A34A"/>
                </a:solidFill>
                <a:latin typeface="Play"/>
                <a:ea typeface="Play"/>
                <a:cs typeface="Play"/>
                <a:sym typeface="Play"/>
              </a:rPr>
              <a:t>03</a:t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8134350" y="2781300"/>
            <a:ext cx="33147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Play"/>
              <a:buNone/>
            </a:pPr>
            <a:r>
              <a:rPr b="1" i="0" lang="en-US" sz="18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Prove willingness to pay</a:t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8134350" y="3352800"/>
            <a:ext cx="33147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controlled six-month launch targets 50 paying users or paid commitments, with a starting MRR indicator of ₹24,950.</a:t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514350" y="5191125"/>
            <a:ext cx="11163300" cy="876300"/>
          </a:xfrm>
          <a:prstGeom prst="roundRect">
            <a:avLst>
              <a:gd fmla="val 8696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762000" y="5353050"/>
            <a:ext cx="1143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i="0" lang="en-US" sz="2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₹2</a:t>
            </a:r>
            <a:r>
              <a:rPr b="1" lang="en-US" sz="2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5</a:t>
            </a:r>
            <a:r>
              <a:rPr b="1" i="0" lang="en-US" sz="2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L</a:t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1857375" y="5467350"/>
            <a:ext cx="1809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grant-cap core</a:t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3876675" y="5334000"/>
            <a:ext cx="381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5C7F3"/>
              </a:buClr>
              <a:buSzPts val="2700"/>
              <a:buFont typeface="Arial"/>
              <a:buNone/>
            </a:pPr>
            <a:r>
              <a:rPr b="1" i="0" lang="en-US" sz="2700">
                <a:solidFill>
                  <a:srgbClr val="55C7F3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4572000" y="5353050"/>
            <a:ext cx="952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i="0" lang="en-US" sz="2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₹5L</a:t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5505450" y="5467350"/>
            <a:ext cx="2381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extension / co-funding</a:t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8782050" y="5400675"/>
            <a:ext cx="2571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5C7F3"/>
              </a:buClr>
              <a:buSzPts val="1650"/>
              <a:buFont typeface="Arial"/>
              <a:buNone/>
            </a:pPr>
            <a:r>
              <a:rPr b="1" i="0" lang="en-US" sz="1650">
                <a:solidFill>
                  <a:srgbClr val="55C7F3"/>
                </a:solidFill>
                <a:latin typeface="Arial"/>
                <a:ea typeface="Arial"/>
                <a:cs typeface="Arial"/>
                <a:sym typeface="Arial"/>
              </a:rPr>
              <a:t>No founder salaries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514350" y="295275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NXANCE • GRANT PROPOSAL</a:t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514350" y="609600"/>
            <a:ext cx="9620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150"/>
              <a:buFont typeface="Play"/>
              <a:buNone/>
            </a:pPr>
            <a:r>
              <a:rPr b="1" i="0" lang="en-US" sz="315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The missing layer: portfolio diagnosis</a:t>
            </a:r>
            <a:endParaRPr/>
          </a:p>
        </p:txBody>
      </p:sp>
      <p:pic>
        <p:nvPicPr>
          <p:cNvPr id="68" name="Google Shape;6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2250" y="287974"/>
            <a:ext cx="1285875" cy="462277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/>
          <p:nvPr/>
        </p:nvSpPr>
        <p:spPr>
          <a:xfrm>
            <a:off x="514350" y="6429375"/>
            <a:ext cx="111633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11001375" y="6515100"/>
            <a:ext cx="6762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514350" y="1476375"/>
            <a:ext cx="6572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50"/>
              <a:buFont typeface="Arial"/>
              <a:buNone/>
            </a:pPr>
            <a:r>
              <a:rPr b="0" i="0" lang="en-US" sz="19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Portfolio tools show values and returns. The unanswered questions are about suitability, risk concentration, goal fit and the reasoning behind the next decision.</a:t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7524750" y="1428750"/>
            <a:ext cx="4152900" cy="1238250"/>
          </a:xfrm>
          <a:prstGeom prst="roundRect">
            <a:avLst>
              <a:gd fmla="val 6154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7753350" y="1638300"/>
            <a:ext cx="3695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Play"/>
              <a:buNone/>
            </a:pPr>
            <a:r>
              <a:rPr b="1" i="0" lang="en-US" sz="165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Fragmented diagnosis</a:t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753350" y="2114550"/>
            <a:ext cx="3695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Holdings across brokers and spreadsheets do not become a coherent investment view.</a:t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7524750" y="2809875"/>
            <a:ext cx="4152900" cy="1238250"/>
          </a:xfrm>
          <a:prstGeom prst="roundRect">
            <a:avLst>
              <a:gd fmla="val 6154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7753350" y="3019425"/>
            <a:ext cx="3695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Play"/>
              <a:buNone/>
            </a:pPr>
            <a:r>
              <a:rPr b="1" i="0" lang="en-US" sz="165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Opaque recommendations</a:t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7753350" y="3495675"/>
            <a:ext cx="3695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Users receive scores or suggestions without evidence they can interrogate.</a:t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7524750" y="4191000"/>
            <a:ext cx="4152900" cy="1238250"/>
          </a:xfrm>
          <a:prstGeom prst="roundRect">
            <a:avLst>
              <a:gd fmla="val 6154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7753350" y="4400550"/>
            <a:ext cx="3695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Play"/>
              <a:buNone/>
            </a:pPr>
            <a:r>
              <a:rPr b="1" i="0" lang="en-US" sz="165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Misaligned access</a:t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7753350" y="4876800"/>
            <a:ext cx="3695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Affordable tools often optimise activity; quality advice remains difficult to access.</a:t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514350" y="3000375"/>
            <a:ext cx="6572250" cy="2428875"/>
          </a:xfrm>
          <a:prstGeom prst="roundRect">
            <a:avLst>
              <a:gd fmla="val 3137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781050" y="3267075"/>
            <a:ext cx="2857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5C7F3"/>
              </a:buClr>
              <a:buSzPts val="1650"/>
              <a:buFont typeface="Arial"/>
              <a:buNone/>
            </a:pPr>
            <a:r>
              <a:rPr b="1" i="0" lang="en-US" sz="1650">
                <a:solidFill>
                  <a:srgbClr val="55C7F3"/>
                </a:solidFill>
                <a:latin typeface="Arial"/>
                <a:ea typeface="Arial"/>
                <a:cs typeface="Arial"/>
                <a:sym typeface="Arial"/>
              </a:rPr>
              <a:t>Early problem validation</a:t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781050" y="3810000"/>
            <a:ext cx="17145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781050" y="3981450"/>
            <a:ext cx="1714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b="1" i="0" lang="en-US" sz="3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12</a:t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781050" y="4552950"/>
            <a:ext cx="1714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investor interviews</a:t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2800350" y="3810000"/>
            <a:ext cx="2038350" cy="38100"/>
          </a:xfrm>
          <a:prstGeom prst="rect">
            <a:avLst/>
          </a:prstGeom>
          <a:solidFill>
            <a:srgbClr val="55C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2800350" y="3981450"/>
            <a:ext cx="20383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C7F3"/>
              </a:buClr>
              <a:buSzPts val="3000"/>
              <a:buFont typeface="Play"/>
              <a:buNone/>
            </a:pPr>
            <a:r>
              <a:rPr b="1" i="0" lang="en-US" sz="3000">
                <a:solidFill>
                  <a:srgbClr val="55C7F3"/>
                </a:solidFill>
                <a:latin typeface="Play"/>
                <a:ea typeface="Play"/>
                <a:cs typeface="Play"/>
                <a:sym typeface="Play"/>
              </a:rPr>
              <a:t>8</a:t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2800350" y="4552950"/>
            <a:ext cx="20383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expressed willingness to pay</a:t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5143500" y="3810000"/>
            <a:ext cx="15621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5143500" y="3981450"/>
            <a:ext cx="15621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b="1" i="0" lang="en-US" sz="3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50</a:t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5143500" y="4552950"/>
            <a:ext cx="1562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demo users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/>
          <p:nvPr/>
        </p:nvSpPr>
        <p:spPr>
          <a:xfrm>
            <a:off x="514350" y="295275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NXANCE • GRANT PROPOSAL</a:t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514350" y="609600"/>
            <a:ext cx="9620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150"/>
              <a:buFont typeface="Play"/>
              <a:buNone/>
            </a:pPr>
            <a:r>
              <a:rPr b="1" i="0" lang="en-US" sz="315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Three engines form one decision layer</a:t>
            </a:r>
            <a:endParaRPr/>
          </a:p>
        </p:txBody>
      </p:sp>
      <p:pic>
        <p:nvPicPr>
          <p:cNvPr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2250" y="287974"/>
            <a:ext cx="1285875" cy="46227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4"/>
          <p:cNvSpPr/>
          <p:nvPr/>
        </p:nvSpPr>
        <p:spPr>
          <a:xfrm>
            <a:off x="514350" y="6429375"/>
            <a:ext cx="111633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11001375" y="6515100"/>
            <a:ext cx="6762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514350" y="1381125"/>
            <a:ext cx="9334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725"/>
              <a:buFont typeface="Arial"/>
              <a:buNone/>
            </a:pPr>
            <a:r>
              <a:rPr b="0" i="0" lang="en-US" sz="17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grant funds reliability, integration and evidence—not a new idea from zero.</a:t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514350" y="2095500"/>
            <a:ext cx="3409950" cy="3333750"/>
          </a:xfrm>
          <a:prstGeom prst="roundRect">
            <a:avLst>
              <a:gd fmla="val 2286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742950" y="230505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50"/>
              <a:buFont typeface="Play"/>
              <a:buNone/>
            </a:pPr>
            <a:r>
              <a:rPr b="1" i="0" lang="en-US" sz="2250">
                <a:solidFill>
                  <a:srgbClr val="2563EB"/>
                </a:solidFill>
                <a:latin typeface="Play"/>
                <a:ea typeface="Play"/>
                <a:cs typeface="Play"/>
                <a:sym typeface="Play"/>
              </a:rPr>
              <a:t>01</a:t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742950" y="2781300"/>
            <a:ext cx="2952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Play"/>
              <a:buNone/>
            </a:pPr>
            <a:r>
              <a:rPr b="1" i="0" lang="en-US" sz="18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Health Check</a:t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742950" y="3352800"/>
            <a:ext cx="295275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Diagnoses allocation, concentration, diversification, risk and goal alignment across an investor's existing portfolio.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Grant work: import reliability, scoring calibration and explanation trace.</a:t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4210050" y="2095500"/>
            <a:ext cx="3409950" cy="3333750"/>
          </a:xfrm>
          <a:prstGeom prst="roundRect">
            <a:avLst>
              <a:gd fmla="val 2286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4438650" y="230505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50"/>
              <a:buFont typeface="Play"/>
              <a:buNone/>
            </a:pPr>
            <a:r>
              <a:rPr b="1" i="0" lang="en-US" sz="2250">
                <a:solidFill>
                  <a:srgbClr val="2563EB"/>
                </a:solidFill>
                <a:latin typeface="Play"/>
                <a:ea typeface="Play"/>
                <a:cs typeface="Play"/>
                <a:sym typeface="Play"/>
              </a:rPr>
              <a:t>02</a:t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4438650" y="2781300"/>
            <a:ext cx="2952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Play"/>
              <a:buNone/>
            </a:pPr>
            <a:r>
              <a:rPr b="1" i="0" lang="en-US" sz="18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Portfolio Builder</a:t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4438650" y="3352800"/>
            <a:ext cx="295275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Constructs goal-aware portfolios using constraints, investor context and diversified building blocks.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Grant work: integration, back-testing, suitability rules and QA.</a:t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7905750" y="2095500"/>
            <a:ext cx="3771900" cy="3333750"/>
          </a:xfrm>
          <a:prstGeom prst="roundRect">
            <a:avLst>
              <a:gd fmla="val 2286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8134350" y="230505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50"/>
              <a:buFont typeface="Play"/>
              <a:buNone/>
            </a:pPr>
            <a:r>
              <a:rPr b="1" i="0" lang="en-US" sz="2250">
                <a:solidFill>
                  <a:srgbClr val="2563EB"/>
                </a:solidFill>
                <a:latin typeface="Play"/>
                <a:ea typeface="Play"/>
                <a:cs typeface="Play"/>
                <a:sym typeface="Play"/>
              </a:rPr>
              <a:t>03</a:t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8134350" y="2781300"/>
            <a:ext cx="33147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Play"/>
              <a:buNone/>
            </a:pPr>
            <a:r>
              <a:rPr b="1" i="0" lang="en-US" sz="18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NxanceLM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8134350" y="3352800"/>
            <a:ext cx="331470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Explains diagnosis and portfolio choices in plain language, with outputs linked to evidence and controls.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Grant work: local evaluation, retrieval, guardrails and traceability.</a:t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514350" y="5734050"/>
            <a:ext cx="11163300" cy="400050"/>
          </a:xfrm>
          <a:prstGeom prst="roundRect">
            <a:avLst>
              <a:gd fmla="val 19048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781050" y="5810250"/>
            <a:ext cx="10629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75"/>
              <a:buFont typeface="Arial"/>
              <a:buNone/>
            </a:pPr>
            <a:r>
              <a:rPr b="1" i="0" lang="en-US" sz="157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Unified output: what you own → what is wrong → what to change → why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514350" y="295275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NXANCE • GRANT PROPOSAL</a:t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514350" y="609600"/>
            <a:ext cx="9620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150"/>
              <a:buFont typeface="Play"/>
              <a:buNone/>
            </a:pPr>
            <a:r>
              <a:rPr b="1" i="0" lang="en-US" sz="315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The grant closes the pilot-readiness gap</a:t>
            </a:r>
            <a:endParaRPr/>
          </a:p>
        </p:txBody>
      </p:sp>
      <p:pic>
        <p:nvPicPr>
          <p:cNvPr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2250" y="287974"/>
            <a:ext cx="1285875" cy="462277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/>
          <p:nvPr/>
        </p:nvSpPr>
        <p:spPr>
          <a:xfrm>
            <a:off x="514350" y="6429375"/>
            <a:ext cx="111633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11001375" y="6515100"/>
            <a:ext cx="6762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514350" y="1562100"/>
            <a:ext cx="1905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75"/>
              <a:buFont typeface="Arial"/>
              <a:buNone/>
            </a:pPr>
            <a:r>
              <a:rPr b="1" i="0" lang="en-US" sz="157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Current state</a:t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514350" y="1943100"/>
            <a:ext cx="4286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100"/>
              <a:buFont typeface="Play"/>
              <a:buNone/>
            </a:pPr>
            <a:r>
              <a:rPr b="1" i="0" lang="en-US" sz="21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Working prototype with demo users and a clear product architecture.</a:t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514350" y="2876550"/>
            <a:ext cx="466725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75"/>
              <a:buFont typeface="Arial"/>
              <a:buNone/>
            </a:pPr>
            <a:r>
              <a:rPr b="0" i="0" lang="en-US" sz="15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remaining work is production engineering, safety validation, controlled compute and structured user acquisition.</a:t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514350" y="4343400"/>
            <a:ext cx="4476750" cy="1238250"/>
          </a:xfrm>
          <a:prstGeom prst="roundRect">
            <a:avLst>
              <a:gd fmla="val 6154" name="adj"/>
            </a:avLst>
          </a:prstGeom>
          <a:solidFill>
            <a:srgbClr val="DCFCE7"/>
          </a:solidFill>
          <a:ln cap="flat" cmpd="sng" w="9525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762000" y="4552950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Grant outcome</a:t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762000" y="4895850"/>
            <a:ext cx="3905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75"/>
              <a:buFont typeface="Play"/>
              <a:buNone/>
            </a:pPr>
            <a:r>
              <a:rPr b="1" i="0" lang="en-US" sz="1875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A secure, measurable MVP used in a paid pilot.</a:t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6000750" y="3324225"/>
            <a:ext cx="4857750" cy="476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5905500" y="3105150"/>
            <a:ext cx="476250" cy="476250"/>
          </a:xfrm>
          <a:prstGeom prst="ellipse">
            <a:avLst/>
          </a:prstGeom>
          <a:solidFill>
            <a:srgbClr val="2563EB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5476875" y="3733800"/>
            <a:ext cx="133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Prototype</a:t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5572125" y="4229100"/>
            <a:ext cx="114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7524750" y="3105150"/>
            <a:ext cx="476250" cy="476250"/>
          </a:xfrm>
          <a:prstGeom prst="ellipse">
            <a:avLst/>
          </a:prstGeom>
          <a:solidFill>
            <a:srgbClr val="55C7F3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7096125" y="3733800"/>
            <a:ext cx="133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Closed alpha</a:t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7191375" y="4229100"/>
            <a:ext cx="114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Month 4</a:t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9144000" y="3105150"/>
            <a:ext cx="476250" cy="476250"/>
          </a:xfrm>
          <a:prstGeom prst="ellipse">
            <a:avLst/>
          </a:prstGeom>
          <a:solidFill>
            <a:srgbClr val="F59E0B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8715375" y="3733800"/>
            <a:ext cx="133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Pilot candidate</a:t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8810625" y="4229100"/>
            <a:ext cx="114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Month 5</a:t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10763250" y="3105150"/>
            <a:ext cx="476250" cy="476250"/>
          </a:xfrm>
          <a:prstGeom prst="ellipse">
            <a:avLst/>
          </a:prstGeom>
          <a:solidFill>
            <a:srgbClr val="16A34A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10334625" y="3733800"/>
            <a:ext cx="133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Paid pilot</a:t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10429875" y="4229100"/>
            <a:ext cx="114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Month 6</a:t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6057900" y="5010150"/>
            <a:ext cx="1657350" cy="323850"/>
          </a:xfrm>
          <a:prstGeom prst="roundRect">
            <a:avLst>
              <a:gd fmla="val 23529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6153150" y="5057775"/>
            <a:ext cx="14668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i="0" lang="en-US" sz="12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12 INTERVIEWS</a:t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7886700" y="5010150"/>
            <a:ext cx="1866900" cy="323850"/>
          </a:xfrm>
          <a:prstGeom prst="roundRect">
            <a:avLst>
              <a:gd fmla="val 23529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7981950" y="5057775"/>
            <a:ext cx="16764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i="0" lang="en-US" sz="12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8 WILLING TO PAY</a:t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9925050" y="5010150"/>
            <a:ext cx="1657350" cy="323850"/>
          </a:xfrm>
          <a:prstGeom prst="roundRect">
            <a:avLst>
              <a:gd fmla="val 23529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10020300" y="5057775"/>
            <a:ext cx="14668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i="0" lang="en-US" sz="12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50 DEMO USERS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/>
          <p:nvPr/>
        </p:nvSpPr>
        <p:spPr>
          <a:xfrm>
            <a:off x="514350" y="295275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NXANCE • GRANT PROPOSAL</a:t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514350" y="609600"/>
            <a:ext cx="9620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150"/>
              <a:buFont typeface="Play"/>
              <a:buNone/>
            </a:pPr>
            <a:r>
              <a:rPr b="1" i="0" lang="en-US" sz="315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Innovation is an auditable evidence chain</a:t>
            </a:r>
            <a:endParaRPr/>
          </a:p>
        </p:txBody>
      </p:sp>
      <p:pic>
        <p:nvPicPr>
          <p:cNvPr id="159" name="Google Shape;1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2250" y="287974"/>
            <a:ext cx="1285875" cy="462277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6"/>
          <p:cNvSpPr/>
          <p:nvPr/>
        </p:nvSpPr>
        <p:spPr>
          <a:xfrm>
            <a:off x="514350" y="6429375"/>
            <a:ext cx="111633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11001375" y="6515100"/>
            <a:ext cx="6762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514350" y="1466850"/>
            <a:ext cx="4095750" cy="4476750"/>
          </a:xfrm>
          <a:prstGeom prst="roundRect">
            <a:avLst>
              <a:gd fmla="val 1860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800100" y="1790700"/>
            <a:ext cx="3524250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Every recommendation should be traceable to portfolio facts, rules and tested model behaviour.</a:t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800100" y="3905250"/>
            <a:ext cx="3429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5C7F3"/>
              </a:buClr>
              <a:buSzPts val="1575"/>
              <a:buFont typeface="Arial"/>
              <a:buNone/>
            </a:pPr>
            <a:r>
              <a:rPr b="0" i="0" lang="en-US" sz="1575">
                <a:solidFill>
                  <a:srgbClr val="55C7F3"/>
                </a:solidFill>
                <a:latin typeface="Arial"/>
                <a:ea typeface="Arial"/>
                <a:cs typeface="Arial"/>
                <a:sym typeface="Arial"/>
              </a:rPr>
              <a:t>This turns AI from a black-box answer into an auditable decision-support layer.</a:t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800100" y="5219700"/>
            <a:ext cx="3143250" cy="323850"/>
          </a:xfrm>
          <a:prstGeom prst="roundRect">
            <a:avLst>
              <a:gd fmla="val 235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895350" y="5267325"/>
            <a:ext cx="2952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Arial"/>
              <a:buNone/>
            </a:pPr>
            <a:r>
              <a:rPr b="1" i="0" lang="en-US" sz="12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ANALYTICS + EDUCATION FIRST</a:t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4953000" y="1466850"/>
            <a:ext cx="3143250" cy="2000250"/>
          </a:xfrm>
          <a:prstGeom prst="roundRect">
            <a:avLst>
              <a:gd fmla="val 3810" name="adj"/>
            </a:avLst>
          </a:prstGeom>
          <a:solidFill>
            <a:srgbClr val="EAF5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5181600" y="1676400"/>
            <a:ext cx="26860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Play"/>
              <a:buNone/>
            </a:pPr>
            <a:r>
              <a:rPr b="1" i="0" lang="en-US" sz="165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Responsible access</a:t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5181600" y="2152650"/>
            <a:ext cx="268605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Plain-language explanations make portfolio intelligence usable beyond high-ticket advisory relationships.</a:t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8362950" y="1466850"/>
            <a:ext cx="3314700" cy="2000250"/>
          </a:xfrm>
          <a:prstGeom prst="roundRect">
            <a:avLst>
              <a:gd fmla="val 3810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8591550" y="1676400"/>
            <a:ext cx="2857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Play"/>
              <a:buNone/>
            </a:pPr>
            <a:r>
              <a:rPr b="1" i="0" lang="en-US" sz="165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Indigenous capability</a:t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8591550" y="2152650"/>
            <a:ext cx="28575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 evaluation compute builds repeatable AI capability around Indian investment contexts and data controls.</a:t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4953000" y="3733800"/>
            <a:ext cx="3143250" cy="2209800"/>
          </a:xfrm>
          <a:prstGeom prst="roundRect">
            <a:avLst>
              <a:gd fmla="val 3448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5181600" y="3943350"/>
            <a:ext cx="26860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Play"/>
              <a:buNone/>
            </a:pPr>
            <a:r>
              <a:rPr b="1" i="0" lang="en-US" sz="165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Lower compute cost</a:t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5181600" y="4419600"/>
            <a:ext cx="2686050" cy="139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controlled local stack supports private tests, benchmarking and iteration without making every experiment a cloud expense.</a:t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8362950" y="3733800"/>
            <a:ext cx="3314700" cy="2209800"/>
          </a:xfrm>
          <a:prstGeom prst="roundRect">
            <a:avLst>
              <a:gd fmla="val 3448" name="adj"/>
            </a:avLst>
          </a:prstGeom>
          <a:solidFill>
            <a:srgbClr val="DCFCE7"/>
          </a:solidFill>
          <a:ln cap="flat" cmpd="sng" w="9525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8591550" y="3943350"/>
            <a:ext cx="2857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Play"/>
              <a:buNone/>
            </a:pPr>
            <a:r>
              <a:rPr b="1" i="0" lang="en-US" sz="165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Commercial evidence</a:t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8591550" y="4419600"/>
            <a:ext cx="2857500" cy="139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project is judged by a working pilot, qualified users, paid commitments and documented security—not model novelty alone.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/>
          <p:nvPr/>
        </p:nvSpPr>
        <p:spPr>
          <a:xfrm>
            <a:off x="514350" y="295275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NXANCE • GRANT PROPOSAL</a:t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514350" y="609600"/>
            <a:ext cx="9620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150"/>
              <a:buFont typeface="Play"/>
              <a:buNone/>
            </a:pPr>
            <a:r>
              <a:rPr b="1" i="0" lang="en-US" sz="315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Four layers create one explainable output</a:t>
            </a:r>
            <a:endParaRPr/>
          </a:p>
        </p:txBody>
      </p:sp>
      <p:pic>
        <p:nvPicPr>
          <p:cNvPr id="186" name="Google Shape;18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2250" y="287974"/>
            <a:ext cx="1285875" cy="462277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7"/>
          <p:cNvSpPr/>
          <p:nvPr/>
        </p:nvSpPr>
        <p:spPr>
          <a:xfrm>
            <a:off x="514350" y="6429375"/>
            <a:ext cx="111633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11001375" y="6515100"/>
            <a:ext cx="6762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514350" y="1381125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75"/>
              <a:buFont typeface="Arial"/>
              <a:buNone/>
            </a:pPr>
            <a:r>
              <a:rPr b="0" i="0" lang="en-US" sz="15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Connectors first; services remain separable so the lean and full scenarios share the same core architecture.</a:t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2838450" y="3219450"/>
            <a:ext cx="685800" cy="47625"/>
          </a:xfrm>
          <a:prstGeom prst="rect">
            <a:avLst/>
          </a:prstGeom>
          <a:solidFill>
            <a:srgbClr val="55C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3409950" y="3133725"/>
            <a:ext cx="171450" cy="219075"/>
          </a:xfrm>
          <a:prstGeom prst="chevron">
            <a:avLst>
              <a:gd fmla="val 50000" name="adj"/>
            </a:avLst>
          </a:prstGeom>
          <a:solidFill>
            <a:srgbClr val="55C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5410200" y="3219450"/>
            <a:ext cx="685800" cy="47625"/>
          </a:xfrm>
          <a:prstGeom prst="rect">
            <a:avLst/>
          </a:prstGeom>
          <a:solidFill>
            <a:srgbClr val="55C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5981700" y="3133725"/>
            <a:ext cx="171450" cy="219075"/>
          </a:xfrm>
          <a:prstGeom prst="chevron">
            <a:avLst>
              <a:gd fmla="val 50000" name="adj"/>
            </a:avLst>
          </a:prstGeom>
          <a:solidFill>
            <a:srgbClr val="55C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7981950" y="3219450"/>
            <a:ext cx="685800" cy="47625"/>
          </a:xfrm>
          <a:prstGeom prst="rect">
            <a:avLst/>
          </a:prstGeom>
          <a:solidFill>
            <a:srgbClr val="55C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8553450" y="3133725"/>
            <a:ext cx="171450" cy="219075"/>
          </a:xfrm>
          <a:prstGeom prst="chevron">
            <a:avLst>
              <a:gd fmla="val 50000" name="adj"/>
            </a:avLst>
          </a:prstGeom>
          <a:solidFill>
            <a:srgbClr val="55C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514350" y="2238375"/>
            <a:ext cx="2133600" cy="2114550"/>
          </a:xfrm>
          <a:prstGeom prst="roundRect">
            <a:avLst>
              <a:gd fmla="val 3604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723900" y="2524125"/>
            <a:ext cx="1714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Play"/>
              <a:buNone/>
            </a:pPr>
            <a:r>
              <a:rPr b="1" i="0" lang="en-US" sz="18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1. Ingestion</a:t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723900" y="3248025"/>
            <a:ext cx="171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Broker exports, spreadsheets and approved data APIs</a:t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3524250" y="2238375"/>
            <a:ext cx="2133600" cy="2114550"/>
          </a:xfrm>
          <a:prstGeom prst="roundRect">
            <a:avLst>
              <a:gd fmla="val 3604" name="adj"/>
            </a:avLst>
          </a:prstGeom>
          <a:solidFill>
            <a:srgbClr val="EAF5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3733800" y="2524125"/>
            <a:ext cx="1714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Play"/>
              <a:buNone/>
            </a:pPr>
            <a:r>
              <a:rPr b="1" i="0" lang="en-US" sz="18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2. Decision engines</a:t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3733800" y="3248025"/>
            <a:ext cx="171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Health Check + Portfolio Builder with testable rules</a:t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6534150" y="2238375"/>
            <a:ext cx="2133600" cy="2114550"/>
          </a:xfrm>
          <a:prstGeom prst="roundRect">
            <a:avLst>
              <a:gd fmla="val 3604" name="adj"/>
            </a:avLst>
          </a:prstGeom>
          <a:solidFill>
            <a:srgbClr val="0B1F3A"/>
          </a:solidFill>
          <a:ln cap="flat" cmpd="sng" w="9525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6743700" y="2524125"/>
            <a:ext cx="1714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ay"/>
              <a:buNone/>
            </a:pPr>
            <a:r>
              <a:rPr b="1" i="0" lang="en-US" sz="1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3. NxanceLM</a:t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6743700" y="3133725"/>
            <a:ext cx="17145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5C7F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55C7F3"/>
                </a:solidFill>
                <a:highlight>
                  <a:schemeClr val="dk1"/>
                </a:highlight>
              </a:rPr>
              <a:t>Terminal, retrieval, explanation trace, guardrails and evaluation. </a:t>
            </a:r>
            <a:endParaRPr sz="1350">
              <a:solidFill>
                <a:srgbClr val="55C7F3"/>
              </a:solidFill>
              <a:highlight>
                <a:schemeClr val="dk1"/>
              </a:highlight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9544050" y="2238375"/>
            <a:ext cx="2133600" cy="2114550"/>
          </a:xfrm>
          <a:prstGeom prst="roundRect">
            <a:avLst>
              <a:gd fmla="val 3604" name="adj"/>
            </a:avLst>
          </a:prstGeom>
          <a:solidFill>
            <a:srgbClr val="DCFCE7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9753600" y="2524125"/>
            <a:ext cx="1714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Play"/>
              <a:buNone/>
            </a:pPr>
            <a:r>
              <a:rPr b="1" i="0" lang="en-US" sz="18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4. Pilot app</a:t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9753600" y="3248025"/>
            <a:ext cx="171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Onboarding, reports, feedback, cohorts and payment evidence</a:t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514350" y="4762500"/>
            <a:ext cx="11163300" cy="1104900"/>
          </a:xfrm>
          <a:prstGeom prst="roundRect">
            <a:avLst>
              <a:gd fmla="val 6897" name="adj"/>
            </a:avLst>
          </a:prstGeom>
          <a:solidFill>
            <a:srgbClr val="FEF3C7"/>
          </a:solidFill>
          <a:ln cap="flat" cmpd="sng" w="9525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781050" y="5000625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500"/>
              <a:buFont typeface="Arial"/>
              <a:buNone/>
            </a:pPr>
            <a:r>
              <a:rPr b="1" i="0" lang="en-US" sz="1500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Regulatory boundary</a:t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2990850" y="4953000"/>
            <a:ext cx="8382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0" i="0"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MVP starts with analytics and education. Personalised regulated advice or execution is introduced only after appropriate approval or a regulated partnership.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/>
          <p:nvPr/>
        </p:nvSpPr>
        <p:spPr>
          <a:xfrm>
            <a:off x="514350" y="295275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NXANCE • GRANT PROPOSAL</a:t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514350" y="609600"/>
            <a:ext cx="9620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150"/>
              <a:buFont typeface="Play"/>
              <a:buNone/>
            </a:pPr>
            <a:r>
              <a:rPr b="1" i="0" lang="en-US" sz="315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Local AI compute enables repeatable evaluation</a:t>
            </a:r>
            <a:endParaRPr/>
          </a:p>
        </p:txBody>
      </p:sp>
      <p:pic>
        <p:nvPicPr>
          <p:cNvPr id="218" name="Google Shape;21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2250" y="287974"/>
            <a:ext cx="1285875" cy="462277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8"/>
          <p:cNvSpPr/>
          <p:nvPr/>
        </p:nvSpPr>
        <p:spPr>
          <a:xfrm>
            <a:off x="514350" y="6429375"/>
            <a:ext cx="111633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11001375" y="6515100"/>
            <a:ext cx="6762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514350" y="1524000"/>
            <a:ext cx="4667250" cy="4095750"/>
          </a:xfrm>
          <a:prstGeom prst="roundRect">
            <a:avLst>
              <a:gd fmla="val 1860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1609725" y="1885950"/>
            <a:ext cx="2476500" cy="2476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8"/>
          <p:cNvSpPr/>
          <p:nvPr/>
        </p:nvSpPr>
        <p:spPr>
          <a:xfrm>
            <a:off x="800100" y="447675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175"/>
              <a:buFont typeface="Play"/>
              <a:buNone/>
            </a:pPr>
            <a:r>
              <a:rPr b="1" i="0" lang="en-US" sz="2175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NVIDIA DGX Spark</a:t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800100" y="4953000"/>
            <a:ext cx="3333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00"/>
              <a:buFont typeface="Arial"/>
              <a:buNone/>
            </a:pPr>
            <a:r>
              <a:rPr b="1" i="0" lang="en-US" sz="15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Planning landed cost: ₹5.75L</a:t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5543550" y="1524000"/>
            <a:ext cx="2895600" cy="1809750"/>
          </a:xfrm>
          <a:prstGeom prst="roundRect">
            <a:avLst>
              <a:gd fmla="val 4211" name="adj"/>
            </a:avLst>
          </a:prstGeom>
          <a:solidFill>
            <a:srgbClr val="EAF5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5772150" y="1733550"/>
            <a:ext cx="2438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Play"/>
              <a:buNone/>
            </a:pPr>
            <a:r>
              <a:rPr b="1" i="0" lang="en-US" sz="165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128GB unified memory</a:t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5772150" y="2209800"/>
            <a:ext cx="2438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shared memory pool for local model evaluation, fine-tuning experiments and private inference.</a:t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8743950" y="1524000"/>
            <a:ext cx="2933700" cy="1809750"/>
          </a:xfrm>
          <a:prstGeom prst="roundRect">
            <a:avLst>
              <a:gd fmla="val 4211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8972550" y="1733550"/>
            <a:ext cx="2476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Play"/>
              <a:buNone/>
            </a:pPr>
            <a:r>
              <a:rPr b="1" i="0" lang="en-US" sz="165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Up to 1 PFLOP FP4</a:t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8972550" y="2209800"/>
            <a:ext cx="2476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Compact acceleration for AI prototyping; workload fit must be benchmarked in Month 1.</a:t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5543550" y="3638550"/>
            <a:ext cx="2895600" cy="1981200"/>
          </a:xfrm>
          <a:prstGeom prst="roundRect">
            <a:avLst>
              <a:gd fmla="val 3846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5772150" y="3848100"/>
            <a:ext cx="2438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Play"/>
              <a:buNone/>
            </a:pPr>
            <a:r>
              <a:rPr b="1" i="0" lang="en-US" sz="165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Linux workstation</a:t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5772150" y="4324350"/>
            <a:ext cx="24384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x86 engineering, backend builds, data work and QA remain separate from model workloads.</a:t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8743950" y="3638550"/>
            <a:ext cx="2933700" cy="1981200"/>
          </a:xfrm>
          <a:prstGeom prst="roundRect">
            <a:avLst>
              <a:gd fmla="val 3846" name="adj"/>
            </a:avLst>
          </a:prstGeom>
          <a:solidFill>
            <a:srgbClr val="DCFCE7"/>
          </a:solidFill>
          <a:ln cap="flat" cmpd="sng" w="9525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8972550" y="3848100"/>
            <a:ext cx="2476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Play"/>
              <a:buNone/>
            </a:pPr>
            <a:r>
              <a:rPr b="1" i="0" lang="en-US" sz="165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Cloud burst + APIs</a:t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8972550" y="4324350"/>
            <a:ext cx="24765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0" i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Used for managed services, market data, collaboration and peak tests—not as the only compute foundation.</a:t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514350" y="5848350"/>
            <a:ext cx="11163300" cy="400050"/>
          </a:xfrm>
          <a:prstGeom prst="roundRect">
            <a:avLst>
              <a:gd fmla="val 19048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742950" y="5924550"/>
            <a:ext cx="107061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0" i="0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USD 4,699 × ₹96/USD × 18% GST × 8% procurement buffer = ₹5.75L planning estimate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"/>
          <p:cNvSpPr/>
          <p:nvPr/>
        </p:nvSpPr>
        <p:spPr>
          <a:xfrm>
            <a:off x="514350" y="295275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NXANCE • GRANT PROPOSAL</a:t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514350" y="609600"/>
            <a:ext cx="9620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150"/>
              <a:buFont typeface="Play"/>
              <a:buNone/>
            </a:pPr>
            <a:r>
              <a:rPr b="1" i="0" lang="en-US" sz="315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Six months. Six gates. Three accountable phases.</a:t>
            </a:r>
            <a:endParaRPr/>
          </a:p>
        </p:txBody>
      </p:sp>
      <p:pic>
        <p:nvPicPr>
          <p:cNvPr id="246" name="Google Shape;2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2250" y="287974"/>
            <a:ext cx="1285875" cy="462277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9"/>
          <p:cNvSpPr/>
          <p:nvPr/>
        </p:nvSpPr>
        <p:spPr>
          <a:xfrm>
            <a:off x="514350" y="6429375"/>
            <a:ext cx="111633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11001375" y="6515100"/>
            <a:ext cx="6762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514350" y="1619250"/>
            <a:ext cx="3409950" cy="3190875"/>
          </a:xfrm>
          <a:prstGeom prst="roundRect">
            <a:avLst>
              <a:gd fmla="val 2388" name="adj"/>
            </a:avLst>
          </a:prstGeom>
          <a:solidFill>
            <a:srgbClr val="EAF5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742950" y="1857375"/>
            <a:ext cx="1428750" cy="323850"/>
          </a:xfrm>
          <a:prstGeom prst="roundRect">
            <a:avLst>
              <a:gd fmla="val 23529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838200" y="1905000"/>
            <a:ext cx="12382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MONTHS 1–2</a:t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742950" y="2457450"/>
            <a:ext cx="29527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175"/>
              <a:buFont typeface="Play"/>
              <a:buNone/>
            </a:pPr>
            <a:r>
              <a:rPr b="1" i="0" lang="en-US" sz="2175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Design &amp; harden</a:t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742950" y="3143250"/>
            <a:ext cx="295275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25"/>
              <a:buFont typeface="Arial"/>
              <a:buNone/>
            </a:pPr>
            <a:r>
              <a:rPr b="0" i="0" lang="en-US" sz="14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Procurement, architecture, data controls, benchmark plan and Health Check reliability.</a:t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742950" y="4248150"/>
            <a:ext cx="295275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742950" y="4381500"/>
            <a:ext cx="2952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75"/>
              <a:buFont typeface="Arial"/>
              <a:buNone/>
            </a:pPr>
            <a:r>
              <a:rPr b="1" i="0" lang="en-US" sz="127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Gate: approved design + tested alpha</a:t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4210050" y="1619250"/>
            <a:ext cx="3409950" cy="3190875"/>
          </a:xfrm>
          <a:prstGeom prst="roundRect">
            <a:avLst>
              <a:gd fmla="val 2388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4438650" y="1857375"/>
            <a:ext cx="1428750" cy="323850"/>
          </a:xfrm>
          <a:prstGeom prst="roundRect">
            <a:avLst>
              <a:gd fmla="val 23529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4533900" y="1905000"/>
            <a:ext cx="12382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MONTHS 3–4</a:t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4438650" y="2457450"/>
            <a:ext cx="29527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175"/>
              <a:buFont typeface="Play"/>
              <a:buNone/>
            </a:pPr>
            <a:r>
              <a:rPr b="1" i="0" lang="en-US" sz="2175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Integrate &amp; close alpha</a:t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4438650" y="3143250"/>
            <a:ext cx="295275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25"/>
              <a:buFont typeface="Arial"/>
              <a:buNone/>
            </a:pPr>
            <a:r>
              <a:rPr b="0" i="0" lang="en-US" sz="14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Portfolio Builder, NxanceLM, APIs, explanation trace, UX, privacy controls and 100 qualified users.</a:t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4438650" y="4248150"/>
            <a:ext cx="295275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4438650" y="4381500"/>
            <a:ext cx="2952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75"/>
              <a:buFont typeface="Arial"/>
              <a:buNone/>
            </a:pPr>
            <a:r>
              <a:rPr b="1" i="0" lang="en-US" sz="127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Gate: three engines in staging</a:t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7905750" y="1619250"/>
            <a:ext cx="3771900" cy="3190875"/>
          </a:xfrm>
          <a:prstGeom prst="roundRect">
            <a:avLst>
              <a:gd fmla="val 2388" name="adj"/>
            </a:avLst>
          </a:prstGeom>
          <a:solidFill>
            <a:srgbClr val="DCFCE7"/>
          </a:solidFill>
          <a:ln cap="flat" cmpd="sng" w="9525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8134350" y="1857375"/>
            <a:ext cx="1428750" cy="323850"/>
          </a:xfrm>
          <a:prstGeom prst="roundRect">
            <a:avLst>
              <a:gd fmla="val 235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8229600" y="1905000"/>
            <a:ext cx="12382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Arial"/>
              <a:buNone/>
            </a:pPr>
            <a:r>
              <a:rPr b="1" i="0" lang="en-US" sz="12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MONTHS 5–6</a:t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8134350" y="2457450"/>
            <a:ext cx="3314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175"/>
              <a:buFont typeface="Play"/>
              <a:buNone/>
            </a:pPr>
            <a:r>
              <a:rPr b="1" i="0" lang="en-US" sz="2175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Validate &amp; paid pilot</a:t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8134350" y="3143250"/>
            <a:ext cx="33147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25"/>
              <a:buFont typeface="Arial"/>
              <a:buNone/>
            </a:pPr>
            <a:r>
              <a:rPr b="0" i="0" lang="en-US" sz="14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Independent QA/security, 250-user beta, onboarding, acquisition and 50 paying users or paid commitments.</a:t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8134350" y="4248150"/>
            <a:ext cx="3314700" cy="2857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8134350" y="4381500"/>
            <a:ext cx="3314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75"/>
              <a:buFont typeface="Arial"/>
              <a:buNone/>
            </a:pPr>
            <a:r>
              <a:rPr b="1" i="0" lang="en-US" sz="1275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Gate: paid pilot + grant report</a:t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514350" y="5095875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25"/>
              <a:buFont typeface="Arial"/>
              <a:buNone/>
            </a:pPr>
            <a:r>
              <a:rPr b="1" i="0" lang="en-US" sz="142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Milestone draw (₹L)</a:t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2857500" y="5048250"/>
            <a:ext cx="1200150" cy="762000"/>
          </a:xfrm>
          <a:prstGeom prst="roundRect">
            <a:avLst>
              <a:gd fmla="val 10000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2971800" y="516255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i="0" lang="en-US" sz="12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M1</a:t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2971800" y="5410200"/>
            <a:ext cx="9715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75"/>
              <a:buFont typeface="Arial"/>
              <a:buNone/>
            </a:pPr>
            <a:r>
              <a:rPr b="1" i="0" lang="en-US" sz="15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₹</a:t>
            </a:r>
            <a:r>
              <a:rPr b="1" lang="en-US" sz="1575">
                <a:solidFill>
                  <a:srgbClr val="111827"/>
                </a:solidFill>
              </a:rPr>
              <a:t>7</a:t>
            </a:r>
            <a:r>
              <a:rPr b="1" i="0" lang="en-US" sz="15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.00L</a:t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4267200" y="5048250"/>
            <a:ext cx="1200150" cy="762000"/>
          </a:xfrm>
          <a:prstGeom prst="roundRect">
            <a:avLst>
              <a:gd fmla="val 10000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4381500" y="516255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i="0" lang="en-US" sz="12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M2</a:t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4381500" y="5410200"/>
            <a:ext cx="9715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75"/>
              <a:buFont typeface="Arial"/>
              <a:buNone/>
            </a:pPr>
            <a:r>
              <a:rPr b="1" i="0" lang="en-US" sz="15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₹</a:t>
            </a:r>
            <a:r>
              <a:rPr b="1" lang="en-US" sz="1575">
                <a:solidFill>
                  <a:srgbClr val="111827"/>
                </a:solidFill>
              </a:rPr>
              <a:t>5</a:t>
            </a:r>
            <a:r>
              <a:rPr b="1" i="0" lang="en-US" sz="15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.00L</a:t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5676900" y="5048250"/>
            <a:ext cx="1200150" cy="762000"/>
          </a:xfrm>
          <a:prstGeom prst="roundRect">
            <a:avLst>
              <a:gd fmla="val 10000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5791200" y="516255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i="0" lang="en-US" sz="12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M3</a:t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5791200" y="5410200"/>
            <a:ext cx="9715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75"/>
              <a:buFont typeface="Arial"/>
              <a:buNone/>
            </a:pPr>
            <a:r>
              <a:rPr b="1" i="0" lang="en-US" sz="15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₹</a:t>
            </a:r>
            <a:r>
              <a:rPr b="1" lang="en-US" sz="1575">
                <a:solidFill>
                  <a:srgbClr val="111827"/>
                </a:solidFill>
              </a:rPr>
              <a:t>4.25</a:t>
            </a:r>
            <a:r>
              <a:rPr b="1" i="0" lang="en-US" sz="15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7086600" y="5048250"/>
            <a:ext cx="1200150" cy="762000"/>
          </a:xfrm>
          <a:prstGeom prst="roundRect">
            <a:avLst>
              <a:gd fmla="val 10000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7200900" y="516255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i="0" lang="en-US" sz="12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M4</a:t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7200900" y="5410200"/>
            <a:ext cx="9715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111827"/>
                </a:solidFill>
              </a:rPr>
              <a:t>₹4.25L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75"/>
              <a:buFont typeface="Arial"/>
              <a:buNone/>
            </a:pPr>
            <a:r>
              <a:t/>
            </a:r>
            <a:endParaRPr b="1" sz="1575">
              <a:solidFill>
                <a:srgbClr val="111827"/>
              </a:solidFill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8496300" y="5048250"/>
            <a:ext cx="1200150" cy="762000"/>
          </a:xfrm>
          <a:prstGeom prst="roundRect">
            <a:avLst>
              <a:gd fmla="val 10000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8610600" y="516255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i="0" lang="en-US" sz="12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M5</a:t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8610600" y="5410200"/>
            <a:ext cx="9715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75"/>
              <a:buFont typeface="Arial"/>
              <a:buNone/>
            </a:pPr>
            <a:r>
              <a:rPr b="1" i="0" lang="en-US" sz="15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₹</a:t>
            </a:r>
            <a:r>
              <a:rPr b="1" lang="en-US" sz="1575">
                <a:solidFill>
                  <a:srgbClr val="111827"/>
                </a:solidFill>
              </a:rPr>
              <a:t>4.5</a:t>
            </a:r>
            <a:r>
              <a:rPr b="1" i="0" lang="en-US" sz="15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0L</a:t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9906000" y="5048250"/>
            <a:ext cx="1200150" cy="762000"/>
          </a:xfrm>
          <a:prstGeom prst="roundRect">
            <a:avLst>
              <a:gd fmla="val 10000" name="adj"/>
            </a:avLst>
          </a:prstGeom>
          <a:solidFill>
            <a:srgbClr val="0B1F3A"/>
          </a:solidFill>
          <a:ln cap="flat" cmpd="sng" w="9525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10020300" y="516255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5C7F3"/>
              </a:buClr>
              <a:buSzPts val="1200"/>
              <a:buFont typeface="Arial"/>
              <a:buNone/>
            </a:pPr>
            <a:r>
              <a:rPr b="1" i="0" lang="en-US" sz="1200">
                <a:solidFill>
                  <a:srgbClr val="55C7F3"/>
                </a:solidFill>
                <a:latin typeface="Arial"/>
                <a:ea typeface="Arial"/>
                <a:cs typeface="Arial"/>
                <a:sym typeface="Arial"/>
              </a:rPr>
              <a:t>M6</a:t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10020300" y="5410200"/>
            <a:ext cx="9715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1" i="0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₹</a:t>
            </a:r>
            <a:r>
              <a:rPr b="1" lang="en-US" sz="1575">
                <a:solidFill>
                  <a:srgbClr val="FFFFFF"/>
                </a:solidFill>
              </a:rPr>
              <a:t>5</a:t>
            </a:r>
            <a:r>
              <a:rPr b="1" i="0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.00L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"/>
          <p:cNvSpPr/>
          <p:nvPr/>
        </p:nvSpPr>
        <p:spPr>
          <a:xfrm>
            <a:off x="514350" y="295275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NXANCE • GRANT PROPOSAL</a:t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514350" y="609600"/>
            <a:ext cx="9620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150"/>
              <a:buFont typeface="Play"/>
              <a:buNone/>
            </a:pPr>
            <a:r>
              <a:rPr b="1" i="0" lang="en-US" sz="315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Pilot success means commercial evidence</a:t>
            </a:r>
            <a:endParaRPr/>
          </a:p>
        </p:txBody>
      </p:sp>
      <p:pic>
        <p:nvPicPr>
          <p:cNvPr id="296" name="Google Shape;29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2250" y="287974"/>
            <a:ext cx="1285875" cy="462277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0"/>
          <p:cNvSpPr/>
          <p:nvPr/>
        </p:nvSpPr>
        <p:spPr>
          <a:xfrm>
            <a:off x="514350" y="6429375"/>
            <a:ext cx="111633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11001375" y="6515100"/>
            <a:ext cx="6762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514350" y="1381125"/>
            <a:ext cx="1066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50"/>
              <a:buFont typeface="Arial"/>
              <a:buNone/>
            </a:pPr>
            <a:r>
              <a:rPr b="0" i="0" lang="en-US" sz="16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Acquisition is capped at 10% of the project and tied to cohort quality, activation and payment evidence.</a:t>
            </a: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2857500" y="3086100"/>
            <a:ext cx="952500" cy="47625"/>
          </a:xfrm>
          <a:prstGeom prst="rect">
            <a:avLst/>
          </a:prstGeom>
          <a:solidFill>
            <a:srgbClr val="55C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3714750" y="3000375"/>
            <a:ext cx="171450" cy="219075"/>
          </a:xfrm>
          <a:prstGeom prst="chevron">
            <a:avLst>
              <a:gd fmla="val 50000" name="adj"/>
            </a:avLst>
          </a:prstGeom>
          <a:solidFill>
            <a:srgbClr val="55C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6429375" y="3086100"/>
            <a:ext cx="952500" cy="47625"/>
          </a:xfrm>
          <a:prstGeom prst="rect">
            <a:avLst/>
          </a:prstGeom>
          <a:solidFill>
            <a:srgbClr val="55C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7286625" y="3000375"/>
            <a:ext cx="171450" cy="219075"/>
          </a:xfrm>
          <a:prstGeom prst="chevron">
            <a:avLst>
              <a:gd fmla="val 50000" name="adj"/>
            </a:avLst>
          </a:prstGeom>
          <a:solidFill>
            <a:srgbClr val="55C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514350" y="2133600"/>
            <a:ext cx="2952750" cy="2038350"/>
          </a:xfrm>
          <a:prstGeom prst="roundRect">
            <a:avLst>
              <a:gd fmla="val 3738" name="adj"/>
            </a:avLst>
          </a:prstGeom>
          <a:solidFill>
            <a:srgbClr val="EAF5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742950" y="2419350"/>
            <a:ext cx="24955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225"/>
              <a:buFont typeface="Play"/>
              <a:buNone/>
            </a:pPr>
            <a:r>
              <a:rPr b="1" i="0" lang="en-US" sz="3225">
                <a:solidFill>
                  <a:srgbClr val="2563EB"/>
                </a:solidFill>
                <a:latin typeface="Play"/>
                <a:ea typeface="Play"/>
                <a:cs typeface="Play"/>
                <a:sym typeface="Play"/>
              </a:rPr>
              <a:t>250</a:t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742950" y="3133725"/>
            <a:ext cx="2495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1" i="0"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qualified beta users</a:t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742950" y="3705225"/>
            <a:ext cx="24955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By end of Month 5</a:t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4000500" y="2133600"/>
            <a:ext cx="2952750" cy="2038350"/>
          </a:xfrm>
          <a:prstGeom prst="roundRect">
            <a:avLst>
              <a:gd fmla="val 3738" name="adj"/>
            </a:avLst>
          </a:prstGeom>
          <a:solidFill>
            <a:srgbClr val="DCFCE7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4229100" y="2419350"/>
            <a:ext cx="24955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225"/>
              <a:buFont typeface="Play"/>
              <a:buNone/>
            </a:pPr>
            <a:r>
              <a:rPr b="1" i="0" lang="en-US" sz="3225">
                <a:solidFill>
                  <a:srgbClr val="2563EB"/>
                </a:solidFill>
                <a:latin typeface="Play"/>
                <a:ea typeface="Play"/>
                <a:cs typeface="Play"/>
                <a:sym typeface="Play"/>
              </a:rPr>
              <a:t>50</a:t>
            </a: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4229100" y="3133725"/>
            <a:ext cx="2495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1" i="0"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paying users / commitments</a:t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4229100" y="3705225"/>
            <a:ext cx="24955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By end of Month 6</a:t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7581900" y="2133600"/>
            <a:ext cx="2952750" cy="2038350"/>
          </a:xfrm>
          <a:prstGeom prst="roundRect">
            <a:avLst>
              <a:gd fmla="val 3738" name="adj"/>
            </a:avLst>
          </a:prstGeom>
          <a:solidFill>
            <a:srgbClr val="0B1F3A"/>
          </a:solidFill>
          <a:ln cap="flat" cmpd="sng" w="9525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7810500" y="2419350"/>
            <a:ext cx="24955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25"/>
              <a:buFont typeface="Play"/>
              <a:buNone/>
            </a:pPr>
            <a:r>
              <a:rPr b="1" i="0" lang="en-US" sz="3225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₹24,950</a:t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7810500" y="3133725"/>
            <a:ext cx="2495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5C7F3"/>
              </a:buClr>
              <a:buSzPts val="1500"/>
              <a:buFont typeface="Arial"/>
              <a:buNone/>
            </a:pPr>
            <a:r>
              <a:rPr b="1" i="0" lang="en-US" sz="1500">
                <a:solidFill>
                  <a:srgbClr val="55C7F3"/>
                </a:solidFill>
                <a:latin typeface="Arial"/>
                <a:ea typeface="Arial"/>
                <a:cs typeface="Arial"/>
                <a:sym typeface="Arial"/>
              </a:rPr>
              <a:t>starting MRR indicator</a:t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7810500" y="3705225"/>
            <a:ext cx="24955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50 × ₹499/month assumption</a:t>
            </a:r>
            <a:endParaRPr/>
          </a:p>
        </p:txBody>
      </p:sp>
      <p:sp>
        <p:nvSpPr>
          <p:cNvPr id="316" name="Google Shape;316;p10"/>
          <p:cNvSpPr/>
          <p:nvPr/>
        </p:nvSpPr>
        <p:spPr>
          <a:xfrm>
            <a:off x="514350" y="4572000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75"/>
              <a:buFont typeface="Arial"/>
              <a:buNone/>
            </a:pPr>
            <a:r>
              <a:rPr b="1" i="0" lang="en-US" sz="15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Pilot acquisition mix</a:t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514350" y="5048250"/>
            <a:ext cx="2571750" cy="876300"/>
          </a:xfrm>
          <a:prstGeom prst="roundRect">
            <a:avLst>
              <a:gd fmla="val 8696" name="adj"/>
            </a:avLst>
          </a:prstGeom>
          <a:solidFill>
            <a:srgbClr val="EAF5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685800" y="5219700"/>
            <a:ext cx="1714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75"/>
              <a:buFont typeface="Arial"/>
              <a:buNone/>
            </a:pPr>
            <a:r>
              <a:rPr b="1" i="0" lang="en-US" sz="12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Performance campaigns</a:t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2286000" y="5219700"/>
            <a:ext cx="6286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25"/>
              <a:buFont typeface="Arial"/>
              <a:buNone/>
            </a:pPr>
            <a:r>
              <a:rPr b="1" i="0" lang="en-US" sz="14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₹1.10L</a:t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3305175" y="5048250"/>
            <a:ext cx="2571750" cy="876300"/>
          </a:xfrm>
          <a:prstGeom prst="roundRect">
            <a:avLst>
              <a:gd fmla="val 8696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3476625" y="5219700"/>
            <a:ext cx="1714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75"/>
              <a:buFont typeface="Arial"/>
              <a:buNone/>
            </a:pPr>
            <a:r>
              <a:rPr b="1" i="0" lang="en-US" sz="12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Content &amp; webinars</a:t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5076825" y="5219700"/>
            <a:ext cx="6286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25"/>
              <a:buFont typeface="Arial"/>
              <a:buNone/>
            </a:pPr>
            <a:r>
              <a:rPr b="1" i="0" lang="en-US" sz="14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₹0.55L</a:t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6096000" y="5048250"/>
            <a:ext cx="2571750" cy="876300"/>
          </a:xfrm>
          <a:prstGeom prst="roundRect">
            <a:avLst>
              <a:gd fmla="val 8696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6267450" y="5219700"/>
            <a:ext cx="1714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75"/>
              <a:buFont typeface="Arial"/>
              <a:buNone/>
            </a:pPr>
            <a:r>
              <a:rPr b="1" i="0" lang="en-US" sz="12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Landing &amp; creative</a:t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7867650" y="5219700"/>
            <a:ext cx="6286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25"/>
              <a:buFont typeface="Arial"/>
              <a:buNone/>
            </a:pPr>
            <a:r>
              <a:rPr b="1" i="0" lang="en-US" sz="14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₹0.35L</a:t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8886825" y="5048250"/>
            <a:ext cx="2571750" cy="876300"/>
          </a:xfrm>
          <a:prstGeom prst="roundRect">
            <a:avLst>
              <a:gd fmla="val 8696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9058275" y="5219700"/>
            <a:ext cx="1714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75"/>
              <a:buFont typeface="Arial"/>
              <a:buNone/>
            </a:pPr>
            <a:r>
              <a:rPr b="1" i="0" lang="en-US" sz="12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Referral + CRM</a:t>
            </a: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10658475" y="5219700"/>
            <a:ext cx="6286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25"/>
              <a:buFont typeface="Arial"/>
              <a:buNone/>
            </a:pPr>
            <a:r>
              <a:rPr b="1" i="0" lang="en-US" sz="14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₹0.50L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1"/>
          <p:cNvSpPr/>
          <p:nvPr/>
        </p:nvSpPr>
        <p:spPr>
          <a:xfrm>
            <a:off x="514350" y="295275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NXANCE • GRANT PROPOSAL</a:t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514350" y="609600"/>
            <a:ext cx="9620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150"/>
              <a:buFont typeface="Play"/>
              <a:buNone/>
            </a:pPr>
            <a:r>
              <a:rPr b="1" i="0" lang="en-US" sz="315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Budget funds build, validation and market entry</a:t>
            </a:r>
            <a:endParaRPr/>
          </a:p>
        </p:txBody>
      </p:sp>
      <p:pic>
        <p:nvPicPr>
          <p:cNvPr id="336" name="Google Shape;3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2250" y="287974"/>
            <a:ext cx="1285875" cy="462277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1"/>
          <p:cNvSpPr/>
          <p:nvPr/>
        </p:nvSpPr>
        <p:spPr>
          <a:xfrm>
            <a:off x="514350" y="6429375"/>
            <a:ext cx="111633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11001375" y="6515100"/>
            <a:ext cx="6762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339" name="Google Shape;339;p11"/>
          <p:cNvSpPr/>
          <p:nvPr/>
        </p:nvSpPr>
        <p:spPr>
          <a:xfrm>
            <a:off x="7715250" y="1657350"/>
            <a:ext cx="3429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7715250" y="1828800"/>
            <a:ext cx="3429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000"/>
              <a:buFont typeface="Play"/>
              <a:buNone/>
            </a:pPr>
            <a:r>
              <a:rPr b="1" i="0" lang="en-US" sz="3000">
                <a:solidFill>
                  <a:srgbClr val="2563EB"/>
                </a:solidFill>
                <a:latin typeface="Play"/>
                <a:ea typeface="Play"/>
                <a:cs typeface="Play"/>
                <a:sym typeface="Play"/>
              </a:rPr>
              <a:t>₹</a:t>
            </a:r>
            <a:r>
              <a:rPr b="1" lang="en-US" sz="3000">
                <a:solidFill>
                  <a:srgbClr val="2563EB"/>
                </a:solidFill>
                <a:latin typeface="Play"/>
                <a:ea typeface="Play"/>
                <a:cs typeface="Play"/>
                <a:sym typeface="Play"/>
              </a:rPr>
              <a:t>30</a:t>
            </a:r>
            <a:r>
              <a:rPr b="1" i="0" lang="en-US" sz="3000">
                <a:solidFill>
                  <a:srgbClr val="2563EB"/>
                </a:solidFill>
                <a:latin typeface="Play"/>
                <a:ea typeface="Play"/>
                <a:cs typeface="Play"/>
                <a:sym typeface="Play"/>
              </a:rPr>
              <a:t>.00L</a:t>
            </a: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7715250" y="2400300"/>
            <a:ext cx="3429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full project envelope</a:t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7715250" y="3086100"/>
            <a:ext cx="3429000" cy="381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7715250" y="3257550"/>
            <a:ext cx="3429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000"/>
              <a:buFont typeface="Play"/>
              <a:buNone/>
            </a:pPr>
            <a:r>
              <a:rPr b="1" i="0" lang="en-US" sz="30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₹2</a:t>
            </a:r>
            <a:r>
              <a:rPr b="1" lang="en-US" sz="30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5</a:t>
            </a:r>
            <a:r>
              <a:rPr b="1" i="0" lang="en-US" sz="30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.00L</a:t>
            </a:r>
            <a:endParaRPr/>
          </a:p>
        </p:txBody>
      </p:sp>
      <p:sp>
        <p:nvSpPr>
          <p:cNvPr id="344" name="Google Shape;344;p11"/>
          <p:cNvSpPr/>
          <p:nvPr/>
        </p:nvSpPr>
        <p:spPr>
          <a:xfrm>
            <a:off x="7715250" y="3829050"/>
            <a:ext cx="3429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grant-cap core</a:t>
            </a:r>
            <a:endParaRPr/>
          </a:p>
        </p:txBody>
      </p:sp>
      <p:sp>
        <p:nvSpPr>
          <p:cNvPr id="345" name="Google Shape;345;p11"/>
          <p:cNvSpPr/>
          <p:nvPr/>
        </p:nvSpPr>
        <p:spPr>
          <a:xfrm>
            <a:off x="7715250" y="4514850"/>
            <a:ext cx="3429000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7715250" y="4686300"/>
            <a:ext cx="3429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3000"/>
              <a:buFont typeface="Play"/>
              <a:buNone/>
            </a:pPr>
            <a:r>
              <a:rPr b="1" i="0" lang="en-US" sz="3000">
                <a:solidFill>
                  <a:srgbClr val="16A34A"/>
                </a:solidFill>
                <a:latin typeface="Play"/>
                <a:ea typeface="Play"/>
                <a:cs typeface="Play"/>
                <a:sym typeface="Play"/>
              </a:rPr>
              <a:t>10%</a:t>
            </a:r>
            <a:endParaRPr/>
          </a:p>
        </p:txBody>
      </p:sp>
      <p:sp>
        <p:nvSpPr>
          <p:cNvPr id="347" name="Google Shape;347;p11"/>
          <p:cNvSpPr/>
          <p:nvPr/>
        </p:nvSpPr>
        <p:spPr>
          <a:xfrm>
            <a:off x="7715250" y="5257800"/>
            <a:ext cx="3429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acquisition guardrail in both scenarios</a:t>
            </a:r>
            <a:endParaRPr/>
          </a:p>
        </p:txBody>
      </p:sp>
      <p:sp>
        <p:nvSpPr>
          <p:cNvPr id="348" name="Google Shape;348;p11"/>
          <p:cNvSpPr/>
          <p:nvPr/>
        </p:nvSpPr>
        <p:spPr>
          <a:xfrm>
            <a:off x="7715250" y="5619750"/>
            <a:ext cx="3429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75"/>
              <a:buFont typeface="Arial"/>
              <a:buNone/>
            </a:pPr>
            <a:r>
              <a:rPr b="0" i="0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Founder salaries are excluded. Reserve releases require incubator approval or reallocation.</a:t>
            </a:r>
            <a:endParaRPr/>
          </a:p>
        </p:txBody>
      </p:sp>
      <p:pic>
        <p:nvPicPr>
          <p:cNvPr id="349" name="Google Shape;349;p11" title="nxance_budget_bars_30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62100"/>
            <a:ext cx="7410451" cy="4585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2"/>
          <p:cNvSpPr/>
          <p:nvPr/>
        </p:nvSpPr>
        <p:spPr>
          <a:xfrm>
            <a:off x="514350" y="295275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NXANCE • GRANT PROPOSAL</a:t>
            </a:r>
            <a:endParaRPr/>
          </a:p>
        </p:txBody>
      </p:sp>
      <p:sp>
        <p:nvSpPr>
          <p:cNvPr id="356" name="Google Shape;356;p12"/>
          <p:cNvSpPr/>
          <p:nvPr/>
        </p:nvSpPr>
        <p:spPr>
          <a:xfrm>
            <a:off x="514350" y="609600"/>
            <a:ext cx="9620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150"/>
              <a:buFont typeface="Play"/>
              <a:buNone/>
            </a:pPr>
            <a:r>
              <a:rPr b="1" i="0" lang="en-US" sz="315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Flexible grant structure, intact MVP</a:t>
            </a:r>
            <a:endParaRPr/>
          </a:p>
        </p:txBody>
      </p:sp>
      <p:pic>
        <p:nvPicPr>
          <p:cNvPr id="357" name="Google Shape;35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2250" y="287974"/>
            <a:ext cx="1285875" cy="462277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2"/>
          <p:cNvSpPr/>
          <p:nvPr/>
        </p:nvSpPr>
        <p:spPr>
          <a:xfrm>
            <a:off x="514350" y="6429375"/>
            <a:ext cx="111633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11001375" y="6515100"/>
            <a:ext cx="6762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360" name="Google Shape;360;p12"/>
          <p:cNvSpPr/>
          <p:nvPr/>
        </p:nvSpPr>
        <p:spPr>
          <a:xfrm>
            <a:off x="514350" y="1476375"/>
            <a:ext cx="4000500" cy="4305300"/>
          </a:xfrm>
          <a:prstGeom prst="roundRect">
            <a:avLst>
              <a:gd fmla="val 1905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781050" y="1781175"/>
            <a:ext cx="2095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Play"/>
              <a:buNone/>
            </a:pPr>
            <a:r>
              <a:rPr b="1" i="0" lang="en-US" sz="285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₹2</a:t>
            </a:r>
            <a:r>
              <a:rPr b="1" lang="en-US" sz="285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5</a:t>
            </a:r>
            <a:r>
              <a:rPr b="1" i="0" lang="en-US" sz="285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L core</a:t>
            </a:r>
            <a:endParaRPr/>
          </a:p>
        </p:txBody>
      </p:sp>
      <p:sp>
        <p:nvSpPr>
          <p:cNvPr id="362" name="Google Shape;362;p12"/>
          <p:cNvSpPr/>
          <p:nvPr/>
        </p:nvSpPr>
        <p:spPr>
          <a:xfrm>
            <a:off x="781050" y="2600325"/>
            <a:ext cx="76200" cy="76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2"/>
          <p:cNvSpPr/>
          <p:nvPr/>
        </p:nvSpPr>
        <p:spPr>
          <a:xfrm>
            <a:off x="971550" y="2524125"/>
            <a:ext cx="3143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0" i="0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DGX Spark and essential engineering stack</a:t>
            </a:r>
            <a:endParaRPr/>
          </a:p>
        </p:txBody>
      </p:sp>
      <p:sp>
        <p:nvSpPr>
          <p:cNvPr id="364" name="Google Shape;364;p12"/>
          <p:cNvSpPr/>
          <p:nvPr/>
        </p:nvSpPr>
        <p:spPr>
          <a:xfrm>
            <a:off x="781050" y="3219450"/>
            <a:ext cx="76200" cy="76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2"/>
          <p:cNvSpPr/>
          <p:nvPr/>
        </p:nvSpPr>
        <p:spPr>
          <a:xfrm>
            <a:off x="971550" y="3143250"/>
            <a:ext cx="3143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0" i="0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Core integration, testing and pilot operations</a:t>
            </a:r>
            <a:endParaRPr/>
          </a:p>
        </p:txBody>
      </p:sp>
      <p:sp>
        <p:nvSpPr>
          <p:cNvPr id="366" name="Google Shape;366;p12"/>
          <p:cNvSpPr/>
          <p:nvPr/>
        </p:nvSpPr>
        <p:spPr>
          <a:xfrm>
            <a:off x="781050" y="3838575"/>
            <a:ext cx="76200" cy="76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2"/>
          <p:cNvSpPr/>
          <p:nvPr/>
        </p:nvSpPr>
        <p:spPr>
          <a:xfrm>
            <a:off x="971550" y="3762375"/>
            <a:ext cx="3143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0" i="0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10% controlled acquisition</a:t>
            </a:r>
            <a:endParaRPr/>
          </a:p>
        </p:txBody>
      </p:sp>
      <p:sp>
        <p:nvSpPr>
          <p:cNvPr id="368" name="Google Shape;368;p12"/>
          <p:cNvSpPr/>
          <p:nvPr/>
        </p:nvSpPr>
        <p:spPr>
          <a:xfrm>
            <a:off x="781050" y="4476750"/>
            <a:ext cx="3238500" cy="28575"/>
          </a:xfrm>
          <a:prstGeom prst="rect">
            <a:avLst/>
          </a:prstGeom>
          <a:solidFill>
            <a:srgbClr val="55C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2"/>
          <p:cNvSpPr/>
          <p:nvPr/>
        </p:nvSpPr>
        <p:spPr>
          <a:xfrm>
            <a:off x="781050" y="4686300"/>
            <a:ext cx="2667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5C7F3"/>
              </a:buClr>
              <a:buSzPts val="2175"/>
              <a:buFont typeface="Play"/>
              <a:buNone/>
            </a:pPr>
            <a:r>
              <a:rPr b="1" i="0" lang="en-US" sz="2175">
                <a:solidFill>
                  <a:srgbClr val="55C7F3"/>
                </a:solidFill>
                <a:latin typeface="Play"/>
                <a:ea typeface="Play"/>
                <a:cs typeface="Play"/>
                <a:sym typeface="Play"/>
              </a:rPr>
              <a:t>+ ₹5L extension</a:t>
            </a:r>
            <a:endParaRPr/>
          </a:p>
        </p:txBody>
      </p:sp>
      <p:sp>
        <p:nvSpPr>
          <p:cNvPr id="370" name="Google Shape;370;p12"/>
          <p:cNvSpPr/>
          <p:nvPr/>
        </p:nvSpPr>
        <p:spPr>
          <a:xfrm>
            <a:off x="781050" y="5172075"/>
            <a:ext cx="3238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Arial"/>
              <a:buNone/>
            </a:pPr>
            <a:r>
              <a:rPr b="0" i="0" lang="en-US" sz="12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More specialist time, broader data coverage, stronger acquisition and reserve.</a:t>
            </a:r>
            <a:endParaRPr/>
          </a:p>
        </p:txBody>
      </p:sp>
      <p:sp>
        <p:nvSpPr>
          <p:cNvPr id="371" name="Google Shape;371;p12"/>
          <p:cNvSpPr/>
          <p:nvPr/>
        </p:nvSpPr>
        <p:spPr>
          <a:xfrm>
            <a:off x="4953000" y="1504950"/>
            <a:ext cx="2190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Priority routes</a:t>
            </a: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4953000" y="1981200"/>
            <a:ext cx="6724650" cy="609600"/>
          </a:xfrm>
          <a:prstGeom prst="roundRect">
            <a:avLst>
              <a:gd fmla="val 12500" name="adj"/>
            </a:avLst>
          </a:prstGeom>
          <a:solidFill>
            <a:srgbClr val="DCFCE7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5143500" y="2143125"/>
            <a:ext cx="3143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25"/>
              <a:buFont typeface="Arial"/>
              <a:buNone/>
            </a:pPr>
            <a:r>
              <a:rPr b="1" i="0" lang="en-US" sz="142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Startup India Seed Fund</a:t>
            </a:r>
            <a:endParaRPr/>
          </a:p>
        </p:txBody>
      </p:sp>
      <p:sp>
        <p:nvSpPr>
          <p:cNvPr id="374" name="Google Shape;374;p12"/>
          <p:cNvSpPr/>
          <p:nvPr/>
        </p:nvSpPr>
        <p:spPr>
          <a:xfrm>
            <a:off x="8191500" y="215265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75"/>
              <a:buFont typeface="Arial"/>
              <a:buNone/>
            </a:pPr>
            <a:r>
              <a:rPr b="0" i="0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Up to ₹20L grant</a:t>
            </a:r>
            <a:endParaRPr/>
          </a:p>
        </p:txBody>
      </p:sp>
      <p:sp>
        <p:nvSpPr>
          <p:cNvPr id="375" name="Google Shape;375;p12"/>
          <p:cNvSpPr/>
          <p:nvPr/>
        </p:nvSpPr>
        <p:spPr>
          <a:xfrm>
            <a:off x="10382250" y="214312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75"/>
              <a:buFont typeface="Arial"/>
              <a:buNone/>
            </a:pPr>
            <a:r>
              <a:rPr b="1" i="0" lang="en-US" sz="1275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4953000" y="2724150"/>
            <a:ext cx="6724650" cy="609600"/>
          </a:xfrm>
          <a:prstGeom prst="roundRect">
            <a:avLst>
              <a:gd fmla="val 12500" name="adj"/>
            </a:avLst>
          </a:prstGeom>
          <a:solidFill>
            <a:srgbClr val="DCFCE7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5143500" y="2886075"/>
            <a:ext cx="3143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25"/>
              <a:buFont typeface="Arial"/>
              <a:buNone/>
            </a:pPr>
            <a:r>
              <a:rPr b="1" i="0" lang="en-US" sz="142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Gujarat Startup Assistance</a:t>
            </a: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8191500" y="289560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75"/>
              <a:buFont typeface="Arial"/>
              <a:buNone/>
            </a:pPr>
            <a:r>
              <a:rPr b="0" i="0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Up to ₹30L seed support</a:t>
            </a:r>
            <a:endParaRPr/>
          </a:p>
        </p:txBody>
      </p:sp>
      <p:sp>
        <p:nvSpPr>
          <p:cNvPr id="379" name="Google Shape;379;p12"/>
          <p:cNvSpPr/>
          <p:nvPr/>
        </p:nvSpPr>
        <p:spPr>
          <a:xfrm>
            <a:off x="10382250" y="288607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75"/>
              <a:buFont typeface="Arial"/>
              <a:buNone/>
            </a:pPr>
            <a:r>
              <a:rPr b="1" i="0" lang="en-US" sz="1275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HIGH*</a:t>
            </a: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4953000" y="3467100"/>
            <a:ext cx="6724650" cy="609600"/>
          </a:xfrm>
          <a:prstGeom prst="roundRect">
            <a:avLst>
              <a:gd fmla="val 12500" name="adj"/>
            </a:avLst>
          </a:prstGeom>
          <a:solidFill>
            <a:srgbClr val="FEF3C7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5143500" y="3629025"/>
            <a:ext cx="3143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25"/>
              <a:buFont typeface="Arial"/>
              <a:buNone/>
            </a:pPr>
            <a:r>
              <a:rPr b="1" i="0" lang="en-US" sz="142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i-Hub Gujarat S4</a:t>
            </a:r>
            <a:endParaRPr/>
          </a:p>
        </p:txBody>
      </p:sp>
      <p:sp>
        <p:nvSpPr>
          <p:cNvPr id="382" name="Google Shape;382;p12"/>
          <p:cNvSpPr/>
          <p:nvPr/>
        </p:nvSpPr>
        <p:spPr>
          <a:xfrm>
            <a:off x="8191500" y="363855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75"/>
              <a:buFont typeface="Arial"/>
              <a:buNone/>
            </a:pPr>
            <a:r>
              <a:rPr b="0" i="0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₹2.5–10L</a:t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10382250" y="362902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275"/>
              <a:buFont typeface="Arial"/>
              <a:buNone/>
            </a:pPr>
            <a:r>
              <a:rPr b="1" i="0" lang="en-US" sz="1275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/>
          </a:p>
        </p:txBody>
      </p:sp>
      <p:sp>
        <p:nvSpPr>
          <p:cNvPr id="384" name="Google Shape;384;p12"/>
          <p:cNvSpPr/>
          <p:nvPr/>
        </p:nvSpPr>
        <p:spPr>
          <a:xfrm>
            <a:off x="4953000" y="4210050"/>
            <a:ext cx="6724650" cy="609600"/>
          </a:xfrm>
          <a:prstGeom prst="roundRect">
            <a:avLst>
              <a:gd fmla="val 12500" name="adj"/>
            </a:avLst>
          </a:prstGeom>
          <a:solidFill>
            <a:srgbClr val="FEF3C7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2"/>
          <p:cNvSpPr/>
          <p:nvPr/>
        </p:nvSpPr>
        <p:spPr>
          <a:xfrm>
            <a:off x="5143500" y="4371975"/>
            <a:ext cx="3143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25"/>
              <a:buFont typeface="Arial"/>
              <a:buNone/>
            </a:pPr>
            <a:r>
              <a:rPr b="1" i="0" lang="en-US" sz="142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MeitY TIDE 2.0</a:t>
            </a: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8191500" y="438150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75"/>
              <a:buFont typeface="Arial"/>
              <a:buNone/>
            </a:pPr>
            <a:r>
              <a:rPr b="0" i="0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Call / incubator-specific</a:t>
            </a:r>
            <a:endParaRPr/>
          </a:p>
        </p:txBody>
      </p:sp>
      <p:sp>
        <p:nvSpPr>
          <p:cNvPr id="387" name="Google Shape;387;p12"/>
          <p:cNvSpPr/>
          <p:nvPr/>
        </p:nvSpPr>
        <p:spPr>
          <a:xfrm>
            <a:off x="10382250" y="437197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275"/>
              <a:buFont typeface="Arial"/>
              <a:buNone/>
            </a:pPr>
            <a:r>
              <a:rPr b="1" i="0" lang="en-US" sz="1275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4953000" y="5048250"/>
            <a:ext cx="6724650" cy="733425"/>
          </a:xfrm>
          <a:prstGeom prst="roundRect">
            <a:avLst>
              <a:gd fmla="val 10390" name="adj"/>
            </a:avLst>
          </a:prstGeom>
          <a:solidFill>
            <a:srgbClr val="FEE2E2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2"/>
          <p:cNvSpPr/>
          <p:nvPr/>
        </p:nvSpPr>
        <p:spPr>
          <a:xfrm>
            <a:off x="5143500" y="520065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Do not target NIDHI-PRAYAS as currently framed</a:t>
            </a:r>
            <a:endParaRPr/>
          </a:p>
        </p:txBody>
      </p:sp>
      <p:sp>
        <p:nvSpPr>
          <p:cNvPr id="390" name="Google Shape;390;p12"/>
          <p:cNvSpPr/>
          <p:nvPr/>
        </p:nvSpPr>
        <p:spPr>
          <a:xfrm>
            <a:off x="5143500" y="5505450"/>
            <a:ext cx="619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-US" sz="1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Pure software and app-based solutions are expressly excluded.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3"/>
          <p:cNvSpPr/>
          <p:nvPr/>
        </p:nvSpPr>
        <p:spPr>
          <a:xfrm>
            <a:off x="514350" y="295275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NXANCE • GRANT PROPOSAL</a:t>
            </a:r>
            <a:endParaRPr/>
          </a:p>
        </p:txBody>
      </p:sp>
      <p:sp>
        <p:nvSpPr>
          <p:cNvPr id="397" name="Google Shape;397;p13"/>
          <p:cNvSpPr/>
          <p:nvPr/>
        </p:nvSpPr>
        <p:spPr>
          <a:xfrm>
            <a:off x="514350" y="609600"/>
            <a:ext cx="9620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150"/>
              <a:buFont typeface="Play"/>
              <a:buNone/>
            </a:pPr>
            <a:r>
              <a:rPr b="1" i="0" lang="en-US" sz="315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Four founders own delivery and evidence</a:t>
            </a:r>
            <a:endParaRPr/>
          </a:p>
        </p:txBody>
      </p:sp>
      <p:pic>
        <p:nvPicPr>
          <p:cNvPr id="398" name="Google Shape;39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2250" y="287974"/>
            <a:ext cx="1285875" cy="462277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3"/>
          <p:cNvSpPr/>
          <p:nvPr/>
        </p:nvSpPr>
        <p:spPr>
          <a:xfrm>
            <a:off x="514350" y="6429375"/>
            <a:ext cx="111633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3"/>
          <p:cNvSpPr/>
          <p:nvPr/>
        </p:nvSpPr>
        <p:spPr>
          <a:xfrm>
            <a:off x="11001375" y="6515100"/>
            <a:ext cx="6762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401" name="Google Shape;401;p13"/>
          <p:cNvSpPr/>
          <p:nvPr/>
        </p:nvSpPr>
        <p:spPr>
          <a:xfrm>
            <a:off x="514350" y="1714500"/>
            <a:ext cx="2571750" cy="2476500"/>
          </a:xfrm>
          <a:prstGeom prst="roundRect">
            <a:avLst>
              <a:gd fmla="val 3077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3"/>
          <p:cNvSpPr/>
          <p:nvPr/>
        </p:nvSpPr>
        <p:spPr>
          <a:xfrm>
            <a:off x="723900" y="1943100"/>
            <a:ext cx="552450" cy="5524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3"/>
          <p:cNvSpPr/>
          <p:nvPr/>
        </p:nvSpPr>
        <p:spPr>
          <a:xfrm>
            <a:off x="723900" y="2076450"/>
            <a:ext cx="552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CEO</a:t>
            </a: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723900" y="2743200"/>
            <a:ext cx="2152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Play"/>
              <a:buNone/>
            </a:pPr>
            <a:r>
              <a:rPr b="1" i="0" lang="en-US" sz="18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Abhishek Rajput</a:t>
            </a:r>
            <a:endParaRPr/>
          </a:p>
        </p:txBody>
      </p:sp>
      <p:sp>
        <p:nvSpPr>
          <p:cNvPr id="405" name="Google Shape;405;p13"/>
          <p:cNvSpPr/>
          <p:nvPr/>
        </p:nvSpPr>
        <p:spPr>
          <a:xfrm>
            <a:off x="723900" y="3429000"/>
            <a:ext cx="2152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75"/>
              <a:buFont typeface="Arial"/>
              <a:buNone/>
            </a:pPr>
            <a:r>
              <a:rPr b="0" i="0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Grant lead • partnerships • commercial proof</a:t>
            </a:r>
            <a:endParaRPr/>
          </a:p>
        </p:txBody>
      </p:sp>
      <p:sp>
        <p:nvSpPr>
          <p:cNvPr id="406" name="Google Shape;406;p13"/>
          <p:cNvSpPr/>
          <p:nvPr/>
        </p:nvSpPr>
        <p:spPr>
          <a:xfrm>
            <a:off x="3305175" y="1714500"/>
            <a:ext cx="2571750" cy="2476500"/>
          </a:xfrm>
          <a:prstGeom prst="roundRect">
            <a:avLst>
              <a:gd fmla="val 3077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3"/>
          <p:cNvSpPr/>
          <p:nvPr/>
        </p:nvSpPr>
        <p:spPr>
          <a:xfrm>
            <a:off x="3514725" y="1943100"/>
            <a:ext cx="552450" cy="552450"/>
          </a:xfrm>
          <a:prstGeom prst="ellipse">
            <a:avLst/>
          </a:prstGeom>
          <a:solidFill>
            <a:srgbClr val="55C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3"/>
          <p:cNvSpPr/>
          <p:nvPr/>
        </p:nvSpPr>
        <p:spPr>
          <a:xfrm>
            <a:off x="3514725" y="2076450"/>
            <a:ext cx="552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CTO</a:t>
            </a:r>
            <a:endParaRPr/>
          </a:p>
        </p:txBody>
      </p:sp>
      <p:sp>
        <p:nvSpPr>
          <p:cNvPr id="409" name="Google Shape;409;p13"/>
          <p:cNvSpPr/>
          <p:nvPr/>
        </p:nvSpPr>
        <p:spPr>
          <a:xfrm>
            <a:off x="3514725" y="2743200"/>
            <a:ext cx="2152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Play"/>
              <a:buNone/>
            </a:pPr>
            <a:r>
              <a:rPr b="1" i="0" lang="en-US" sz="18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Raghav Kripasthya</a:t>
            </a: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3514725" y="3429000"/>
            <a:ext cx="2152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75"/>
              <a:buFont typeface="Arial"/>
              <a:buNone/>
            </a:pPr>
            <a:r>
              <a:rPr b="0" i="0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Architecture • AI stack • security delivery</a:t>
            </a:r>
            <a:endParaRPr/>
          </a:p>
        </p:txBody>
      </p:sp>
      <p:sp>
        <p:nvSpPr>
          <p:cNvPr id="411" name="Google Shape;411;p13"/>
          <p:cNvSpPr/>
          <p:nvPr/>
        </p:nvSpPr>
        <p:spPr>
          <a:xfrm>
            <a:off x="6096000" y="1714500"/>
            <a:ext cx="2571750" cy="2476500"/>
          </a:xfrm>
          <a:prstGeom prst="roundRect">
            <a:avLst>
              <a:gd fmla="val 3077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6305550" y="1943100"/>
            <a:ext cx="552450" cy="5524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3"/>
          <p:cNvSpPr/>
          <p:nvPr/>
        </p:nvSpPr>
        <p:spPr>
          <a:xfrm>
            <a:off x="6305550" y="2076450"/>
            <a:ext cx="552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CIO</a:t>
            </a:r>
            <a:endParaRPr/>
          </a:p>
        </p:txBody>
      </p:sp>
      <p:sp>
        <p:nvSpPr>
          <p:cNvPr id="414" name="Google Shape;414;p13"/>
          <p:cNvSpPr/>
          <p:nvPr/>
        </p:nvSpPr>
        <p:spPr>
          <a:xfrm>
            <a:off x="6305550" y="2743200"/>
            <a:ext cx="2152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Play"/>
              <a:buNone/>
            </a:pPr>
            <a:r>
              <a:rPr b="1" i="0" lang="en-US" sz="18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Deepesh Khemka</a:t>
            </a:r>
            <a:endParaRPr/>
          </a:p>
        </p:txBody>
      </p:sp>
      <p:sp>
        <p:nvSpPr>
          <p:cNvPr id="415" name="Google Shape;415;p13"/>
          <p:cNvSpPr/>
          <p:nvPr/>
        </p:nvSpPr>
        <p:spPr>
          <a:xfrm>
            <a:off x="6305550" y="3429000"/>
            <a:ext cx="2152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75"/>
              <a:buFont typeface="Arial"/>
              <a:buNone/>
            </a:pPr>
            <a:r>
              <a:rPr b="0" i="0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Investment logic • validation • evidence quality</a:t>
            </a:r>
            <a:endParaRPr/>
          </a:p>
        </p:txBody>
      </p:sp>
      <p:sp>
        <p:nvSpPr>
          <p:cNvPr id="416" name="Google Shape;416;p13"/>
          <p:cNvSpPr/>
          <p:nvPr/>
        </p:nvSpPr>
        <p:spPr>
          <a:xfrm>
            <a:off x="8886825" y="1714500"/>
            <a:ext cx="2571750" cy="2476500"/>
          </a:xfrm>
          <a:prstGeom prst="roundRect">
            <a:avLst>
              <a:gd fmla="val 3077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3"/>
          <p:cNvSpPr/>
          <p:nvPr/>
        </p:nvSpPr>
        <p:spPr>
          <a:xfrm>
            <a:off x="9096375" y="1943100"/>
            <a:ext cx="552450" cy="55245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3"/>
          <p:cNvSpPr/>
          <p:nvPr/>
        </p:nvSpPr>
        <p:spPr>
          <a:xfrm>
            <a:off x="9096375" y="2076450"/>
            <a:ext cx="552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COO</a:t>
            </a:r>
            <a:endParaRPr/>
          </a:p>
        </p:txBody>
      </p:sp>
      <p:sp>
        <p:nvSpPr>
          <p:cNvPr id="419" name="Google Shape;419;p13"/>
          <p:cNvSpPr/>
          <p:nvPr/>
        </p:nvSpPr>
        <p:spPr>
          <a:xfrm>
            <a:off x="9096375" y="2743200"/>
            <a:ext cx="2152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Play"/>
              <a:buNone/>
            </a:pPr>
            <a:r>
              <a:rPr b="1" i="0" lang="en-US" sz="18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Bhaskar Pandey</a:t>
            </a:r>
            <a:endParaRPr/>
          </a:p>
        </p:txBody>
      </p:sp>
      <p:sp>
        <p:nvSpPr>
          <p:cNvPr id="420" name="Google Shape;420;p13"/>
          <p:cNvSpPr/>
          <p:nvPr/>
        </p:nvSpPr>
        <p:spPr>
          <a:xfrm>
            <a:off x="9096375" y="3429000"/>
            <a:ext cx="2152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75"/>
              <a:buFont typeface="Arial"/>
              <a:buNone/>
            </a:pPr>
            <a:r>
              <a:rPr b="0" i="0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Milestones • operations • pilot measurement</a:t>
            </a:r>
            <a:endParaRPr/>
          </a:p>
        </p:txBody>
      </p:sp>
      <p:sp>
        <p:nvSpPr>
          <p:cNvPr id="421" name="Google Shape;421;p13"/>
          <p:cNvSpPr/>
          <p:nvPr/>
        </p:nvSpPr>
        <p:spPr>
          <a:xfrm>
            <a:off x="514350" y="4552950"/>
            <a:ext cx="11163300" cy="1352550"/>
          </a:xfrm>
          <a:prstGeom prst="roundRect">
            <a:avLst>
              <a:gd fmla="val 5634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3"/>
          <p:cNvSpPr/>
          <p:nvPr/>
        </p:nvSpPr>
        <p:spPr>
          <a:xfrm>
            <a:off x="781050" y="4810125"/>
            <a:ext cx="2286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5C7F3"/>
              </a:buClr>
              <a:buSzPts val="1650"/>
              <a:buFont typeface="Arial"/>
              <a:buNone/>
            </a:pPr>
            <a:r>
              <a:rPr b="1" i="0" lang="en-US" sz="1650">
                <a:solidFill>
                  <a:srgbClr val="55C7F3"/>
                </a:solidFill>
                <a:latin typeface="Arial"/>
                <a:ea typeface="Arial"/>
                <a:cs typeface="Arial"/>
                <a:sym typeface="Arial"/>
              </a:rPr>
              <a:t>Grant governance</a:t>
            </a:r>
            <a:endParaRPr/>
          </a:p>
        </p:txBody>
      </p:sp>
      <p:sp>
        <p:nvSpPr>
          <p:cNvPr id="423" name="Google Shape;423;p13"/>
          <p:cNvSpPr/>
          <p:nvPr/>
        </p:nvSpPr>
        <p:spPr>
          <a:xfrm>
            <a:off x="781050" y="5314950"/>
            <a:ext cx="2381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Arial"/>
              <a:buNone/>
            </a:pPr>
            <a:r>
              <a:rPr b="1" i="0" lang="en-US" sz="14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Monthly milestone review</a:t>
            </a:r>
            <a:endParaRPr/>
          </a:p>
        </p:txBody>
      </p:sp>
      <p:sp>
        <p:nvSpPr>
          <p:cNvPr id="424" name="Google Shape;424;p13"/>
          <p:cNvSpPr/>
          <p:nvPr/>
        </p:nvSpPr>
        <p:spPr>
          <a:xfrm>
            <a:off x="3495675" y="5314950"/>
            <a:ext cx="285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Arial"/>
              <a:buNone/>
            </a:pPr>
            <a:r>
              <a:rPr b="1" i="0" lang="en-US" sz="14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Quote comparison + asset register</a:t>
            </a:r>
            <a:endParaRPr/>
          </a:p>
        </p:txBody>
      </p:sp>
      <p:sp>
        <p:nvSpPr>
          <p:cNvPr id="425" name="Google Shape;425;p13"/>
          <p:cNvSpPr/>
          <p:nvPr/>
        </p:nvSpPr>
        <p:spPr>
          <a:xfrm>
            <a:off x="6667500" y="5314950"/>
            <a:ext cx="285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Arial"/>
              <a:buNone/>
            </a:pPr>
            <a:r>
              <a:rPr b="1" i="0" lang="en-US" sz="14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 evidence + cohort dashboard</a:t>
            </a:r>
            <a:endParaRPr/>
          </a:p>
        </p:txBody>
      </p:sp>
      <p:sp>
        <p:nvSpPr>
          <p:cNvPr id="426" name="Google Shape;426;p13"/>
          <p:cNvSpPr/>
          <p:nvPr/>
        </p:nvSpPr>
        <p:spPr>
          <a:xfrm>
            <a:off x="9810750" y="531495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5C7F3"/>
              </a:buClr>
              <a:buSzPts val="1425"/>
              <a:buFont typeface="Arial"/>
              <a:buNone/>
            </a:pPr>
            <a:r>
              <a:rPr b="1" i="0" lang="en-US" sz="1425">
                <a:solidFill>
                  <a:srgbClr val="55C7F3"/>
                </a:solidFill>
                <a:latin typeface="Arial"/>
                <a:ea typeface="Arial"/>
                <a:cs typeface="Arial"/>
                <a:sym typeface="Arial"/>
              </a:rPr>
              <a:t>No founder draw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4"/>
          <p:cNvSpPr/>
          <p:nvPr/>
        </p:nvSpPr>
        <p:spPr>
          <a:xfrm>
            <a:off x="514350" y="295275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NXANCE • GRANT PROPOSAL</a:t>
            </a:r>
            <a:endParaRPr/>
          </a:p>
        </p:txBody>
      </p:sp>
      <p:sp>
        <p:nvSpPr>
          <p:cNvPr id="433" name="Google Shape;433;p14"/>
          <p:cNvSpPr/>
          <p:nvPr/>
        </p:nvSpPr>
        <p:spPr>
          <a:xfrm>
            <a:off x="514350" y="609600"/>
            <a:ext cx="9620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150"/>
              <a:buFont typeface="Play"/>
              <a:buNone/>
            </a:pPr>
            <a:r>
              <a:rPr b="1" i="0" lang="en-US" sz="315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Risks become explicit grant controls</a:t>
            </a:r>
            <a:endParaRPr/>
          </a:p>
        </p:txBody>
      </p:sp>
      <p:pic>
        <p:nvPicPr>
          <p:cNvPr id="434" name="Google Shape;43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2250" y="287974"/>
            <a:ext cx="1285875" cy="462277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4"/>
          <p:cNvSpPr/>
          <p:nvPr/>
        </p:nvSpPr>
        <p:spPr>
          <a:xfrm>
            <a:off x="514350" y="6429375"/>
            <a:ext cx="111633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4"/>
          <p:cNvSpPr/>
          <p:nvPr/>
        </p:nvSpPr>
        <p:spPr>
          <a:xfrm>
            <a:off x="11001375" y="6515100"/>
            <a:ext cx="6762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437" name="Google Shape;437;p14"/>
          <p:cNvSpPr/>
          <p:nvPr/>
        </p:nvSpPr>
        <p:spPr>
          <a:xfrm>
            <a:off x="514350" y="1485900"/>
            <a:ext cx="2238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Risk</a:t>
            </a:r>
            <a:endParaRPr/>
          </a:p>
        </p:txBody>
      </p:sp>
      <p:sp>
        <p:nvSpPr>
          <p:cNvPr id="438" name="Google Shape;438;p14"/>
          <p:cNvSpPr/>
          <p:nvPr/>
        </p:nvSpPr>
        <p:spPr>
          <a:xfrm>
            <a:off x="3238500" y="1485900"/>
            <a:ext cx="5619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Control built into the plan</a:t>
            </a:r>
            <a:endParaRPr/>
          </a:p>
        </p:txBody>
      </p:sp>
      <p:sp>
        <p:nvSpPr>
          <p:cNvPr id="439" name="Google Shape;439;p14"/>
          <p:cNvSpPr/>
          <p:nvPr/>
        </p:nvSpPr>
        <p:spPr>
          <a:xfrm>
            <a:off x="9353550" y="1485900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Gate / evidence</a:t>
            </a:r>
            <a:endParaRPr/>
          </a:p>
        </p:txBody>
      </p:sp>
      <p:sp>
        <p:nvSpPr>
          <p:cNvPr id="440" name="Google Shape;440;p14"/>
          <p:cNvSpPr/>
          <p:nvPr/>
        </p:nvSpPr>
        <p:spPr>
          <a:xfrm>
            <a:off x="514350" y="1905000"/>
            <a:ext cx="11163300" cy="666750"/>
          </a:xfrm>
          <a:prstGeom prst="roundRect">
            <a:avLst>
              <a:gd fmla="val 11429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4"/>
          <p:cNvSpPr/>
          <p:nvPr/>
        </p:nvSpPr>
        <p:spPr>
          <a:xfrm>
            <a:off x="685800" y="2095500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Regulatory boundary</a:t>
            </a:r>
            <a:endParaRPr/>
          </a:p>
        </p:txBody>
      </p:sp>
      <p:sp>
        <p:nvSpPr>
          <p:cNvPr id="442" name="Google Shape;442;p14"/>
          <p:cNvSpPr/>
          <p:nvPr/>
        </p:nvSpPr>
        <p:spPr>
          <a:xfrm>
            <a:off x="3238500" y="2019300"/>
            <a:ext cx="5619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75"/>
              <a:buFont typeface="Arial"/>
              <a:buNone/>
            </a:pPr>
            <a:r>
              <a:rPr b="0" i="0" lang="en-US" sz="12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Analytics and education first; regulated advice or execution only after approval or a qualified partnership.</a:t>
            </a:r>
            <a:endParaRPr/>
          </a:p>
        </p:txBody>
      </p:sp>
      <p:sp>
        <p:nvSpPr>
          <p:cNvPr id="443" name="Google Shape;443;p14"/>
          <p:cNvSpPr/>
          <p:nvPr/>
        </p:nvSpPr>
        <p:spPr>
          <a:xfrm>
            <a:off x="9353550" y="2095500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75"/>
              <a:buFont typeface="Arial"/>
              <a:buNone/>
            </a:pPr>
            <a:r>
              <a:rPr b="1" i="0" lang="en-US" sz="127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Counsel memo + UX wording</a:t>
            </a:r>
            <a:endParaRPr/>
          </a:p>
        </p:txBody>
      </p:sp>
      <p:sp>
        <p:nvSpPr>
          <p:cNvPr id="444" name="Google Shape;444;p14"/>
          <p:cNvSpPr/>
          <p:nvPr/>
        </p:nvSpPr>
        <p:spPr>
          <a:xfrm>
            <a:off x="514350" y="2695575"/>
            <a:ext cx="11163300" cy="66675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4"/>
          <p:cNvSpPr/>
          <p:nvPr/>
        </p:nvSpPr>
        <p:spPr>
          <a:xfrm>
            <a:off x="685800" y="2886075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Model hallucination</a:t>
            </a:r>
            <a:endParaRPr/>
          </a:p>
        </p:txBody>
      </p:sp>
      <p:sp>
        <p:nvSpPr>
          <p:cNvPr id="446" name="Google Shape;446;p14"/>
          <p:cNvSpPr/>
          <p:nvPr/>
        </p:nvSpPr>
        <p:spPr>
          <a:xfrm>
            <a:off x="3238500" y="2809875"/>
            <a:ext cx="5619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75"/>
              <a:buFont typeface="Arial"/>
              <a:buNone/>
            </a:pPr>
            <a:r>
              <a:rPr b="0" i="0" lang="en-US" sz="12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Retrieval, deterministic portfolio facts, explanation trace, evaluation set and refusal behaviour.</a:t>
            </a:r>
            <a:endParaRPr/>
          </a:p>
        </p:txBody>
      </p:sp>
      <p:sp>
        <p:nvSpPr>
          <p:cNvPr id="447" name="Google Shape;447;p14"/>
          <p:cNvSpPr/>
          <p:nvPr/>
        </p:nvSpPr>
        <p:spPr>
          <a:xfrm>
            <a:off x="9353550" y="2886075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75"/>
              <a:buFont typeface="Arial"/>
              <a:buNone/>
            </a:pPr>
            <a:r>
              <a:rPr b="1" i="0" lang="en-US" sz="127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Trace audit + benchmark report</a:t>
            </a:r>
            <a:endParaRPr/>
          </a:p>
        </p:txBody>
      </p:sp>
      <p:sp>
        <p:nvSpPr>
          <p:cNvPr id="448" name="Google Shape;448;p14"/>
          <p:cNvSpPr/>
          <p:nvPr/>
        </p:nvSpPr>
        <p:spPr>
          <a:xfrm>
            <a:off x="514350" y="3486150"/>
            <a:ext cx="11163300" cy="666750"/>
          </a:xfrm>
          <a:prstGeom prst="roundRect">
            <a:avLst>
              <a:gd fmla="val 11429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4"/>
          <p:cNvSpPr/>
          <p:nvPr/>
        </p:nvSpPr>
        <p:spPr>
          <a:xfrm>
            <a:off x="685800" y="3676650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Privacy &amp; security</a:t>
            </a:r>
            <a:endParaRPr/>
          </a:p>
        </p:txBody>
      </p:sp>
      <p:sp>
        <p:nvSpPr>
          <p:cNvPr id="450" name="Google Shape;450;p14"/>
          <p:cNvSpPr/>
          <p:nvPr/>
        </p:nvSpPr>
        <p:spPr>
          <a:xfrm>
            <a:off x="3238500" y="3600450"/>
            <a:ext cx="5619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75"/>
              <a:buFont typeface="Arial"/>
              <a:buNone/>
            </a:pPr>
            <a:r>
              <a:rPr b="0" i="0" lang="en-US" sz="12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Data minimisation, access controls, encrypted backup, logging and independent assessment.</a:t>
            </a:r>
            <a:endParaRPr/>
          </a:p>
        </p:txBody>
      </p:sp>
      <p:sp>
        <p:nvSpPr>
          <p:cNvPr id="451" name="Google Shape;451;p14"/>
          <p:cNvSpPr/>
          <p:nvPr/>
        </p:nvSpPr>
        <p:spPr>
          <a:xfrm>
            <a:off x="9353550" y="3676650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75"/>
              <a:buFont typeface="Arial"/>
              <a:buNone/>
            </a:pPr>
            <a:r>
              <a:rPr b="1" i="0" lang="en-US" sz="1275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0 open critical findings</a:t>
            </a:r>
            <a:endParaRPr/>
          </a:p>
        </p:txBody>
      </p:sp>
      <p:sp>
        <p:nvSpPr>
          <p:cNvPr id="452" name="Google Shape;452;p14"/>
          <p:cNvSpPr/>
          <p:nvPr/>
        </p:nvSpPr>
        <p:spPr>
          <a:xfrm>
            <a:off x="514350" y="4276725"/>
            <a:ext cx="11163300" cy="66675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4"/>
          <p:cNvSpPr/>
          <p:nvPr/>
        </p:nvSpPr>
        <p:spPr>
          <a:xfrm>
            <a:off x="685800" y="4467225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Procurement variance</a:t>
            </a:r>
            <a:endParaRPr/>
          </a:p>
        </p:txBody>
      </p:sp>
      <p:sp>
        <p:nvSpPr>
          <p:cNvPr id="454" name="Google Shape;454;p14"/>
          <p:cNvSpPr/>
          <p:nvPr/>
        </p:nvSpPr>
        <p:spPr>
          <a:xfrm>
            <a:off x="3238500" y="4391025"/>
            <a:ext cx="5619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75"/>
              <a:buFont typeface="Arial"/>
              <a:buNone/>
            </a:pPr>
            <a:r>
              <a:rPr b="0" i="0" lang="en-US" sz="12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Three comparable quotes, warranty/tax checks and incubator approval before commitment.</a:t>
            </a:r>
            <a:endParaRPr/>
          </a:p>
        </p:txBody>
      </p:sp>
      <p:sp>
        <p:nvSpPr>
          <p:cNvPr id="455" name="Google Shape;455;p14"/>
          <p:cNvSpPr/>
          <p:nvPr/>
        </p:nvSpPr>
        <p:spPr>
          <a:xfrm>
            <a:off x="9353550" y="4467225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75"/>
              <a:buFont typeface="Arial"/>
              <a:buNone/>
            </a:pPr>
            <a:r>
              <a:rPr b="1" i="0" lang="en-US" sz="127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Quote matrix + asset register</a:t>
            </a: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514350" y="5067300"/>
            <a:ext cx="11163300" cy="666750"/>
          </a:xfrm>
          <a:prstGeom prst="roundRect">
            <a:avLst>
              <a:gd fmla="val 11429" name="adj"/>
            </a:avLst>
          </a:prstGeom>
          <a:solidFill>
            <a:srgbClr val="F3F8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4"/>
          <p:cNvSpPr/>
          <p:nvPr/>
        </p:nvSpPr>
        <p:spPr>
          <a:xfrm>
            <a:off x="685800" y="5257800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Weak adoption</a:t>
            </a:r>
            <a:endParaRPr/>
          </a:p>
        </p:txBody>
      </p:sp>
      <p:sp>
        <p:nvSpPr>
          <p:cNvPr id="458" name="Google Shape;458;p14"/>
          <p:cNvSpPr/>
          <p:nvPr/>
        </p:nvSpPr>
        <p:spPr>
          <a:xfrm>
            <a:off x="3238500" y="5181600"/>
            <a:ext cx="5619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75"/>
              <a:buFont typeface="Arial"/>
              <a:buNone/>
            </a:pPr>
            <a:r>
              <a:rPr b="0" i="0" lang="en-US" sz="127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Qualified cohorts, structured tasks, activation tracking, interviews and payment evidence.</a:t>
            </a:r>
            <a:endParaRPr/>
          </a:p>
        </p:txBody>
      </p:sp>
      <p:sp>
        <p:nvSpPr>
          <p:cNvPr id="459" name="Google Shape;459;p14"/>
          <p:cNvSpPr/>
          <p:nvPr/>
        </p:nvSpPr>
        <p:spPr>
          <a:xfrm>
            <a:off x="9353550" y="5257800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75"/>
              <a:buFont typeface="Arial"/>
              <a:buNone/>
            </a:pPr>
            <a:r>
              <a:rPr b="1" i="0" lang="en-US" sz="127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250 beta / 50 paying target</a:t>
            </a:r>
            <a:endParaRPr/>
          </a:p>
        </p:txBody>
      </p:sp>
      <p:sp>
        <p:nvSpPr>
          <p:cNvPr id="460" name="Google Shape;460;p14"/>
          <p:cNvSpPr/>
          <p:nvPr/>
        </p:nvSpPr>
        <p:spPr>
          <a:xfrm>
            <a:off x="514350" y="6010275"/>
            <a:ext cx="876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RBI and SEBI sandboxes are potential post-MVP validation routes—not grant funding.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983" y="400050"/>
            <a:ext cx="1616184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5"/>
          <p:cNvSpPr/>
          <p:nvPr/>
        </p:nvSpPr>
        <p:spPr>
          <a:xfrm>
            <a:off x="552450" y="1343025"/>
            <a:ext cx="2857500" cy="323850"/>
          </a:xfrm>
          <a:prstGeom prst="roundRect">
            <a:avLst>
              <a:gd fmla="val 235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5"/>
          <p:cNvSpPr/>
          <p:nvPr/>
        </p:nvSpPr>
        <p:spPr>
          <a:xfrm>
            <a:off x="647700" y="1390650"/>
            <a:ext cx="2667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Arial"/>
              <a:buNone/>
            </a:pPr>
            <a:r>
              <a:rPr b="1" i="0" lang="en-US" sz="1200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MILESTONE-BASED GRANT ASK</a:t>
            </a:r>
            <a:endParaRPr/>
          </a:p>
        </p:txBody>
      </p:sp>
      <p:sp>
        <p:nvSpPr>
          <p:cNvPr id="469" name="Google Shape;469;p15"/>
          <p:cNvSpPr/>
          <p:nvPr/>
        </p:nvSpPr>
        <p:spPr>
          <a:xfrm>
            <a:off x="552450" y="2009775"/>
            <a:ext cx="7429500" cy="150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50"/>
              <a:buFont typeface="Play"/>
              <a:buNone/>
            </a:pPr>
            <a:r>
              <a:rPr b="1" i="0" lang="en-US" sz="435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Approve a ₹</a:t>
            </a:r>
            <a:r>
              <a:rPr b="1" lang="en-US" sz="435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30</a:t>
            </a:r>
            <a:r>
              <a:rPr b="1" i="0" lang="en-US" sz="435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 lakh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50"/>
              <a:buFont typeface="Play"/>
              <a:buNone/>
            </a:pPr>
            <a:r>
              <a:rPr b="1" i="0" lang="en-US" sz="435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prototype-to-paid-pilot plan</a:t>
            </a:r>
            <a:endParaRPr/>
          </a:p>
        </p:txBody>
      </p:sp>
      <p:sp>
        <p:nvSpPr>
          <p:cNvPr id="470" name="Google Shape;470;p15"/>
          <p:cNvSpPr/>
          <p:nvPr/>
        </p:nvSpPr>
        <p:spPr>
          <a:xfrm>
            <a:off x="552450" y="3848100"/>
            <a:ext cx="69532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5C7F3"/>
              </a:buClr>
              <a:buSzPts val="1875"/>
              <a:buFont typeface="Arial"/>
              <a:buNone/>
            </a:pPr>
            <a:r>
              <a:rPr b="0" i="0" lang="en-US" sz="1875">
                <a:solidFill>
                  <a:srgbClr val="55C7F3"/>
                </a:solidFill>
                <a:latin typeface="Arial"/>
                <a:ea typeface="Arial"/>
                <a:cs typeface="Arial"/>
                <a:sym typeface="Arial"/>
              </a:rPr>
              <a:t>Adaptable to a ₹2</a:t>
            </a:r>
            <a:r>
              <a:rPr lang="en-US" sz="1875">
                <a:solidFill>
                  <a:srgbClr val="55C7F3"/>
                </a:solidFill>
              </a:rPr>
              <a:t>5</a:t>
            </a:r>
            <a:r>
              <a:rPr b="0" i="0" lang="en-US" sz="1875">
                <a:solidFill>
                  <a:srgbClr val="55C7F3"/>
                </a:solidFill>
                <a:latin typeface="Arial"/>
                <a:ea typeface="Arial"/>
                <a:cs typeface="Arial"/>
                <a:sym typeface="Arial"/>
              </a:rPr>
              <a:t> lakh grant cap without changing the core MVP architecture.</a:t>
            </a:r>
            <a:endParaRPr/>
          </a:p>
        </p:txBody>
      </p:sp>
      <p:sp>
        <p:nvSpPr>
          <p:cNvPr id="471" name="Google Shape;471;p15"/>
          <p:cNvSpPr/>
          <p:nvPr/>
        </p:nvSpPr>
        <p:spPr>
          <a:xfrm>
            <a:off x="8286750" y="1343025"/>
            <a:ext cx="3390900" cy="4629150"/>
          </a:xfrm>
          <a:prstGeom prst="roundRect">
            <a:avLst>
              <a:gd fmla="val 224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5"/>
          <p:cNvSpPr/>
          <p:nvPr/>
        </p:nvSpPr>
        <p:spPr>
          <a:xfrm>
            <a:off x="8591550" y="1676400"/>
            <a:ext cx="2667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50"/>
              <a:buFont typeface="Arial"/>
              <a:buNone/>
            </a:pPr>
            <a:r>
              <a:rPr b="1" i="0" lang="en-US" sz="16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At Month 6</a:t>
            </a:r>
            <a:endParaRPr/>
          </a:p>
        </p:txBody>
      </p:sp>
      <p:sp>
        <p:nvSpPr>
          <p:cNvPr id="473" name="Google Shape;473;p15"/>
          <p:cNvSpPr/>
          <p:nvPr/>
        </p:nvSpPr>
        <p:spPr>
          <a:xfrm>
            <a:off x="8591550" y="2286000"/>
            <a:ext cx="2667000" cy="381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5"/>
          <p:cNvSpPr/>
          <p:nvPr/>
        </p:nvSpPr>
        <p:spPr>
          <a:xfrm>
            <a:off x="8591550" y="2457450"/>
            <a:ext cx="2667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000"/>
              <a:buFont typeface="Play"/>
              <a:buNone/>
            </a:pPr>
            <a:r>
              <a:rPr b="1" i="0" lang="en-US" sz="3000">
                <a:solidFill>
                  <a:srgbClr val="0B1F3A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/>
          </a:p>
        </p:txBody>
      </p:sp>
      <p:sp>
        <p:nvSpPr>
          <p:cNvPr id="475" name="Google Shape;475;p15"/>
          <p:cNvSpPr/>
          <p:nvPr/>
        </p:nvSpPr>
        <p:spPr>
          <a:xfrm>
            <a:off x="8591550" y="3028950"/>
            <a:ext cx="266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pilot-ready MVP</a:t>
            </a:r>
            <a:endParaRPr/>
          </a:p>
        </p:txBody>
      </p:sp>
      <p:sp>
        <p:nvSpPr>
          <p:cNvPr id="476" name="Google Shape;476;p15"/>
          <p:cNvSpPr/>
          <p:nvPr/>
        </p:nvSpPr>
        <p:spPr>
          <a:xfrm>
            <a:off x="8591550" y="3524250"/>
            <a:ext cx="2667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5"/>
          <p:cNvSpPr/>
          <p:nvPr/>
        </p:nvSpPr>
        <p:spPr>
          <a:xfrm>
            <a:off x="8591550" y="3695700"/>
            <a:ext cx="2667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000"/>
              <a:buFont typeface="Play"/>
              <a:buNone/>
            </a:pPr>
            <a:r>
              <a:rPr b="1" i="0" lang="en-US" sz="3000">
                <a:solidFill>
                  <a:srgbClr val="2563EB"/>
                </a:solidFill>
                <a:latin typeface="Play"/>
                <a:ea typeface="Play"/>
                <a:cs typeface="Play"/>
                <a:sym typeface="Play"/>
              </a:rPr>
              <a:t>250</a:t>
            </a:r>
            <a:endParaRPr/>
          </a:p>
        </p:txBody>
      </p:sp>
      <p:sp>
        <p:nvSpPr>
          <p:cNvPr id="478" name="Google Shape;478;p15"/>
          <p:cNvSpPr/>
          <p:nvPr/>
        </p:nvSpPr>
        <p:spPr>
          <a:xfrm>
            <a:off x="8591550" y="4267200"/>
            <a:ext cx="266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qualified beta users</a:t>
            </a:r>
            <a:endParaRPr/>
          </a:p>
        </p:txBody>
      </p:sp>
      <p:sp>
        <p:nvSpPr>
          <p:cNvPr id="479" name="Google Shape;479;p15"/>
          <p:cNvSpPr/>
          <p:nvPr/>
        </p:nvSpPr>
        <p:spPr>
          <a:xfrm>
            <a:off x="8591550" y="4762500"/>
            <a:ext cx="2667000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5"/>
          <p:cNvSpPr/>
          <p:nvPr/>
        </p:nvSpPr>
        <p:spPr>
          <a:xfrm>
            <a:off x="8591550" y="4933950"/>
            <a:ext cx="2667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3000"/>
              <a:buFont typeface="Play"/>
              <a:buNone/>
            </a:pPr>
            <a:r>
              <a:rPr b="1" i="0" lang="en-US" sz="3000">
                <a:solidFill>
                  <a:srgbClr val="16A34A"/>
                </a:solidFill>
                <a:latin typeface="Play"/>
                <a:ea typeface="Play"/>
                <a:cs typeface="Play"/>
                <a:sym typeface="Play"/>
              </a:rPr>
              <a:t>50</a:t>
            </a: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8591550" y="5505450"/>
            <a:ext cx="266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1" i="0" lang="en-US" sz="13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paying users / commitments</a:t>
            </a:r>
            <a:endParaRPr/>
          </a:p>
        </p:txBody>
      </p:sp>
      <p:sp>
        <p:nvSpPr>
          <p:cNvPr id="482" name="Google Shape;482;p15"/>
          <p:cNvSpPr/>
          <p:nvPr/>
        </p:nvSpPr>
        <p:spPr>
          <a:xfrm>
            <a:off x="552450" y="5029200"/>
            <a:ext cx="69532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b="0" i="0"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Funding requested for equipment, specialist delivery, data/cloud, independent testing, pilot operations and controlled acquisition.</a:t>
            </a:r>
            <a:endParaRPr/>
          </a:p>
        </p:txBody>
      </p:sp>
      <p:sp>
        <p:nvSpPr>
          <p:cNvPr id="483" name="Google Shape;483;p15"/>
          <p:cNvSpPr/>
          <p:nvPr/>
        </p:nvSpPr>
        <p:spPr>
          <a:xfrm>
            <a:off x="552450" y="6162675"/>
            <a:ext cx="11125200" cy="9525"/>
          </a:xfrm>
          <a:prstGeom prst="rect">
            <a:avLst/>
          </a:prstGeom>
          <a:solidFill>
            <a:srgbClr val="3150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5"/>
          <p:cNvSpPr/>
          <p:nvPr/>
        </p:nvSpPr>
        <p:spPr>
          <a:xfrm>
            <a:off x="552450" y="6343650"/>
            <a:ext cx="400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5C7F3"/>
              </a:buClr>
              <a:buSzPts val="1200"/>
              <a:buFont typeface="Arial"/>
              <a:buNone/>
            </a:pPr>
            <a:r>
              <a:rPr b="0" i="0" lang="en-US" sz="1200">
                <a:solidFill>
                  <a:srgbClr val="55C7F3"/>
                </a:solidFill>
                <a:latin typeface="Arial"/>
                <a:ea typeface="Arial"/>
                <a:cs typeface="Arial"/>
                <a:sym typeface="Arial"/>
              </a:rPr>
              <a:t>Nxance • Ohshn Intelligence LLP</a:t>
            </a:r>
            <a:endParaRPr/>
          </a:p>
        </p:txBody>
      </p:sp>
      <p:sp>
        <p:nvSpPr>
          <p:cNvPr id="485" name="Google Shape;485;p15"/>
          <p:cNvSpPr/>
          <p:nvPr/>
        </p:nvSpPr>
        <p:spPr>
          <a:xfrm>
            <a:off x="11239500" y="6343650"/>
            <a:ext cx="438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2026-09-02T15:24:28Z</dcterms:created>
  <dc:creator>Walnut Exporter</dc:creator>
</cp:coreProperties>
</file>