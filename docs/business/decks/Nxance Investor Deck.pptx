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version: Nxance is the layer that tells an Indian investor whether the portfolio they already own is working, and what to do about it. Everything else in this deck follows from that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one point: enormous participation, poor outcomes, and no advice infrastructure. The adviser scarcity number is the one investors react to — lead with it if you are short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timing argument is two-sided: demand is compounding (SIPs up 8x in a decade) and supply just became possible (LLMs make explanation cheap). Neither alone would justify building this in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jargon-free — it is the one a generalist partner has to understand. The engineering proof comes two slides later. If asked "is this a GPT wrapper?", answer with the last line: the AI cannot produce a number, only explain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the live demo here rather than walking the screenshots. The bottom-right shot is the one to point at: the Number Guard verification block is visible in the product, not just on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slide written for a technical reader — the vocabulary here is the point. Number Guard is the answer to the objection every AI-finance company gets: what stops it hallucinating a return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 line answers "what happens when a foundation-model provider ships this?" — the defensibility is the incentive structure and the evidence trail, not the model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row that matters is pricing. Three of the four charge a percentage of assets or monetise through lending, and both misalign the adviser with the investor. That is the wedge, not model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different cuts of the same pool, deliberately. TAM answers what instruments exist. SAM answers whose money is actually live. SOM answers what we can physically cover. TAM by instrument, in rupees lakh crore: mutual funds of every category 80.3, which is 50.2 held by individuals and 30.2 of corporate treasury; direct listed equity 66.6, being 44.4 held by individuals and HUFs, 13.4 by trusts, LLPs and NRIs and 8.8 by non-promoter investment companies; AIFs across all three categories 7.0; and REITs, InvITs and sovereign gold bonds 4.3. SAM removes dormant money. India has 13.1 crore registered investors but only 4.60 crore who actually transact, so we count 55 per cent of the individual pool, not all of it. We keep 70 per cent of family vehicles, because trusts and investment companies are advice-seekers by construction though many sit with entrenched wealth managers, all of the alternatives, since nobody holds an AIF passively, and 40 per cent of corporate treasury, which needs a B2B motion rather than a consumer one. SOM is a coverage number, not a share-of-market aspiration. It is what the team and channels this raise funds can actually serve by year five, and it is reachable three separate ways, so the revenue does not depend on one pricing bet landing. Four pre-emptions. 50 bps is the low end of mutual-fund trail commissions, so we claim redirected spending, not new spending. Direct equity is the 9.6 per cent individuals hold outright, not the 18.5 per cent widely quoted, which already includes their mutual funds. PMS is excluded because Indian PMS holds securities in the client's own demat. Corporate treasury is carried at 15 bps, not 50, because cash advisory earns a fraction of portfolio advice. Still uncounted and real: non-government NPS, retail bonds through OBPPs, and overseas holdings via LRS.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99-rupee unlock is a qualifier, not revenue — it separates curious users from paying ones before you spend on them. Subscription revenue is deliberately not netted against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matters here: 01 and 02 fund themselves, 03 lowers blended acquisition cost, 04 is deliberately gated behind retention proof so you are not negotiating from weakness.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quote out loud, then pause. It does two jobs: it names the emotion the whole product sits on, and it splits the problem into the two questions Construction and Health Check answer. Then move to the numbers — but do not oversell them. Pre-revenue, small, honest: the frontend is built, the demand signal is real but early, and the backend is what the money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clocks, deliberately. The product ships in six 3-month phases; capital releases in three 6-month tranches. They do not line up, and that is the point: an investor is not funding a phase, they are funding a checkpoint. Tranche 1 funds exactly the first six months of burn. Tranche 2 is the largest because it carries the SEBI-RIA deposit and the whole contingency. Tranche 3 funds the last six months at a lower monthly rate because the buffer is already in hand. Equity releases with the capital: 6%, then 7%, then 7%, reaching 20% only if all three are drawn. The Simulation gate also carries two design partners in the milestone model; the slide leads with the validated scenario library because that is the artefact an investor can actually be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25-line hiring schedule with start months sits in the budget model. The point of the bottom strip is that 43% of people spend goes to investment and research — this is a research company with an app, not an app with a finance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is the point: just under three quarters of the round goes into building the product and reaching users, and only 16.7% into running the company. Founder draws are 7.6%. If an investor pushes on the contingency, it is 12% of operating burn and it is the reason the round still closes with cash in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is the argument: spend follows hiring, and hiring follows the gates on the roadmap slide. There is no step change at launch because marketing ramps gradually rather than in one burst.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Routes, not returns. At seed stage, naming the buyers matters more than modelling the multiple, and an investor who knows the category will do their own arithmetic. The line that earns the slide is the one under the heading: because the engines can be licensed as well as used, an infrastructure sale stays open even if the consumer product plateaus. If pushed on numbers, say the exit sensitivities exist in the model and offer to walk through them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vision line, then go straight to the ask in conversation rather than re-presenting it. If there is time for one demo, make it the Health Check on the investor's own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B"/>
        </a:solidFill>
      </p:bgPr>
    </p:bg>
    <p:spTree>
      <p:nvGrpSpPr>
        <p:cNvPr id="1" name=""/>
        <p:cNvGrpSpPr/>
        <p:nvPr/>
      </p:nvGrpSpPr>
      <p:grpSpPr>
        <a:xfrm>
          <a:off x="0" y="0"/>
          <a:ext cx="0" cy="0"/>
          <a:chOff x="0" y="0"/>
          <a:chExt cx="0" cy="0"/>
        </a:xfrm>
      </p:grpSpPr>
      <p:pic>
        <p:nvPicPr>
          <p:cNvPr id="2" name="Image 0" descr="Nxance logo">    </p:cNvPr>
          <p:cNvPicPr>
            <a:picLocks noChangeAspect="1"/>
          </p:cNvPicPr>
          <p:nvPr/>
        </p:nvPicPr>
        <p:blipFill>
          <a:blip r:embed="rId1"/>
          <a:srcRect l="-51" r="-51" t="0" b="0"/>
          <a:stretch/>
        </p:blipFill>
        <p:spPr>
          <a:xfrm>
            <a:off x="4546600" y="1940719"/>
            <a:ext cx="3098800" cy="952500"/>
          </a:xfrm>
          <a:prstGeom prst="rect">
            <a:avLst/>
          </a:prstGeom>
        </p:spPr>
      </p:pic>
      <p:sp>
        <p:nvSpPr>
          <p:cNvPr id="3" name="Text 0"/>
          <p:cNvSpPr/>
          <p:nvPr/>
        </p:nvSpPr>
        <p:spPr>
          <a:xfrm>
            <a:off x="1386840" y="3159919"/>
            <a:ext cx="9418320" cy="437885"/>
          </a:xfrm>
          <a:prstGeom prst="rect">
            <a:avLst/>
          </a:prstGeom>
          <a:noFill/>
          <a:ln/>
        </p:spPr>
        <p:txBody>
          <a:bodyPr wrap="square" lIns="0" tIns="0" rIns="0" bIns="0" rtlCol="0" anchor="t">
            <a:normAutofit/>
          </a:bodyPr>
          <a:lstStyle/>
          <a:p>
            <a:pPr algn="ctr" indent="0" marL="0">
              <a:lnSpc>
                <a:spcPts val="3248"/>
              </a:lnSpc>
              <a:buNone/>
            </a:pPr>
            <a:r>
              <a:rPr lang="en-US" sz="2800" b="1" dirty="0">
                <a:solidFill>
                  <a:srgbClr val="0F1B33"/>
                </a:solidFill>
                <a:latin typeface="Geologica" pitchFamily="34" charset="0"/>
                <a:ea typeface="Geologica" pitchFamily="34" charset="-122"/>
                <a:cs typeface="Geologica" pitchFamily="34" charset="-120"/>
              </a:rPr>
              <a:t>Investment intelligence, engineered for precision.</a:t>
            </a:r>
            <a:endParaRPr lang="en-US" sz="2800" dirty="0"/>
          </a:p>
        </p:txBody>
      </p:sp>
      <p:sp>
        <p:nvSpPr>
          <p:cNvPr id="4" name="Text 1"/>
          <p:cNvSpPr/>
          <p:nvPr/>
        </p:nvSpPr>
        <p:spPr>
          <a:xfrm>
            <a:off x="1844675" y="3839104"/>
            <a:ext cx="8502650" cy="614627"/>
          </a:xfrm>
          <a:prstGeom prst="rect">
            <a:avLst/>
          </a:prstGeom>
          <a:noFill/>
          <a:ln/>
        </p:spPr>
        <p:txBody>
          <a:bodyPr wrap="square" lIns="0" tIns="0" rIns="0" bIns="0" rtlCol="0" anchor="t">
            <a:normAutofit/>
          </a:bodyPr>
          <a:lstStyle/>
          <a:p>
            <a:pPr algn="ctr" indent="0" marL="0">
              <a:lnSpc>
                <a:spcPts val="2320"/>
              </a:lnSpc>
              <a:buNone/>
            </a:pPr>
            <a:r>
              <a:rPr lang="en-US" sz="1600" dirty="0">
                <a:solidFill>
                  <a:srgbClr val="4A5568"/>
                </a:solidFill>
                <a:latin typeface="DM Sans" pitchFamily="34" charset="0"/>
                <a:ea typeface="DM Sans" pitchFamily="34" charset="-122"/>
                <a:cs typeface="DM Sans" pitchFamily="34" charset="-120"/>
              </a:rPr>
              <a:t>Nxance tells every Indian investor whether their portfolio is actually working — and exactly how to fix it.</a:t>
            </a:r>
            <a:endParaRPr lang="en-US" sz="1600" dirty="0"/>
          </a:p>
        </p:txBody>
      </p:sp>
      <p:sp>
        <p:nvSpPr>
          <p:cNvPr id="5" name="Text 2"/>
          <p:cNvSpPr/>
          <p:nvPr/>
        </p:nvSpPr>
        <p:spPr>
          <a:xfrm>
            <a:off x="2853994" y="4695031"/>
            <a:ext cx="6678532" cy="247650"/>
          </a:xfrm>
          <a:prstGeom prst="rect">
            <a:avLst/>
          </a:prstGeom>
          <a:noFill/>
          <a:ln/>
        </p:spPr>
        <p:txBody>
          <a:bodyPr wrap="square" lIns="0" tIns="0" rIns="0" bIns="0" rtlCol="0" anchor="t">
            <a:normAutofit/>
          </a:bodyPr>
          <a:lstStyle/>
          <a:p>
            <a:pPr algn="l" indent="0" marL="0">
              <a:lnSpc>
                <a:spcPts val="1750"/>
              </a:lnSpc>
              <a:buNone/>
            </a:pPr>
            <a:r>
              <a:rPr lang="en-US" sz="1250" spc="150" kern="0" dirty="0">
                <a:solidFill>
                  <a:srgbClr val="8A93A5"/>
                </a:solidFill>
                <a:latin typeface="Lexend" pitchFamily="34" charset="0"/>
                <a:ea typeface="Lexend" pitchFamily="34" charset="-122"/>
                <a:cs typeface="Lexend" pitchFamily="34" charset="-120"/>
              </a:rPr>
              <a:t>OHSHN INTELLIGENCE LLP  ·  INVESTOR DECK  ·  SEPTEMBER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FE0"/>
                </a:solidFill>
                <a:latin typeface="Lexend" pitchFamily="34" charset="0"/>
                <a:ea typeface="Lexend" pitchFamily="34" charset="-122"/>
                <a:cs typeface="Lexend" pitchFamily="34" charset="-120"/>
              </a:rPr>
              <a:t>THE PROBLEM</a:t>
            </a:r>
            <a:endParaRPr lang="en-US" sz="1200" dirty="0"/>
          </a:p>
        </p:txBody>
      </p:sp>
      <p:sp>
        <p:nvSpPr>
          <p:cNvPr id="3" name="Text 1"/>
          <p:cNvSpPr/>
          <p:nvPr/>
        </p:nvSpPr>
        <p:spPr>
          <a:xfrm>
            <a:off x="812800" y="1216620"/>
            <a:ext cx="10203180" cy="778140"/>
          </a:xfrm>
          <a:prstGeom prst="rect">
            <a:avLst/>
          </a:prstGeom>
          <a:noFill/>
          <a:ln/>
        </p:spPr>
        <p:txBody>
          <a:bodyPr wrap="square" lIns="0" tIns="0" rIns="0" bIns="0" rtlCol="0" anchor="t">
            <a:normAutofit/>
          </a:bodyPr>
          <a:lstStyle/>
          <a:p>
            <a:pPr algn="l" indent="0" marL="0">
              <a:lnSpc>
                <a:spcPts val="2964"/>
              </a:lnSpc>
              <a:buNone/>
            </a:pPr>
            <a:r>
              <a:rPr lang="en-US" sz="2600" b="1" dirty="0">
                <a:solidFill>
                  <a:srgbClr val="0F1B33"/>
                </a:solidFill>
                <a:latin typeface="Geologica" pitchFamily="34" charset="0"/>
                <a:ea typeface="Geologica" pitchFamily="34" charset="-122"/>
                <a:cs typeface="Geologica" pitchFamily="34" charset="-120"/>
              </a:rPr>
              <a:t>Retail India invests blind, loses quietly, and has almost nowhere to turn.</a:t>
            </a:r>
            <a:endParaRPr lang="en-US" sz="2600" dirty="0"/>
          </a:p>
        </p:txBody>
      </p:sp>
      <p:sp>
        <p:nvSpPr>
          <p:cNvPr id="4" name="Shape 2"/>
          <p:cNvSpPr/>
          <p:nvPr/>
        </p:nvSpPr>
        <p:spPr>
          <a:xfrm>
            <a:off x="815975" y="2163035"/>
            <a:ext cx="3388783" cy="2581937"/>
          </a:xfrm>
          <a:prstGeom prst="roundRect">
            <a:avLst>
              <a:gd name="adj" fmla="val 3812"/>
            </a:avLst>
          </a:prstGeom>
          <a:solidFill>
            <a:srgbClr val="FFFFFF"/>
          </a:solidFill>
          <a:ln w="6350">
            <a:solidFill>
              <a:srgbClr val="DCE3F0"/>
            </a:solidFill>
            <a:prstDash val="solid"/>
          </a:ln>
        </p:spPr>
      </p:sp>
      <p:sp>
        <p:nvSpPr>
          <p:cNvPr id="5" name="Text 3"/>
          <p:cNvSpPr/>
          <p:nvPr/>
        </p:nvSpPr>
        <p:spPr>
          <a:xfrm>
            <a:off x="1058333" y="2405393"/>
            <a:ext cx="2991189" cy="415793"/>
          </a:xfrm>
          <a:prstGeom prst="rect">
            <a:avLst/>
          </a:prstGeom>
          <a:noFill/>
          <a:ln/>
        </p:spPr>
        <p:txBody>
          <a:bodyPr wrap="square" lIns="0" tIns="0" rIns="0" bIns="0" rtlCol="0" anchor="t">
            <a:normAutofit/>
          </a:bodyPr>
          <a:lstStyle/>
          <a:p>
            <a:pPr algn="l" indent="0" marL="0">
              <a:lnSpc>
                <a:spcPts val="3074"/>
              </a:lnSpc>
              <a:buNone/>
            </a:pPr>
            <a:r>
              <a:rPr lang="en-US" sz="2900" b="1" dirty="0">
                <a:solidFill>
                  <a:srgbClr val="2F5FE0"/>
                </a:solidFill>
                <a:latin typeface="Geologica" pitchFamily="34" charset="0"/>
                <a:ea typeface="Geologica" pitchFamily="34" charset="-122"/>
                <a:cs typeface="Geologica" pitchFamily="34" charset="-120"/>
              </a:rPr>
              <a:t>21.6 Cr</a:t>
            </a:r>
            <a:endParaRPr lang="en-US" sz="2900" dirty="0"/>
          </a:p>
        </p:txBody>
      </p:sp>
      <p:sp>
        <p:nvSpPr>
          <p:cNvPr id="6" name="Text 4"/>
          <p:cNvSpPr/>
          <p:nvPr/>
        </p:nvSpPr>
        <p:spPr>
          <a:xfrm>
            <a:off x="1058333" y="2884686"/>
            <a:ext cx="2991189" cy="1054100"/>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34155"/>
                </a:solidFill>
                <a:latin typeface="DM Sans" pitchFamily="34" charset="0"/>
                <a:ea typeface="DM Sans" pitchFamily="34" charset="-122"/>
                <a:cs typeface="DM Sans" pitchFamily="34" charset="-120"/>
              </a:rPr>
              <a:t>demat accounts have been opened in India. Most are held by people with no professional view on what is inside them.</a:t>
            </a:r>
            <a:endParaRPr lang="en-US" sz="1350" dirty="0"/>
          </a:p>
        </p:txBody>
      </p:sp>
      <p:sp>
        <p:nvSpPr>
          <p:cNvPr id="7" name="Text 5"/>
          <p:cNvSpPr/>
          <p:nvPr/>
        </p:nvSpPr>
        <p:spPr>
          <a:xfrm>
            <a:off x="1058333" y="4296900"/>
            <a:ext cx="2991189"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A93A5"/>
                </a:solidFill>
                <a:latin typeface="DM Sans" pitchFamily="34" charset="0"/>
                <a:ea typeface="DM Sans" pitchFamily="34" charset="-122"/>
                <a:cs typeface="DM Sans" pitchFamily="34" charset="-120"/>
              </a:rPr>
              <a:t>SEBI Depository Statistics, Dec 2025</a:t>
            </a:r>
            <a:endParaRPr lang="en-US" sz="1200" dirty="0"/>
          </a:p>
        </p:txBody>
      </p:sp>
      <p:sp>
        <p:nvSpPr>
          <p:cNvPr id="8" name="Shape 6"/>
          <p:cNvSpPr/>
          <p:nvPr/>
        </p:nvSpPr>
        <p:spPr>
          <a:xfrm>
            <a:off x="4401608" y="2163035"/>
            <a:ext cx="3388783" cy="2581937"/>
          </a:xfrm>
          <a:prstGeom prst="roundRect">
            <a:avLst>
              <a:gd name="adj" fmla="val 3812"/>
            </a:avLst>
          </a:prstGeom>
          <a:solidFill>
            <a:srgbClr val="FFFFFF"/>
          </a:solidFill>
          <a:ln w="6350">
            <a:solidFill>
              <a:srgbClr val="DCE3F0"/>
            </a:solidFill>
            <a:prstDash val="solid"/>
          </a:ln>
        </p:spPr>
      </p:sp>
      <p:sp>
        <p:nvSpPr>
          <p:cNvPr id="9" name="Text 7"/>
          <p:cNvSpPr/>
          <p:nvPr/>
        </p:nvSpPr>
        <p:spPr>
          <a:xfrm>
            <a:off x="4643967" y="2405393"/>
            <a:ext cx="2991189" cy="415793"/>
          </a:xfrm>
          <a:prstGeom prst="rect">
            <a:avLst/>
          </a:prstGeom>
          <a:noFill/>
          <a:ln/>
        </p:spPr>
        <p:txBody>
          <a:bodyPr wrap="square" lIns="0" tIns="0" rIns="0" bIns="0" rtlCol="0" anchor="t">
            <a:normAutofit/>
          </a:bodyPr>
          <a:lstStyle/>
          <a:p>
            <a:pPr algn="l" indent="0" marL="0">
              <a:lnSpc>
                <a:spcPts val="3074"/>
              </a:lnSpc>
              <a:buNone/>
            </a:pPr>
            <a:r>
              <a:rPr lang="en-US" sz="2900" b="1" dirty="0">
                <a:solidFill>
                  <a:srgbClr val="2F5FE0"/>
                </a:solidFill>
                <a:latin typeface="Geologica" pitchFamily="34" charset="0"/>
                <a:ea typeface="Geologica" pitchFamily="34" charset="-122"/>
                <a:cs typeface="Geologica" pitchFamily="34" charset="-120"/>
              </a:rPr>
              <a:t>9 in 10</a:t>
            </a:r>
            <a:endParaRPr lang="en-US" sz="2900" dirty="0"/>
          </a:p>
        </p:txBody>
      </p:sp>
      <p:sp>
        <p:nvSpPr>
          <p:cNvPr id="10" name="Text 8"/>
          <p:cNvSpPr/>
          <p:nvPr/>
        </p:nvSpPr>
        <p:spPr>
          <a:xfrm>
            <a:off x="4643967" y="2884686"/>
            <a:ext cx="2991189" cy="1054100"/>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34155"/>
                </a:solidFill>
                <a:latin typeface="DM Sans" pitchFamily="34" charset="0"/>
                <a:ea typeface="DM Sans" pitchFamily="34" charset="-122"/>
                <a:cs typeface="DM Sans" pitchFamily="34" charset="-120"/>
              </a:rPr>
              <a:t>individual F&amp;O traders lost money in FY25 — ₹1.06 lakh crore between them. Portfolios fail silently, for years.</a:t>
            </a:r>
            <a:endParaRPr lang="en-US" sz="1350" dirty="0"/>
          </a:p>
        </p:txBody>
      </p:sp>
      <p:sp>
        <p:nvSpPr>
          <p:cNvPr id="11" name="Text 9"/>
          <p:cNvSpPr/>
          <p:nvPr/>
        </p:nvSpPr>
        <p:spPr>
          <a:xfrm>
            <a:off x="4643967" y="4091186"/>
            <a:ext cx="299118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A93A5"/>
                </a:solidFill>
                <a:latin typeface="DM Sans" pitchFamily="34" charset="0"/>
                <a:ea typeface="DM Sans" pitchFamily="34" charset="-122"/>
                <a:cs typeface="DM Sans" pitchFamily="34" charset="-120"/>
              </a:rPr>
              <a:t>SEBI, Profit &amp; Loss of Individual Traders in Equity F&amp;O, Jul 2025</a:t>
            </a:r>
            <a:endParaRPr lang="en-US" sz="1200" dirty="0"/>
          </a:p>
        </p:txBody>
      </p:sp>
      <p:sp>
        <p:nvSpPr>
          <p:cNvPr id="12" name="Shape 10"/>
          <p:cNvSpPr/>
          <p:nvPr/>
        </p:nvSpPr>
        <p:spPr>
          <a:xfrm>
            <a:off x="7987242" y="2163035"/>
            <a:ext cx="3388783" cy="2581937"/>
          </a:xfrm>
          <a:prstGeom prst="roundRect">
            <a:avLst>
              <a:gd name="adj" fmla="val 3812"/>
            </a:avLst>
          </a:prstGeom>
          <a:solidFill>
            <a:srgbClr val="FFFFFF"/>
          </a:solidFill>
          <a:ln w="6350">
            <a:solidFill>
              <a:srgbClr val="DCE3F0"/>
            </a:solidFill>
            <a:prstDash val="solid"/>
          </a:ln>
        </p:spPr>
      </p:sp>
      <p:sp>
        <p:nvSpPr>
          <p:cNvPr id="13" name="Text 11"/>
          <p:cNvSpPr/>
          <p:nvPr/>
        </p:nvSpPr>
        <p:spPr>
          <a:xfrm>
            <a:off x="8229600" y="2405393"/>
            <a:ext cx="2991189" cy="415793"/>
          </a:xfrm>
          <a:prstGeom prst="rect">
            <a:avLst/>
          </a:prstGeom>
          <a:noFill/>
          <a:ln/>
        </p:spPr>
        <p:txBody>
          <a:bodyPr wrap="square" lIns="0" tIns="0" rIns="0" bIns="0" rtlCol="0" anchor="t">
            <a:normAutofit/>
          </a:bodyPr>
          <a:lstStyle/>
          <a:p>
            <a:pPr algn="l" indent="0" marL="0">
              <a:lnSpc>
                <a:spcPts val="3074"/>
              </a:lnSpc>
              <a:buNone/>
            </a:pPr>
            <a:r>
              <a:rPr lang="en-US" sz="2900" b="1" dirty="0">
                <a:solidFill>
                  <a:srgbClr val="2F5FE0"/>
                </a:solidFill>
                <a:latin typeface="Geologica" pitchFamily="34" charset="0"/>
                <a:ea typeface="Geologica" pitchFamily="34" charset="-122"/>
                <a:cs typeface="Geologica" pitchFamily="34" charset="-120"/>
              </a:rPr>
              <a:t>&lt; 1,000</a:t>
            </a:r>
            <a:endParaRPr lang="en-US" sz="2900" dirty="0"/>
          </a:p>
        </p:txBody>
      </p:sp>
      <p:sp>
        <p:nvSpPr>
          <p:cNvPr id="14" name="Text 12"/>
          <p:cNvSpPr/>
          <p:nvPr/>
        </p:nvSpPr>
        <p:spPr>
          <a:xfrm>
            <a:off x="8229600" y="2884686"/>
            <a:ext cx="2991189" cy="1054100"/>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34155"/>
                </a:solidFill>
                <a:latin typeface="DM Sans" pitchFamily="34" charset="0"/>
                <a:ea typeface="DM Sans" pitchFamily="34" charset="-122"/>
                <a:cs typeface="DM Sans" pitchFamily="34" charset="-120"/>
              </a:rPr>
              <a:t>SEBI-registered investment advisers serve 20+ crore investors — roughly one regulated adviser per two million people.</a:t>
            </a:r>
            <a:endParaRPr lang="en-US" sz="1350" dirty="0"/>
          </a:p>
        </p:txBody>
      </p:sp>
      <p:sp>
        <p:nvSpPr>
          <p:cNvPr id="15" name="Text 13"/>
          <p:cNvSpPr/>
          <p:nvPr/>
        </p:nvSpPr>
        <p:spPr>
          <a:xfrm>
            <a:off x="8229600" y="4091186"/>
            <a:ext cx="299118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A93A5"/>
                </a:solidFill>
                <a:latin typeface="DM Sans" pitchFamily="34" charset="0"/>
                <a:ea typeface="DM Sans" pitchFamily="34" charset="-122"/>
                <a:cs typeface="DM Sans" pitchFamily="34" charset="-120"/>
              </a:rPr>
              <a:t>The Ken, SEBI-registered advisors are an endangered species, 2025</a:t>
            </a:r>
            <a:endParaRPr lang="en-US" sz="1200" dirty="0"/>
          </a:p>
        </p:txBody>
      </p:sp>
      <p:sp>
        <p:nvSpPr>
          <p:cNvPr id="16" name="Text 14"/>
          <p:cNvSpPr/>
          <p:nvPr/>
        </p:nvSpPr>
        <p:spPr>
          <a:xfrm>
            <a:off x="812800" y="4938647"/>
            <a:ext cx="10203180" cy="559329"/>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4A5568"/>
                </a:solidFill>
                <a:latin typeface="DM Sans" pitchFamily="34" charset="0"/>
                <a:ea typeface="DM Sans" pitchFamily="34" charset="-122"/>
                <a:cs typeface="DM Sans" pitchFamily="34" charset="-120"/>
              </a:rPr>
              <a:t>Money is flowing in faster than advice can reach it. The gap is not capital — it is the absence of an honest, affordable second opinion.</a:t>
            </a:r>
            <a:endParaRPr lang="en-US" sz="1450" dirty="0"/>
          </a:p>
        </p:txBody>
      </p:sp>
      <p:pic>
        <p:nvPicPr>
          <p:cNvPr id="17" name="Image 0" descr="Nxance">    </p:cNvPr>
          <p:cNvPicPr>
            <a:picLocks noChangeAspect="1"/>
          </p:cNvPicPr>
          <p:nvPr/>
        </p:nvPicPr>
        <p:blipFill>
          <a:blip r:embed="rId1"/>
          <a:srcRect l="0" r="0" t="-227" b="-227"/>
          <a:stretch/>
        </p:blipFill>
        <p:spPr>
          <a:xfrm>
            <a:off x="812800" y="6267450"/>
            <a:ext cx="698500" cy="215900"/>
          </a:xfrm>
          <a:prstGeom prst="rect">
            <a:avLst/>
          </a:prstGeom>
        </p:spPr>
      </p:pic>
      <p:sp>
        <p:nvSpPr>
          <p:cNvPr id="18" name="Text 15"/>
          <p:cNvSpPr/>
          <p:nvPr/>
        </p:nvSpPr>
        <p:spPr>
          <a:xfrm>
            <a:off x="1638300" y="62382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5"/>
                </a:solidFill>
                <a:latin typeface="DM Sans" pitchFamily="34" charset="0"/>
                <a:ea typeface="DM Sans" pitchFamily="34" charset="-122"/>
                <a:cs typeface="DM Sans" pitchFamily="34" charset="-120"/>
              </a:rPr>
              <a:t>Ohshn Intelligence LLP</a:t>
            </a:r>
            <a:endParaRPr lang="en-US" sz="1200" dirty="0"/>
          </a:p>
        </p:txBody>
      </p:sp>
      <p:sp>
        <p:nvSpPr>
          <p:cNvPr id="19" name="Text 16"/>
          <p:cNvSpPr/>
          <p:nvPr/>
        </p:nvSpPr>
        <p:spPr>
          <a:xfrm>
            <a:off x="10439400" y="623828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3A5"/>
                </a:solidFill>
                <a:latin typeface="DM Sans" pitchFamily="34" charset="0"/>
                <a:ea typeface="DM Sans" pitchFamily="34" charset="-122"/>
                <a:cs typeface="DM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A8FF"/>
                </a:solidFill>
                <a:latin typeface="Lexend" pitchFamily="34" charset="0"/>
                <a:ea typeface="Lexend" pitchFamily="34" charset="-122"/>
                <a:cs typeface="Lexend" pitchFamily="34" charset="-120"/>
              </a:rPr>
              <a:t>WHY NOW</a:t>
            </a:r>
            <a:endParaRPr lang="en-US" sz="1200" dirty="0"/>
          </a:p>
        </p:txBody>
      </p:sp>
      <p:sp>
        <p:nvSpPr>
          <p:cNvPr id="3" name="Text 1"/>
          <p:cNvSpPr/>
          <p:nvPr/>
        </p:nvSpPr>
        <p:spPr>
          <a:xfrm>
            <a:off x="812800" y="1216620"/>
            <a:ext cx="10203180" cy="778140"/>
          </a:xfrm>
          <a:prstGeom prst="rect">
            <a:avLst/>
          </a:prstGeom>
          <a:noFill/>
          <a:ln/>
        </p:spPr>
        <p:txBody>
          <a:bodyPr wrap="square" lIns="0" tIns="0" rIns="0" bIns="0" rtlCol="0" anchor="t">
            <a:normAutofit/>
          </a:bodyPr>
          <a:lstStyle/>
          <a:p>
            <a:pPr algn="l" indent="0" marL="0">
              <a:lnSpc>
                <a:spcPts val="2964"/>
              </a:lnSpc>
              <a:buNone/>
            </a:pPr>
            <a:r>
              <a:rPr lang="en-US" sz="2600" b="1" dirty="0">
                <a:solidFill>
                  <a:srgbClr val="FFFFFF"/>
                </a:solidFill>
                <a:latin typeface="Geologica" pitchFamily="34" charset="0"/>
                <a:ea typeface="Geologica" pitchFamily="34" charset="-122"/>
                <a:cs typeface="Geologica" pitchFamily="34" charset="-120"/>
              </a:rPr>
              <a:t>Payments and lending were rebuilt. Wealth intelligence was not.</a:t>
            </a:r>
            <a:endParaRPr lang="en-US" sz="2600" dirty="0"/>
          </a:p>
        </p:txBody>
      </p:sp>
      <p:sp>
        <p:nvSpPr>
          <p:cNvPr id="4" name="Text 2"/>
          <p:cNvSpPr/>
          <p:nvPr/>
        </p:nvSpPr>
        <p:spPr>
          <a:xfrm>
            <a:off x="812800" y="2159860"/>
            <a:ext cx="9679940" cy="559329"/>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B9C4DA"/>
                </a:solidFill>
                <a:latin typeface="DM Sans" pitchFamily="34" charset="0"/>
                <a:ea typeface="DM Sans" pitchFamily="34" charset="-122"/>
                <a:cs typeface="DM Sans" pitchFamily="34" charset="-120"/>
              </a:rPr>
              <a:t>Savings are moving into markets at record speed, and the tools that explain those markets have not moved with them. Language models make explainable, one-to-one analysis affordable for the first time.</a:t>
            </a:r>
            <a:endParaRPr lang="en-US" sz="1450" dirty="0"/>
          </a:p>
        </p:txBody>
      </p:sp>
      <p:sp>
        <p:nvSpPr>
          <p:cNvPr id="5" name="Shape 3"/>
          <p:cNvSpPr/>
          <p:nvPr/>
        </p:nvSpPr>
        <p:spPr>
          <a:xfrm>
            <a:off x="815975" y="2887464"/>
            <a:ext cx="3388783" cy="1923256"/>
          </a:xfrm>
          <a:prstGeom prst="roundRect">
            <a:avLst>
              <a:gd name="adj" fmla="val 5118"/>
            </a:avLst>
          </a:prstGeom>
          <a:solidFill>
            <a:srgbClr val="16233F"/>
          </a:solidFill>
          <a:ln w="6350">
            <a:solidFill>
              <a:srgbClr val="2C3C5E"/>
            </a:solidFill>
            <a:prstDash val="solid"/>
          </a:ln>
        </p:spPr>
      </p:sp>
      <p:sp>
        <p:nvSpPr>
          <p:cNvPr id="6" name="Text 4"/>
          <p:cNvSpPr/>
          <p:nvPr/>
        </p:nvSpPr>
        <p:spPr>
          <a:xfrm>
            <a:off x="1045633" y="3117123"/>
            <a:ext cx="3017351" cy="334963"/>
          </a:xfrm>
          <a:prstGeom prst="rect">
            <a:avLst/>
          </a:prstGeom>
          <a:noFill/>
          <a:ln/>
        </p:spPr>
        <p:txBody>
          <a:bodyPr wrap="square" lIns="0" tIns="0" rIns="0" bIns="0" rtlCol="0" anchor="t">
            <a:normAutofit/>
          </a:bodyPr>
          <a:lstStyle/>
          <a:p>
            <a:pPr algn="l" indent="0" marL="0">
              <a:lnSpc>
                <a:spcPts val="2438"/>
              </a:lnSpc>
              <a:buNone/>
            </a:pPr>
            <a:r>
              <a:rPr lang="en-US" sz="2300" b="1" dirty="0">
                <a:solidFill>
                  <a:srgbClr val="7FA8FF"/>
                </a:solidFill>
                <a:latin typeface="Geologica" pitchFamily="34" charset="0"/>
                <a:ea typeface="Geologica" pitchFamily="34" charset="-122"/>
                <a:cs typeface="Geologica" pitchFamily="34" charset="-120"/>
              </a:rPr>
              <a:t>$112B → $550B</a:t>
            </a:r>
            <a:endParaRPr lang="en-US" sz="2300" dirty="0"/>
          </a:p>
        </p:txBody>
      </p:sp>
      <p:sp>
        <p:nvSpPr>
          <p:cNvPr id="7" name="Text 5"/>
          <p:cNvSpPr/>
          <p:nvPr/>
        </p:nvSpPr>
        <p:spPr>
          <a:xfrm>
            <a:off x="1045633" y="3502885"/>
            <a:ext cx="3017351"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D6DEEC"/>
                </a:solidFill>
                <a:latin typeface="DM Sans" pitchFamily="34" charset="0"/>
                <a:ea typeface="DM Sans" pitchFamily="34" charset="-122"/>
                <a:cs typeface="DM Sans" pitchFamily="34" charset="-120"/>
              </a:rPr>
              <a:t>India's fintech market, 2024 to 2030</a:t>
            </a:r>
            <a:endParaRPr lang="en-US" sz="1350" dirty="0"/>
          </a:p>
        </p:txBody>
      </p:sp>
      <p:sp>
        <p:nvSpPr>
          <p:cNvPr id="8" name="Text 6"/>
          <p:cNvSpPr/>
          <p:nvPr/>
        </p:nvSpPr>
        <p:spPr>
          <a:xfrm>
            <a:off x="1045633" y="4169635"/>
            <a:ext cx="301735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092B0"/>
                </a:solidFill>
                <a:latin typeface="DM Sans" pitchFamily="34" charset="0"/>
                <a:ea typeface="DM Sans" pitchFamily="34" charset="-122"/>
                <a:cs typeface="DM Sans" pitchFamily="34" charset="-120"/>
              </a:rPr>
              <a:t>TechSci Research, India FinTech Market Report</a:t>
            </a:r>
            <a:endParaRPr lang="en-US" sz="1200" dirty="0"/>
          </a:p>
        </p:txBody>
      </p:sp>
      <p:sp>
        <p:nvSpPr>
          <p:cNvPr id="9" name="Shape 7"/>
          <p:cNvSpPr/>
          <p:nvPr/>
        </p:nvSpPr>
        <p:spPr>
          <a:xfrm>
            <a:off x="4401608" y="2887464"/>
            <a:ext cx="3388783" cy="1923256"/>
          </a:xfrm>
          <a:prstGeom prst="roundRect">
            <a:avLst>
              <a:gd name="adj" fmla="val 5118"/>
            </a:avLst>
          </a:prstGeom>
          <a:solidFill>
            <a:srgbClr val="16233F"/>
          </a:solidFill>
          <a:ln w="6350">
            <a:solidFill>
              <a:srgbClr val="2C3C5E"/>
            </a:solidFill>
            <a:prstDash val="solid"/>
          </a:ln>
        </p:spPr>
      </p:sp>
      <p:sp>
        <p:nvSpPr>
          <p:cNvPr id="10" name="Text 8"/>
          <p:cNvSpPr/>
          <p:nvPr/>
        </p:nvSpPr>
        <p:spPr>
          <a:xfrm>
            <a:off x="4631267" y="3117123"/>
            <a:ext cx="3017351" cy="334963"/>
          </a:xfrm>
          <a:prstGeom prst="rect">
            <a:avLst/>
          </a:prstGeom>
          <a:noFill/>
          <a:ln/>
        </p:spPr>
        <p:txBody>
          <a:bodyPr wrap="square" lIns="0" tIns="0" rIns="0" bIns="0" rtlCol="0" anchor="t">
            <a:normAutofit/>
          </a:bodyPr>
          <a:lstStyle/>
          <a:p>
            <a:pPr algn="l" indent="0" marL="0">
              <a:lnSpc>
                <a:spcPts val="2438"/>
              </a:lnSpc>
              <a:buNone/>
            </a:pPr>
            <a:r>
              <a:rPr lang="en-US" sz="2300" b="1" dirty="0">
                <a:solidFill>
                  <a:srgbClr val="7FA8FF"/>
                </a:solidFill>
                <a:latin typeface="Geologica" pitchFamily="34" charset="0"/>
                <a:ea typeface="Geologica" pitchFamily="34" charset="-122"/>
                <a:cs typeface="Geologica" pitchFamily="34" charset="-120"/>
              </a:rPr>
              <a:t>~1 lakh a day</a:t>
            </a:r>
            <a:endParaRPr lang="en-US" sz="2300" dirty="0"/>
          </a:p>
        </p:txBody>
      </p:sp>
      <p:sp>
        <p:nvSpPr>
          <p:cNvPr id="11" name="Text 9"/>
          <p:cNvSpPr/>
          <p:nvPr/>
        </p:nvSpPr>
        <p:spPr>
          <a:xfrm>
            <a:off x="4631267" y="3502885"/>
            <a:ext cx="3017351" cy="539750"/>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D6DEEC"/>
                </a:solidFill>
                <a:latin typeface="DM Sans" pitchFamily="34" charset="0"/>
                <a:ea typeface="DM Sans" pitchFamily="34" charset="-122"/>
                <a:cs typeface="DM Sans" pitchFamily="34" charset="-120"/>
              </a:rPr>
              <a:t>new demat accounts opened, on a base of 21.6 crore</a:t>
            </a:r>
            <a:endParaRPr lang="en-US" sz="1350" dirty="0"/>
          </a:p>
        </p:txBody>
      </p:sp>
      <p:sp>
        <p:nvSpPr>
          <p:cNvPr id="12" name="Text 10"/>
          <p:cNvSpPr/>
          <p:nvPr/>
        </p:nvSpPr>
        <p:spPr>
          <a:xfrm>
            <a:off x="4631267" y="4375348"/>
            <a:ext cx="3017351"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092B0"/>
                </a:solidFill>
                <a:latin typeface="DM Sans" pitchFamily="34" charset="0"/>
                <a:ea typeface="DM Sans" pitchFamily="34" charset="-122"/>
                <a:cs typeface="DM Sans" pitchFamily="34" charset="-120"/>
              </a:rPr>
              <a:t>SEBI Chairperson, IITF remarks, Nov 2025</a:t>
            </a:r>
            <a:endParaRPr lang="en-US" sz="1200" dirty="0"/>
          </a:p>
        </p:txBody>
      </p:sp>
      <p:sp>
        <p:nvSpPr>
          <p:cNvPr id="13" name="Shape 11"/>
          <p:cNvSpPr/>
          <p:nvPr/>
        </p:nvSpPr>
        <p:spPr>
          <a:xfrm>
            <a:off x="7987242" y="2887464"/>
            <a:ext cx="3388783" cy="1923256"/>
          </a:xfrm>
          <a:prstGeom prst="roundRect">
            <a:avLst>
              <a:gd name="adj" fmla="val 5118"/>
            </a:avLst>
          </a:prstGeom>
          <a:solidFill>
            <a:srgbClr val="16233F"/>
          </a:solidFill>
          <a:ln w="6350">
            <a:solidFill>
              <a:srgbClr val="2C3C5E"/>
            </a:solidFill>
            <a:prstDash val="solid"/>
          </a:ln>
        </p:spPr>
      </p:sp>
      <p:sp>
        <p:nvSpPr>
          <p:cNvPr id="14" name="Text 12"/>
          <p:cNvSpPr/>
          <p:nvPr/>
        </p:nvSpPr>
        <p:spPr>
          <a:xfrm>
            <a:off x="8216900" y="3117123"/>
            <a:ext cx="3017351" cy="334963"/>
          </a:xfrm>
          <a:prstGeom prst="rect">
            <a:avLst/>
          </a:prstGeom>
          <a:noFill/>
          <a:ln/>
        </p:spPr>
        <p:txBody>
          <a:bodyPr wrap="square" lIns="0" tIns="0" rIns="0" bIns="0" rtlCol="0" anchor="t">
            <a:normAutofit/>
          </a:bodyPr>
          <a:lstStyle/>
          <a:p>
            <a:pPr algn="l" indent="0" marL="0">
              <a:lnSpc>
                <a:spcPts val="2438"/>
              </a:lnSpc>
              <a:buNone/>
            </a:pPr>
            <a:r>
              <a:rPr lang="en-US" sz="2300" b="1" dirty="0">
                <a:solidFill>
                  <a:srgbClr val="7FA8FF"/>
                </a:solidFill>
                <a:latin typeface="Geologica" pitchFamily="34" charset="0"/>
                <a:ea typeface="Geologica" pitchFamily="34" charset="-122"/>
                <a:cs typeface="Geologica" pitchFamily="34" charset="-120"/>
              </a:rPr>
              <a:t>₹32,087 Cr</a:t>
            </a:r>
            <a:endParaRPr lang="en-US" sz="2300" dirty="0"/>
          </a:p>
        </p:txBody>
      </p:sp>
      <p:sp>
        <p:nvSpPr>
          <p:cNvPr id="15" name="Text 13"/>
          <p:cNvSpPr/>
          <p:nvPr/>
        </p:nvSpPr>
        <p:spPr>
          <a:xfrm>
            <a:off x="8216900" y="3502885"/>
            <a:ext cx="3017351" cy="539750"/>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D6DEEC"/>
                </a:solidFill>
                <a:latin typeface="DM Sans" pitchFamily="34" charset="0"/>
                <a:ea typeface="DM Sans" pitchFamily="34" charset="-122"/>
                <a:cs typeface="DM Sans" pitchFamily="34" charset="-120"/>
              </a:rPr>
              <a:t>monthly SIP inflows, up from ₹3,100 Cr in 2016</a:t>
            </a:r>
            <a:endParaRPr lang="en-US" sz="1350" dirty="0"/>
          </a:p>
        </p:txBody>
      </p:sp>
      <p:sp>
        <p:nvSpPr>
          <p:cNvPr id="16" name="Text 14"/>
          <p:cNvSpPr/>
          <p:nvPr/>
        </p:nvSpPr>
        <p:spPr>
          <a:xfrm>
            <a:off x="8216900" y="4169635"/>
            <a:ext cx="301735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092B0"/>
                </a:solidFill>
                <a:latin typeface="DM Sans" pitchFamily="34" charset="0"/>
                <a:ea typeface="DM Sans" pitchFamily="34" charset="-122"/>
                <a:cs typeface="DM Sans" pitchFamily="34" charset="-120"/>
              </a:rPr>
              <a:t>AMFI, monthly SIP contribution, record high March 2026</a:t>
            </a:r>
            <a:endParaRPr lang="en-US" sz="1200" dirty="0"/>
          </a:p>
        </p:txBody>
      </p:sp>
      <p:pic>
        <p:nvPicPr>
          <p:cNvPr id="17" name="Image 0" descr="Nxance">    </p:cNvPr>
          <p:cNvPicPr>
            <a:picLocks noChangeAspect="1"/>
          </p:cNvPicPr>
          <p:nvPr/>
        </p:nvPicPr>
        <p:blipFill>
          <a:blip r:embed="rId1"/>
          <a:srcRect l="0" r="0" t="-227" b="-227"/>
          <a:stretch/>
        </p:blipFill>
        <p:spPr>
          <a:xfrm>
            <a:off x="812800" y="6267450"/>
            <a:ext cx="698500" cy="215900"/>
          </a:xfrm>
          <a:prstGeom prst="rect">
            <a:avLst/>
          </a:prstGeom>
        </p:spPr>
      </p:pic>
      <p:sp>
        <p:nvSpPr>
          <p:cNvPr id="18" name="Text 15"/>
          <p:cNvSpPr/>
          <p:nvPr/>
        </p:nvSpPr>
        <p:spPr>
          <a:xfrm>
            <a:off x="1638300" y="62382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7D99"/>
                </a:solidFill>
                <a:latin typeface="DM Sans" pitchFamily="34" charset="0"/>
                <a:ea typeface="DM Sans" pitchFamily="34" charset="-122"/>
                <a:cs typeface="DM Sans" pitchFamily="34" charset="-120"/>
              </a:rPr>
              <a:t>Ohshn Intelligence LLP</a:t>
            </a:r>
            <a:endParaRPr lang="en-US" sz="1200" dirty="0"/>
          </a:p>
        </p:txBody>
      </p:sp>
      <p:sp>
        <p:nvSpPr>
          <p:cNvPr id="19" name="Text 16"/>
          <p:cNvSpPr/>
          <p:nvPr/>
        </p:nvSpPr>
        <p:spPr>
          <a:xfrm>
            <a:off x="10439400" y="623828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7D99"/>
                </a:solidFill>
                <a:latin typeface="DM Sans" pitchFamily="34" charset="0"/>
                <a:ea typeface="DM Sans" pitchFamily="34" charset="-122"/>
                <a:cs typeface="DM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FE0"/>
                </a:solidFill>
                <a:latin typeface="Lexend" pitchFamily="34" charset="0"/>
                <a:ea typeface="Lexend" pitchFamily="34" charset="-122"/>
                <a:cs typeface="Lexend" pitchFamily="34" charset="-120"/>
              </a:rPr>
              <a:t>THE SOLUTION</a:t>
            </a:r>
            <a:endParaRPr lang="en-US" sz="1200" dirty="0"/>
          </a:p>
        </p:txBody>
      </p:sp>
      <p:sp>
        <p:nvSpPr>
          <p:cNvPr id="3" name="Text 1"/>
          <p:cNvSpPr/>
          <p:nvPr/>
        </p:nvSpPr>
        <p:spPr>
          <a:xfrm>
            <a:off x="812800" y="1203920"/>
            <a:ext cx="10203180" cy="401770"/>
          </a:xfrm>
          <a:prstGeom prst="rect">
            <a:avLst/>
          </a:prstGeom>
          <a:noFill/>
          <a:ln/>
        </p:spPr>
        <p:txBody>
          <a:bodyPr wrap="square" lIns="0" tIns="0" rIns="0" bIns="0" rtlCol="0" anchor="t">
            <a:normAutofit/>
          </a:bodyPr>
          <a:lstStyle/>
          <a:p>
            <a:pPr algn="l" indent="0" marL="0">
              <a:lnSpc>
                <a:spcPts val="2964"/>
              </a:lnSpc>
              <a:buNone/>
            </a:pPr>
            <a:r>
              <a:rPr lang="en-US" sz="2600" b="1" dirty="0">
                <a:solidFill>
                  <a:srgbClr val="0F1B33"/>
                </a:solidFill>
                <a:latin typeface="Geologica" pitchFamily="34" charset="0"/>
                <a:ea typeface="Geologica" pitchFamily="34" charset="-122"/>
                <a:cs typeface="Geologica" pitchFamily="34" charset="-120"/>
              </a:rPr>
              <a:t>One app. Three engines.</a:t>
            </a:r>
            <a:endParaRPr lang="en-US" sz="2600" dirty="0"/>
          </a:p>
        </p:txBody>
      </p:sp>
      <p:sp>
        <p:nvSpPr>
          <p:cNvPr id="4" name="Text 2"/>
          <p:cNvSpPr/>
          <p:nvPr/>
        </p:nvSpPr>
        <p:spPr>
          <a:xfrm>
            <a:off x="812800" y="1758091"/>
            <a:ext cx="10203180" cy="559329"/>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4A5568"/>
                </a:solidFill>
                <a:latin typeface="DM Sans" pitchFamily="34" charset="0"/>
                <a:ea typeface="DM Sans" pitchFamily="34" charset="-122"/>
                <a:cs typeface="DM Sans" pitchFamily="34" charset="-120"/>
              </a:rPr>
              <a:t>Diagnose what you already own. Build what you should own instead. Have both explained to you in plain English or Hindi.</a:t>
            </a:r>
            <a:endParaRPr lang="en-US" sz="1450" dirty="0"/>
          </a:p>
        </p:txBody>
      </p:sp>
      <p:sp>
        <p:nvSpPr>
          <p:cNvPr id="5" name="Shape 3"/>
          <p:cNvSpPr/>
          <p:nvPr/>
        </p:nvSpPr>
        <p:spPr>
          <a:xfrm>
            <a:off x="815975" y="2472995"/>
            <a:ext cx="3388783" cy="3336462"/>
          </a:xfrm>
          <a:prstGeom prst="roundRect">
            <a:avLst>
              <a:gd name="adj" fmla="val 2950"/>
            </a:avLst>
          </a:prstGeom>
          <a:solidFill>
            <a:srgbClr val="FFFFFF"/>
          </a:solidFill>
          <a:ln w="6350">
            <a:solidFill>
              <a:srgbClr val="DCE3F0"/>
            </a:solidFill>
            <a:prstDash val="solid"/>
          </a:ln>
        </p:spPr>
      </p:sp>
      <p:sp>
        <p:nvSpPr>
          <p:cNvPr id="6" name="Text 4"/>
          <p:cNvSpPr/>
          <p:nvPr/>
        </p:nvSpPr>
        <p:spPr>
          <a:xfrm>
            <a:off x="1058333" y="2715354"/>
            <a:ext cx="299118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FE0"/>
                </a:solidFill>
                <a:latin typeface="Lexend" pitchFamily="34" charset="0"/>
                <a:ea typeface="Lexend" pitchFamily="34" charset="-122"/>
                <a:cs typeface="Lexend" pitchFamily="34" charset="-120"/>
              </a:rPr>
              <a:t>01   DIAGNOSE</a:t>
            </a:r>
            <a:endParaRPr lang="en-US" sz="1200" dirty="0"/>
          </a:p>
        </p:txBody>
      </p:sp>
      <p:sp>
        <p:nvSpPr>
          <p:cNvPr id="7" name="Text 5"/>
          <p:cNvSpPr/>
          <p:nvPr/>
        </p:nvSpPr>
        <p:spPr>
          <a:xfrm>
            <a:off x="1058333" y="3030274"/>
            <a:ext cx="2991189" cy="327025"/>
          </a:xfrm>
          <a:prstGeom prst="rect">
            <a:avLst/>
          </a:prstGeom>
          <a:noFill/>
          <a:ln/>
        </p:spPr>
        <p:txBody>
          <a:bodyPr wrap="square" lIns="0" tIns="0" rIns="0" bIns="0" rtlCol="0" anchor="t">
            <a:normAutofit/>
          </a:bodyPr>
          <a:lstStyle/>
          <a:p>
            <a:pPr algn="l" indent="0" marL="0">
              <a:lnSpc>
                <a:spcPts val="2375"/>
              </a:lnSpc>
              <a:buNone/>
            </a:pPr>
            <a:r>
              <a:rPr lang="en-US" sz="1900" b="1" dirty="0">
                <a:solidFill>
                  <a:srgbClr val="0F1B33"/>
                </a:solidFill>
                <a:latin typeface="Lexend" pitchFamily="34" charset="0"/>
                <a:ea typeface="Lexend" pitchFamily="34" charset="-122"/>
                <a:cs typeface="Lexend" pitchFamily="34" charset="-120"/>
              </a:rPr>
              <a:t>Health Check</a:t>
            </a:r>
            <a:endParaRPr lang="en-US" sz="1900" dirty="0"/>
          </a:p>
        </p:txBody>
      </p:sp>
      <p:sp>
        <p:nvSpPr>
          <p:cNvPr id="8" name="Text 6"/>
          <p:cNvSpPr/>
          <p:nvPr/>
        </p:nvSpPr>
        <p:spPr>
          <a:xfrm>
            <a:off x="1058333" y="3433499"/>
            <a:ext cx="2991189" cy="15113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34155"/>
                </a:solidFill>
                <a:latin typeface="DM Sans" pitchFamily="34" charset="0"/>
                <a:ea typeface="DM Sans" pitchFamily="34" charset="-122"/>
                <a:cs typeface="DM Sans" pitchFamily="34" charset="-120"/>
              </a:rPr>
              <a:t>Connect or upload what you hold. Nxance scores it out of 100 and tells you what is wrong, in rupees: hidden costs, hidden overlap, risk you did not agree to, and whether you will reach your goal.</a:t>
            </a:r>
            <a:endParaRPr lang="en-US" sz="1300" dirty="0"/>
          </a:p>
        </p:txBody>
      </p:sp>
      <p:sp>
        <p:nvSpPr>
          <p:cNvPr id="9" name="Text 7"/>
          <p:cNvSpPr/>
          <p:nvPr/>
        </p:nvSpPr>
        <p:spPr>
          <a:xfrm>
            <a:off x="1058333" y="5122599"/>
            <a:ext cx="2991189"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2F5FE0"/>
                </a:solidFill>
                <a:latin typeface="Lexend" pitchFamily="34" charset="0"/>
                <a:ea typeface="Lexend" pitchFamily="34" charset="-122"/>
                <a:cs typeface="Lexend" pitchFamily="34" charset="-120"/>
              </a:rPr>
              <a:t>Free to run. ₹99 to unlock the report.</a:t>
            </a:r>
            <a:endParaRPr lang="en-US" sz="1250" dirty="0"/>
          </a:p>
        </p:txBody>
      </p:sp>
      <p:sp>
        <p:nvSpPr>
          <p:cNvPr id="10" name="Shape 8"/>
          <p:cNvSpPr/>
          <p:nvPr/>
        </p:nvSpPr>
        <p:spPr>
          <a:xfrm>
            <a:off x="4401608" y="2472995"/>
            <a:ext cx="3388783" cy="3336462"/>
          </a:xfrm>
          <a:prstGeom prst="roundRect">
            <a:avLst>
              <a:gd name="adj" fmla="val 2950"/>
            </a:avLst>
          </a:prstGeom>
          <a:solidFill>
            <a:srgbClr val="FFFFFF"/>
          </a:solidFill>
          <a:ln w="6350">
            <a:solidFill>
              <a:srgbClr val="DCE3F0"/>
            </a:solidFill>
            <a:prstDash val="solid"/>
          </a:ln>
        </p:spPr>
      </p:sp>
      <p:sp>
        <p:nvSpPr>
          <p:cNvPr id="11" name="Text 9"/>
          <p:cNvSpPr/>
          <p:nvPr/>
        </p:nvSpPr>
        <p:spPr>
          <a:xfrm>
            <a:off x="4643967" y="2715354"/>
            <a:ext cx="299118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FE0"/>
                </a:solidFill>
                <a:latin typeface="Lexend" pitchFamily="34" charset="0"/>
                <a:ea typeface="Lexend" pitchFamily="34" charset="-122"/>
                <a:cs typeface="Lexend" pitchFamily="34" charset="-120"/>
              </a:rPr>
              <a:t>02   REBUILD</a:t>
            </a:r>
            <a:endParaRPr lang="en-US" sz="1200" dirty="0"/>
          </a:p>
        </p:txBody>
      </p:sp>
      <p:sp>
        <p:nvSpPr>
          <p:cNvPr id="12" name="Text 10"/>
          <p:cNvSpPr/>
          <p:nvPr/>
        </p:nvSpPr>
        <p:spPr>
          <a:xfrm>
            <a:off x="4643967" y="3030274"/>
            <a:ext cx="2991189" cy="327025"/>
          </a:xfrm>
          <a:prstGeom prst="rect">
            <a:avLst/>
          </a:prstGeom>
          <a:noFill/>
          <a:ln/>
        </p:spPr>
        <p:txBody>
          <a:bodyPr wrap="square" lIns="0" tIns="0" rIns="0" bIns="0" rtlCol="0" anchor="t">
            <a:normAutofit/>
          </a:bodyPr>
          <a:lstStyle/>
          <a:p>
            <a:pPr algn="l" indent="0" marL="0">
              <a:lnSpc>
                <a:spcPts val="2375"/>
              </a:lnSpc>
              <a:buNone/>
            </a:pPr>
            <a:r>
              <a:rPr lang="en-US" sz="1900" b="1" dirty="0">
                <a:solidFill>
                  <a:srgbClr val="0F1B33"/>
                </a:solidFill>
                <a:latin typeface="Lexend" pitchFamily="34" charset="0"/>
                <a:ea typeface="Lexend" pitchFamily="34" charset="-122"/>
                <a:cs typeface="Lexend" pitchFamily="34" charset="-120"/>
              </a:rPr>
              <a:t>Construction</a:t>
            </a:r>
            <a:endParaRPr lang="en-US" sz="1900" dirty="0"/>
          </a:p>
        </p:txBody>
      </p:sp>
      <p:sp>
        <p:nvSpPr>
          <p:cNvPr id="13" name="Text 11"/>
          <p:cNvSpPr/>
          <p:nvPr/>
        </p:nvSpPr>
        <p:spPr>
          <a:xfrm>
            <a:off x="4643967" y="3433499"/>
            <a:ext cx="2991189" cy="15113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34155"/>
                </a:solidFill>
                <a:latin typeface="DM Sans" pitchFamily="34" charset="0"/>
                <a:ea typeface="DM Sans" pitchFamily="34" charset="-122"/>
                <a:cs typeface="DM Sans" pitchFamily="34" charset="-120"/>
              </a:rPr>
              <a:t>Give it your goal, your horizon and how much loss you can live with. It returns a specific portfolio, a monthly amount, and the reason behind every holding it chose — and every one it rejected.</a:t>
            </a:r>
            <a:endParaRPr lang="en-US" sz="1300" dirty="0"/>
          </a:p>
        </p:txBody>
      </p:sp>
      <p:sp>
        <p:nvSpPr>
          <p:cNvPr id="14" name="Text 12"/>
          <p:cNvSpPr/>
          <p:nvPr/>
        </p:nvSpPr>
        <p:spPr>
          <a:xfrm>
            <a:off x="4643967" y="5344849"/>
            <a:ext cx="2991189"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2F5FE0"/>
                </a:solidFill>
                <a:latin typeface="Lexend" pitchFamily="34" charset="0"/>
                <a:ea typeface="Lexend" pitchFamily="34" charset="-122"/>
                <a:cs typeface="Lexend" pitchFamily="34" charset="-120"/>
              </a:rPr>
              <a:t>Behind the subscription.</a:t>
            </a:r>
            <a:endParaRPr lang="en-US" sz="1250" dirty="0"/>
          </a:p>
        </p:txBody>
      </p:sp>
      <p:sp>
        <p:nvSpPr>
          <p:cNvPr id="15" name="Shape 13"/>
          <p:cNvSpPr/>
          <p:nvPr/>
        </p:nvSpPr>
        <p:spPr>
          <a:xfrm>
            <a:off x="7987242" y="2472995"/>
            <a:ext cx="3388783" cy="3336462"/>
          </a:xfrm>
          <a:prstGeom prst="roundRect">
            <a:avLst>
              <a:gd name="adj" fmla="val 2950"/>
            </a:avLst>
          </a:prstGeom>
          <a:solidFill>
            <a:srgbClr val="FFFFFF"/>
          </a:solidFill>
          <a:ln w="6350">
            <a:solidFill>
              <a:srgbClr val="DCE3F0"/>
            </a:solidFill>
            <a:prstDash val="solid"/>
          </a:ln>
        </p:spPr>
      </p:sp>
      <p:sp>
        <p:nvSpPr>
          <p:cNvPr id="16" name="Text 14"/>
          <p:cNvSpPr/>
          <p:nvPr/>
        </p:nvSpPr>
        <p:spPr>
          <a:xfrm>
            <a:off x="8229600" y="2715354"/>
            <a:ext cx="299118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FE0"/>
                </a:solidFill>
                <a:latin typeface="Lexend" pitchFamily="34" charset="0"/>
                <a:ea typeface="Lexend" pitchFamily="34" charset="-122"/>
                <a:cs typeface="Lexend" pitchFamily="34" charset="-120"/>
              </a:rPr>
              <a:t>03   EXPLAIN</a:t>
            </a:r>
            <a:endParaRPr lang="en-US" sz="1200" dirty="0"/>
          </a:p>
        </p:txBody>
      </p:sp>
      <p:sp>
        <p:nvSpPr>
          <p:cNvPr id="17" name="Text 15"/>
          <p:cNvSpPr/>
          <p:nvPr/>
        </p:nvSpPr>
        <p:spPr>
          <a:xfrm>
            <a:off x="8229600" y="3030274"/>
            <a:ext cx="2991189" cy="327025"/>
          </a:xfrm>
          <a:prstGeom prst="rect">
            <a:avLst/>
          </a:prstGeom>
          <a:noFill/>
          <a:ln/>
        </p:spPr>
        <p:txBody>
          <a:bodyPr wrap="square" lIns="0" tIns="0" rIns="0" bIns="0" rtlCol="0" anchor="t">
            <a:normAutofit/>
          </a:bodyPr>
          <a:lstStyle/>
          <a:p>
            <a:pPr algn="l" indent="0" marL="0">
              <a:lnSpc>
                <a:spcPts val="2375"/>
              </a:lnSpc>
              <a:buNone/>
            </a:pPr>
            <a:r>
              <a:rPr lang="en-US" sz="1900" b="1" dirty="0">
                <a:solidFill>
                  <a:srgbClr val="0F1B33"/>
                </a:solidFill>
                <a:latin typeface="Lexend" pitchFamily="34" charset="0"/>
                <a:ea typeface="Lexend" pitchFamily="34" charset="-122"/>
                <a:cs typeface="Lexend" pitchFamily="34" charset="-120"/>
              </a:rPr>
              <a:t>NxanceLM</a:t>
            </a:r>
            <a:endParaRPr lang="en-US" sz="1900" dirty="0"/>
          </a:p>
        </p:txBody>
      </p:sp>
      <p:sp>
        <p:nvSpPr>
          <p:cNvPr id="18" name="Text 16"/>
          <p:cNvSpPr/>
          <p:nvPr/>
        </p:nvSpPr>
        <p:spPr>
          <a:xfrm>
            <a:off x="8229600" y="3433499"/>
            <a:ext cx="2991189" cy="12636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34155"/>
                </a:solidFill>
                <a:latin typeface="DM Sans" pitchFamily="34" charset="0"/>
                <a:ea typeface="DM Sans" pitchFamily="34" charset="-122"/>
                <a:cs typeface="DM Sans" pitchFamily="34" charset="-120"/>
              </a:rPr>
              <a:t>The layer that turns the other two into sentences, plus a live market terminal you can question directly. It never invents a number — it can only explain ones the engines computed.</a:t>
            </a:r>
            <a:endParaRPr lang="en-US" sz="1300" dirty="0"/>
          </a:p>
        </p:txBody>
      </p:sp>
      <p:sp>
        <p:nvSpPr>
          <p:cNvPr id="19" name="Text 17"/>
          <p:cNvSpPr/>
          <p:nvPr/>
        </p:nvSpPr>
        <p:spPr>
          <a:xfrm>
            <a:off x="8229600" y="5344849"/>
            <a:ext cx="2991189"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2F5FE0"/>
                </a:solidFill>
                <a:latin typeface="Lexend" pitchFamily="34" charset="0"/>
                <a:ea typeface="Lexend" pitchFamily="34" charset="-122"/>
                <a:cs typeface="Lexend" pitchFamily="34" charset="-120"/>
              </a:rPr>
              <a:t>Every screen, English or Hindi.</a:t>
            </a:r>
            <a:endParaRPr lang="en-US" sz="1250" dirty="0"/>
          </a:p>
        </p:txBody>
      </p:sp>
      <p:pic>
        <p:nvPicPr>
          <p:cNvPr id="20" name="Image 0" descr="Nxance">    </p:cNvPr>
          <p:cNvPicPr>
            <a:picLocks noChangeAspect="1"/>
          </p:cNvPicPr>
          <p:nvPr/>
        </p:nvPicPr>
        <p:blipFill>
          <a:blip r:embed="rId1"/>
          <a:srcRect l="0" r="0" t="-227" b="-227"/>
          <a:stretch/>
        </p:blipFill>
        <p:spPr>
          <a:xfrm>
            <a:off x="812800" y="6267450"/>
            <a:ext cx="698500" cy="215900"/>
          </a:xfrm>
          <a:prstGeom prst="rect">
            <a:avLst/>
          </a:prstGeom>
        </p:spPr>
      </p:pic>
      <p:sp>
        <p:nvSpPr>
          <p:cNvPr id="21" name="Text 18"/>
          <p:cNvSpPr/>
          <p:nvPr/>
        </p:nvSpPr>
        <p:spPr>
          <a:xfrm>
            <a:off x="1638300" y="62382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5"/>
                </a:solidFill>
                <a:latin typeface="DM Sans" pitchFamily="34" charset="0"/>
                <a:ea typeface="DM Sans" pitchFamily="34" charset="-122"/>
                <a:cs typeface="DM Sans" pitchFamily="34" charset="-120"/>
              </a:rPr>
              <a:t>Ohshn Intelligence LLP</a:t>
            </a:r>
            <a:endParaRPr lang="en-US" sz="1200" dirty="0"/>
          </a:p>
        </p:txBody>
      </p:sp>
      <p:sp>
        <p:nvSpPr>
          <p:cNvPr id="22" name="Text 19"/>
          <p:cNvSpPr/>
          <p:nvPr/>
        </p:nvSpPr>
        <p:spPr>
          <a:xfrm>
            <a:off x="10439400" y="623828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3A5"/>
                </a:solidFill>
                <a:latin typeface="DM Sans" pitchFamily="34" charset="0"/>
                <a:ea typeface="DM Sans" pitchFamily="34" charset="-122"/>
                <a:cs typeface="DM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FE0"/>
                </a:solidFill>
                <a:latin typeface="Lexend" pitchFamily="34" charset="0"/>
                <a:ea typeface="Lexend" pitchFamily="34" charset="-122"/>
                <a:cs typeface="Lexend" pitchFamily="34" charset="-120"/>
              </a:rPr>
              <a:t>THE PRODUCT</a:t>
            </a:r>
            <a:endParaRPr lang="en-US" sz="1200" dirty="0"/>
          </a:p>
        </p:txBody>
      </p:sp>
      <p:sp>
        <p:nvSpPr>
          <p:cNvPr id="3" name="Text 1"/>
          <p:cNvSpPr/>
          <p:nvPr/>
        </p:nvSpPr>
        <p:spPr>
          <a:xfrm>
            <a:off x="812800" y="1191220"/>
            <a:ext cx="10203180" cy="401770"/>
          </a:xfrm>
          <a:prstGeom prst="rect">
            <a:avLst/>
          </a:prstGeom>
          <a:noFill/>
          <a:ln/>
        </p:spPr>
        <p:txBody>
          <a:bodyPr wrap="square" lIns="0" tIns="0" rIns="0" bIns="0" rtlCol="0" anchor="t">
            <a:normAutofit/>
          </a:bodyPr>
          <a:lstStyle/>
          <a:p>
            <a:pPr algn="l" indent="0" marL="0">
              <a:lnSpc>
                <a:spcPts val="2964"/>
              </a:lnSpc>
              <a:buNone/>
            </a:pPr>
            <a:r>
              <a:rPr lang="en-US" sz="2600" b="1" dirty="0">
                <a:solidFill>
                  <a:srgbClr val="0F1B33"/>
                </a:solidFill>
                <a:latin typeface="Geologica" pitchFamily="34" charset="0"/>
                <a:ea typeface="Geologica" pitchFamily="34" charset="-122"/>
                <a:cs typeface="Geologica" pitchFamily="34" charset="-120"/>
              </a:rPr>
              <a:t>Built and clickable today, across all three engines.</a:t>
            </a:r>
            <a:endParaRPr lang="en-US" sz="2600" dirty="0"/>
          </a:p>
        </p:txBody>
      </p:sp>
      <p:pic>
        <p:nvPicPr>
          <p:cNvPr id="4" name="Image 0" descr="Health Check upload screen with privacy notice and recent uploads">    </p:cNvPr>
          <p:cNvPicPr>
            <a:picLocks noChangeAspect="1"/>
          </p:cNvPicPr>
          <p:nvPr/>
        </p:nvPicPr>
        <p:blipFill>
          <a:blip r:embed="rId1"/>
          <a:srcRect l="-27017" r="-27017" t="0" b="0"/>
          <a:stretch/>
        </p:blipFill>
        <p:spPr>
          <a:xfrm>
            <a:off x="819150" y="1739041"/>
            <a:ext cx="5168900" cy="1435100"/>
          </a:xfrm>
          <a:prstGeom prst="rect">
            <a:avLst/>
          </a:prstGeom>
        </p:spPr>
      </p:pic>
      <p:sp>
        <p:nvSpPr>
          <p:cNvPr id="5" name="Shape 2"/>
          <p:cNvSpPr/>
          <p:nvPr/>
        </p:nvSpPr>
        <p:spPr>
          <a:xfrm>
            <a:off x="815975" y="1735866"/>
            <a:ext cx="5175250" cy="1441450"/>
          </a:xfrm>
          <a:prstGeom prst="rect">
            <a:avLst/>
          </a:prstGeom>
          <a:noFill/>
          <a:ln w="6350">
            <a:solidFill>
              <a:srgbClr val="DCE3F0"/>
            </a:solidFill>
            <a:prstDash val="solid"/>
          </a:ln>
        </p:spPr>
      </p:sp>
      <p:sp>
        <p:nvSpPr>
          <p:cNvPr id="6" name="Text 3"/>
          <p:cNvSpPr/>
          <p:nvPr/>
        </p:nvSpPr>
        <p:spPr>
          <a:xfrm>
            <a:off x="812800" y="3243991"/>
            <a:ext cx="5441696" cy="239713"/>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4A5568"/>
                </a:solidFill>
                <a:latin typeface="DM Sans" pitchFamily="34" charset="0"/>
                <a:ea typeface="DM Sans" pitchFamily="34" charset="-122"/>
                <a:cs typeface="DM Sans" pitchFamily="34" charset="-120"/>
              </a:rPr>
              <a:t>Health Check</a:t>
            </a:r>
            <a:r>
              <a:rPr lang="en-US" sz="1250" dirty="0">
                <a:solidFill>
                  <a:srgbClr val="4A5568"/>
                </a:solidFill>
                <a:latin typeface="DM Sans" pitchFamily="34" charset="0"/>
                <a:ea typeface="DM Sans" pitchFamily="34" charset="-122"/>
                <a:cs typeface="DM Sans" pitchFamily="34" charset="-120"/>
              </a:rPr>
              <a:t> — upload a statement, get a diagnosis</a:t>
            </a:r>
            <a:endParaRPr lang="en-US" sz="1250" dirty="0"/>
          </a:p>
        </p:txBody>
      </p:sp>
      <p:pic>
        <p:nvPicPr>
          <p:cNvPr id="7" name="Image 1" descr="Portfolio report showing strategic asset allocation and a recommended monthly SIP">    </p:cNvPr>
          <p:cNvPicPr>
            <a:picLocks noChangeAspect="1"/>
          </p:cNvPicPr>
          <p:nvPr/>
        </p:nvPicPr>
        <p:blipFill>
          <a:blip r:embed="rId2"/>
          <a:srcRect l="-13889" r="-13889" t="0" b="0"/>
          <a:stretch/>
        </p:blipFill>
        <p:spPr>
          <a:xfrm>
            <a:off x="6102350" y="1739041"/>
            <a:ext cx="5168900" cy="1435100"/>
          </a:xfrm>
          <a:prstGeom prst="rect">
            <a:avLst/>
          </a:prstGeom>
        </p:spPr>
      </p:pic>
      <p:sp>
        <p:nvSpPr>
          <p:cNvPr id="8" name="Shape 4"/>
          <p:cNvSpPr/>
          <p:nvPr/>
        </p:nvSpPr>
        <p:spPr>
          <a:xfrm>
            <a:off x="6099175" y="1735866"/>
            <a:ext cx="5175250" cy="1441450"/>
          </a:xfrm>
          <a:prstGeom prst="rect">
            <a:avLst/>
          </a:prstGeom>
          <a:noFill/>
          <a:ln w="6350">
            <a:solidFill>
              <a:srgbClr val="DCE3F0"/>
            </a:solidFill>
            <a:prstDash val="solid"/>
          </a:ln>
        </p:spPr>
      </p:sp>
      <p:sp>
        <p:nvSpPr>
          <p:cNvPr id="9" name="Text 5"/>
          <p:cNvSpPr/>
          <p:nvPr/>
        </p:nvSpPr>
        <p:spPr>
          <a:xfrm>
            <a:off x="6096000" y="3243991"/>
            <a:ext cx="5441696" cy="239713"/>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4A5568"/>
                </a:solidFill>
                <a:latin typeface="DM Sans" pitchFamily="34" charset="0"/>
                <a:ea typeface="DM Sans" pitchFamily="34" charset="-122"/>
                <a:cs typeface="DM Sans" pitchFamily="34" charset="-120"/>
              </a:rPr>
              <a:t>Construction</a:t>
            </a:r>
            <a:r>
              <a:rPr lang="en-US" sz="1250" dirty="0">
                <a:solidFill>
                  <a:srgbClr val="4A5568"/>
                </a:solidFill>
                <a:latin typeface="DM Sans" pitchFamily="34" charset="0"/>
                <a:ea typeface="DM Sans" pitchFamily="34" charset="-122"/>
                <a:cs typeface="DM Sans" pitchFamily="34" charset="-120"/>
              </a:rPr>
              <a:t> — an optimised plan, with the reasoning shown</a:t>
            </a:r>
            <a:endParaRPr lang="en-US" sz="1250" dirty="0"/>
          </a:p>
        </p:txBody>
      </p:sp>
      <p:pic>
        <p:nvPicPr>
          <p:cNvPr id="10" name="Image 2" descr="Dashboard showing net worth, allocation, recent activity and market watch">    </p:cNvPr>
          <p:cNvPicPr>
            <a:picLocks noChangeAspect="1"/>
          </p:cNvPicPr>
          <p:nvPr/>
        </p:nvPicPr>
        <p:blipFill>
          <a:blip r:embed="rId3"/>
          <a:srcRect l="-39252" r="-39252" t="0" b="0"/>
          <a:stretch/>
        </p:blipFill>
        <p:spPr>
          <a:xfrm>
            <a:off x="819150" y="3464654"/>
            <a:ext cx="5168900" cy="1435100"/>
          </a:xfrm>
          <a:prstGeom prst="rect">
            <a:avLst/>
          </a:prstGeom>
        </p:spPr>
      </p:pic>
      <p:sp>
        <p:nvSpPr>
          <p:cNvPr id="11" name="Shape 6"/>
          <p:cNvSpPr/>
          <p:nvPr/>
        </p:nvSpPr>
        <p:spPr>
          <a:xfrm>
            <a:off x="815975" y="3461479"/>
            <a:ext cx="5175250" cy="1441450"/>
          </a:xfrm>
          <a:prstGeom prst="rect">
            <a:avLst/>
          </a:prstGeom>
          <a:noFill/>
          <a:ln w="6350">
            <a:solidFill>
              <a:srgbClr val="DCE3F0"/>
            </a:solidFill>
            <a:prstDash val="solid"/>
          </a:ln>
        </p:spPr>
      </p:sp>
      <p:sp>
        <p:nvSpPr>
          <p:cNvPr id="12" name="Text 7"/>
          <p:cNvSpPr/>
          <p:nvPr/>
        </p:nvSpPr>
        <p:spPr>
          <a:xfrm>
            <a:off x="812800" y="4969604"/>
            <a:ext cx="5441696" cy="239713"/>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4A5568"/>
                </a:solidFill>
                <a:latin typeface="DM Sans" pitchFamily="34" charset="0"/>
                <a:ea typeface="DM Sans" pitchFamily="34" charset="-122"/>
                <a:cs typeface="DM Sans" pitchFamily="34" charset="-120"/>
              </a:rPr>
              <a:t>Dashboard</a:t>
            </a:r>
            <a:r>
              <a:rPr lang="en-US" sz="1250" dirty="0">
                <a:solidFill>
                  <a:srgbClr val="4A5568"/>
                </a:solidFill>
                <a:latin typeface="DM Sans" pitchFamily="34" charset="0"/>
                <a:ea typeface="DM Sans" pitchFamily="34" charset="-122"/>
                <a:cs typeface="DM Sans" pitchFamily="34" charset="-120"/>
              </a:rPr>
              <a:t> — net worth, allocation and sentiment in one view</a:t>
            </a:r>
            <a:endParaRPr lang="en-US" sz="1250" dirty="0"/>
          </a:p>
        </p:txBody>
      </p:sp>
      <p:pic>
        <p:nvPicPr>
          <p:cNvPr id="13" name="Image 3" descr="NxanceLM terminal answering a portfolio question with a Number Guard verification block">    </p:cNvPr>
          <p:cNvPicPr>
            <a:picLocks noChangeAspect="1"/>
          </p:cNvPicPr>
          <p:nvPr/>
        </p:nvPicPr>
        <p:blipFill>
          <a:blip r:embed="rId4"/>
          <a:srcRect l="-41893" r="-41893" t="0" b="0"/>
          <a:stretch/>
        </p:blipFill>
        <p:spPr>
          <a:xfrm>
            <a:off x="6102350" y="3464654"/>
            <a:ext cx="5168900" cy="1435100"/>
          </a:xfrm>
          <a:prstGeom prst="rect">
            <a:avLst/>
          </a:prstGeom>
        </p:spPr>
      </p:pic>
      <p:sp>
        <p:nvSpPr>
          <p:cNvPr id="14" name="Shape 8"/>
          <p:cNvSpPr/>
          <p:nvPr/>
        </p:nvSpPr>
        <p:spPr>
          <a:xfrm>
            <a:off x="6099175" y="3461479"/>
            <a:ext cx="5175250" cy="1441450"/>
          </a:xfrm>
          <a:prstGeom prst="rect">
            <a:avLst/>
          </a:prstGeom>
          <a:noFill/>
          <a:ln w="6350">
            <a:solidFill>
              <a:srgbClr val="DCE3F0"/>
            </a:solidFill>
            <a:prstDash val="solid"/>
          </a:ln>
        </p:spPr>
      </p:sp>
      <p:sp>
        <p:nvSpPr>
          <p:cNvPr id="15" name="Text 9"/>
          <p:cNvSpPr/>
          <p:nvPr/>
        </p:nvSpPr>
        <p:spPr>
          <a:xfrm>
            <a:off x="6096000" y="4969604"/>
            <a:ext cx="5441696" cy="239713"/>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4A5568"/>
                </a:solidFill>
                <a:latin typeface="DM Sans" pitchFamily="34" charset="0"/>
                <a:ea typeface="DM Sans" pitchFamily="34" charset="-122"/>
                <a:cs typeface="DM Sans" pitchFamily="34" charset="-120"/>
              </a:rPr>
              <a:t>NxanceLM</a:t>
            </a:r>
            <a:r>
              <a:rPr lang="en-US" sz="1250" dirty="0">
                <a:solidFill>
                  <a:srgbClr val="4A5568"/>
                </a:solidFill>
                <a:latin typeface="DM Sans" pitchFamily="34" charset="0"/>
                <a:ea typeface="DM Sans" pitchFamily="34" charset="-122"/>
                <a:cs typeface="DM Sans" pitchFamily="34" charset="-120"/>
              </a:rPr>
              <a:t> — ask a question, see the verification behind it</a:t>
            </a:r>
            <a:endParaRPr lang="en-US" sz="1250" dirty="0"/>
          </a:p>
        </p:txBody>
      </p:sp>
      <p:pic>
        <p:nvPicPr>
          <p:cNvPr id="16" name="Image 4" descr="Nxance">    </p:cNvPr>
          <p:cNvPicPr>
            <a:picLocks noChangeAspect="1"/>
          </p:cNvPicPr>
          <p:nvPr/>
        </p:nvPicPr>
        <p:blipFill>
          <a:blip r:embed="rId5"/>
          <a:srcRect l="0" r="0" t="-227" b="-227"/>
          <a:stretch/>
        </p:blipFill>
        <p:spPr>
          <a:xfrm>
            <a:off x="812800" y="6267450"/>
            <a:ext cx="698500" cy="215900"/>
          </a:xfrm>
          <a:prstGeom prst="rect">
            <a:avLst/>
          </a:prstGeom>
        </p:spPr>
      </p:pic>
      <p:sp>
        <p:nvSpPr>
          <p:cNvPr id="17" name="Text 10"/>
          <p:cNvSpPr/>
          <p:nvPr/>
        </p:nvSpPr>
        <p:spPr>
          <a:xfrm>
            <a:off x="1638300" y="62382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5"/>
                </a:solidFill>
                <a:latin typeface="DM Sans" pitchFamily="34" charset="0"/>
                <a:ea typeface="DM Sans" pitchFamily="34" charset="-122"/>
                <a:cs typeface="DM Sans" pitchFamily="34" charset="-120"/>
              </a:rPr>
              <a:t>Ohshn Intelligence LLP</a:t>
            </a:r>
            <a:endParaRPr lang="en-US" sz="1200" dirty="0"/>
          </a:p>
        </p:txBody>
      </p:sp>
      <p:sp>
        <p:nvSpPr>
          <p:cNvPr id="18" name="Text 11"/>
          <p:cNvSpPr/>
          <p:nvPr/>
        </p:nvSpPr>
        <p:spPr>
          <a:xfrm>
            <a:off x="10439400" y="623828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3A5"/>
                </a:solidFill>
                <a:latin typeface="DM Sans" pitchFamily="34" charset="0"/>
                <a:ea typeface="DM Sans" pitchFamily="34" charset="-122"/>
                <a:cs typeface="DM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FE0"/>
                </a:solidFill>
                <a:latin typeface="Lexend" pitchFamily="34" charset="0"/>
                <a:ea typeface="Lexend" pitchFamily="34" charset="-122"/>
                <a:cs typeface="Lexend" pitchFamily="34" charset="-120"/>
              </a:rPr>
              <a:t>TECHNOLOGY</a:t>
            </a:r>
            <a:endParaRPr lang="en-US" sz="1200" dirty="0"/>
          </a:p>
        </p:txBody>
      </p:sp>
      <p:sp>
        <p:nvSpPr>
          <p:cNvPr id="3" name="Text 1"/>
          <p:cNvSpPr/>
          <p:nvPr/>
        </p:nvSpPr>
        <p:spPr>
          <a:xfrm>
            <a:off x="812800" y="1165820"/>
            <a:ext cx="10203180" cy="401770"/>
          </a:xfrm>
          <a:prstGeom prst="rect">
            <a:avLst/>
          </a:prstGeom>
          <a:noFill/>
          <a:ln/>
        </p:spPr>
        <p:txBody>
          <a:bodyPr wrap="square" lIns="0" tIns="0" rIns="0" bIns="0" rtlCol="0" anchor="t">
            <a:normAutofit/>
          </a:bodyPr>
          <a:lstStyle/>
          <a:p>
            <a:pPr algn="l" indent="0" marL="0">
              <a:lnSpc>
                <a:spcPts val="2964"/>
              </a:lnSpc>
              <a:buNone/>
            </a:pPr>
            <a:r>
              <a:rPr lang="en-US" sz="2600" b="1" dirty="0">
                <a:solidFill>
                  <a:srgbClr val="0F1B33"/>
                </a:solidFill>
                <a:latin typeface="Geologica" pitchFamily="34" charset="0"/>
                <a:ea typeface="Geologica" pitchFamily="34" charset="-122"/>
                <a:cs typeface="Geologica" pitchFamily="34" charset="-120"/>
              </a:rPr>
              <a:t>70 engines compute. The AI only explains.</a:t>
            </a:r>
            <a:endParaRPr lang="en-US" sz="2600" dirty="0"/>
          </a:p>
        </p:txBody>
      </p:sp>
      <p:sp>
        <p:nvSpPr>
          <p:cNvPr id="4" name="Shape 2"/>
          <p:cNvSpPr/>
          <p:nvPr/>
        </p:nvSpPr>
        <p:spPr>
          <a:xfrm>
            <a:off x="815975" y="1685066"/>
            <a:ext cx="3397250" cy="2615737"/>
          </a:xfrm>
          <a:prstGeom prst="roundRect">
            <a:avLst>
              <a:gd name="adj" fmla="val 3763"/>
            </a:avLst>
          </a:prstGeom>
          <a:solidFill>
            <a:srgbClr val="FFFFFF"/>
          </a:solidFill>
          <a:ln w="6350">
            <a:solidFill>
              <a:srgbClr val="DCE3F0"/>
            </a:solidFill>
            <a:prstDash val="solid"/>
          </a:ln>
        </p:spPr>
      </p:sp>
      <p:sp>
        <p:nvSpPr>
          <p:cNvPr id="5" name="Text 3"/>
          <p:cNvSpPr/>
          <p:nvPr/>
        </p:nvSpPr>
        <p:spPr>
          <a:xfrm>
            <a:off x="1020233" y="1889323"/>
            <a:ext cx="307839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FE0"/>
                </a:solidFill>
                <a:latin typeface="Lexend" pitchFamily="34" charset="0"/>
                <a:ea typeface="Lexend" pitchFamily="34" charset="-122"/>
                <a:cs typeface="Lexend" pitchFamily="34" charset="-120"/>
              </a:rPr>
              <a:t>HEALTH CHECK · 26</a:t>
            </a:r>
            <a:endParaRPr lang="en-US" sz="1200" dirty="0"/>
          </a:p>
        </p:txBody>
      </p:sp>
      <p:sp>
        <p:nvSpPr>
          <p:cNvPr id="6" name="Text 4"/>
          <p:cNvSpPr/>
          <p:nvPr/>
        </p:nvSpPr>
        <p:spPr>
          <a:xfrm>
            <a:off x="1210733" y="2191544"/>
            <a:ext cx="2882180" cy="1930400"/>
          </a:xfrm>
          <a:prstGeom prst="rect">
            <a:avLst/>
          </a:prstGeom>
          <a:noFill/>
          <a:ln/>
        </p:spPr>
        <p:txBody>
          <a:bodyPr wrap="square" lIns="0" tIns="0" rIns="0" bIns="0" rtlCol="0" anchor="t">
            <a:normAutofit/>
          </a:bodyPr>
          <a:lstStyle/>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XIRR, time-weighted returns</a:t>
            </a:r>
            <a:endParaRPr lang="en-US" sz="1250" dirty="0"/>
          </a:p>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VaR, CVaR, Sharpe, Sortino</a:t>
            </a:r>
            <a:endParaRPr lang="en-US" sz="1250" dirty="0"/>
          </a:p>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Maximum drawdown</a:t>
            </a:r>
            <a:endParaRPr lang="en-US" sz="1250" dirty="0"/>
          </a:p>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Jaccard holdings overlap</a:t>
            </a:r>
            <a:endParaRPr lang="en-US" sz="1250" dirty="0"/>
          </a:p>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Monte Carlo, 10,000 paths</a:t>
            </a:r>
            <a:endParaRPr lang="en-US" sz="1250" dirty="0"/>
          </a:p>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Hidden Markov regimes</a:t>
            </a:r>
            <a:endParaRPr lang="en-US" sz="1250" dirty="0"/>
          </a:p>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FinBERT news sentiment</a:t>
            </a:r>
            <a:endParaRPr lang="en-US" sz="1250" dirty="0"/>
          </a:p>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Cost and fraud screens</a:t>
            </a:r>
            <a:endParaRPr lang="en-US" sz="1250" dirty="0"/>
          </a:p>
        </p:txBody>
      </p:sp>
      <p:sp>
        <p:nvSpPr>
          <p:cNvPr id="7" name="Shape 5"/>
          <p:cNvSpPr/>
          <p:nvPr/>
        </p:nvSpPr>
        <p:spPr>
          <a:xfrm>
            <a:off x="4397375" y="1685066"/>
            <a:ext cx="3397250" cy="2615737"/>
          </a:xfrm>
          <a:prstGeom prst="roundRect">
            <a:avLst>
              <a:gd name="adj" fmla="val 3763"/>
            </a:avLst>
          </a:prstGeom>
          <a:solidFill>
            <a:srgbClr val="FFFFFF"/>
          </a:solidFill>
          <a:ln w="6350">
            <a:solidFill>
              <a:srgbClr val="DCE3F0"/>
            </a:solidFill>
            <a:prstDash val="solid"/>
          </a:ln>
        </p:spPr>
      </p:sp>
      <p:sp>
        <p:nvSpPr>
          <p:cNvPr id="8" name="Text 6"/>
          <p:cNvSpPr/>
          <p:nvPr/>
        </p:nvSpPr>
        <p:spPr>
          <a:xfrm>
            <a:off x="4601633" y="1889323"/>
            <a:ext cx="307839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FE0"/>
                </a:solidFill>
                <a:latin typeface="Lexend" pitchFamily="34" charset="0"/>
                <a:ea typeface="Lexend" pitchFamily="34" charset="-122"/>
                <a:cs typeface="Lexend" pitchFamily="34" charset="-120"/>
              </a:rPr>
              <a:t>CONSTRUCTION · 26</a:t>
            </a:r>
            <a:endParaRPr lang="en-US" sz="1200" dirty="0"/>
          </a:p>
        </p:txBody>
      </p:sp>
      <p:sp>
        <p:nvSpPr>
          <p:cNvPr id="9" name="Text 7"/>
          <p:cNvSpPr/>
          <p:nvPr/>
        </p:nvSpPr>
        <p:spPr>
          <a:xfrm>
            <a:off x="4792133" y="2191544"/>
            <a:ext cx="2882180" cy="1930400"/>
          </a:xfrm>
          <a:prstGeom prst="rect">
            <a:avLst/>
          </a:prstGeom>
          <a:noFill/>
          <a:ln/>
        </p:spPr>
        <p:txBody>
          <a:bodyPr wrap="square" lIns="0" tIns="0" rIns="0" bIns="0" rtlCol="0" anchor="t">
            <a:normAutofit/>
          </a:bodyPr>
          <a:lstStyle/>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Mean-variance optimisation</a:t>
            </a:r>
            <a:endParaRPr lang="en-US" sz="1250" dirty="0"/>
          </a:p>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Black-Litterman views</a:t>
            </a:r>
            <a:endParaRPr lang="en-US" sz="1250" dirty="0"/>
          </a:p>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Ledoit-Wolf shrinkage</a:t>
            </a:r>
            <a:endParaRPr lang="en-US" sz="1250" dirty="0"/>
          </a:p>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Goal and drawdown limits</a:t>
            </a:r>
            <a:endParaRPr lang="en-US" sz="1250" dirty="0"/>
          </a:p>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Every rejection recorded</a:t>
            </a:r>
            <a:endParaRPr lang="en-US" sz="1250" dirty="0"/>
          </a:p>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Cost and fraud screens</a:t>
            </a:r>
            <a:endParaRPr lang="en-US" sz="1250" dirty="0"/>
          </a:p>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VaR, CVaR, Sharpe on the mix</a:t>
            </a:r>
            <a:endParaRPr lang="en-US" sz="1250" dirty="0"/>
          </a:p>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Monte Carlo goal probability</a:t>
            </a:r>
            <a:endParaRPr lang="en-US" sz="1250" dirty="0"/>
          </a:p>
        </p:txBody>
      </p:sp>
      <p:sp>
        <p:nvSpPr>
          <p:cNvPr id="10" name="Shape 8"/>
          <p:cNvSpPr/>
          <p:nvPr/>
        </p:nvSpPr>
        <p:spPr>
          <a:xfrm>
            <a:off x="7978775" y="1685066"/>
            <a:ext cx="3397250" cy="2615737"/>
          </a:xfrm>
          <a:prstGeom prst="roundRect">
            <a:avLst>
              <a:gd name="adj" fmla="val 3763"/>
            </a:avLst>
          </a:prstGeom>
          <a:solidFill>
            <a:srgbClr val="FFFFFF"/>
          </a:solidFill>
          <a:ln w="6350">
            <a:solidFill>
              <a:srgbClr val="DCE3F0"/>
            </a:solidFill>
            <a:prstDash val="solid"/>
          </a:ln>
        </p:spPr>
      </p:sp>
      <p:sp>
        <p:nvSpPr>
          <p:cNvPr id="11" name="Text 9"/>
          <p:cNvSpPr/>
          <p:nvPr/>
        </p:nvSpPr>
        <p:spPr>
          <a:xfrm>
            <a:off x="8183034" y="1889323"/>
            <a:ext cx="307839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FE0"/>
                </a:solidFill>
                <a:latin typeface="Lexend" pitchFamily="34" charset="0"/>
                <a:ea typeface="Lexend" pitchFamily="34" charset="-122"/>
                <a:cs typeface="Lexend" pitchFamily="34" charset="-120"/>
              </a:rPr>
              <a:t>NXANCELM · 18</a:t>
            </a:r>
            <a:endParaRPr lang="en-US" sz="1200" dirty="0"/>
          </a:p>
        </p:txBody>
      </p:sp>
      <p:sp>
        <p:nvSpPr>
          <p:cNvPr id="12" name="Text 10"/>
          <p:cNvSpPr/>
          <p:nvPr/>
        </p:nvSpPr>
        <p:spPr>
          <a:xfrm>
            <a:off x="8373534" y="2191544"/>
            <a:ext cx="2882180" cy="1216025"/>
          </a:xfrm>
          <a:prstGeom prst="rect">
            <a:avLst/>
          </a:prstGeom>
          <a:noFill/>
          <a:ln/>
        </p:spPr>
        <p:txBody>
          <a:bodyPr wrap="square" lIns="0" tIns="0" rIns="0" bIns="0" rtlCol="0" anchor="t">
            <a:normAutofit/>
          </a:bodyPr>
          <a:lstStyle/>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Results into English or Hindi</a:t>
            </a:r>
            <a:endParaRPr lang="en-US" sz="1250" dirty="0"/>
          </a:p>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Answers on your own holdings</a:t>
            </a:r>
            <a:endParaRPr lang="en-US" sz="1250" dirty="0"/>
          </a:p>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Writes report explanations</a:t>
            </a:r>
            <a:endParaRPr lang="en-US" sz="1250" dirty="0"/>
          </a:p>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Live market and news terminal</a:t>
            </a:r>
            <a:endParaRPr lang="en-US" sz="1250" dirty="0"/>
          </a:p>
          <a:p>
            <a:pPr algn="l" marL="342900" indent="-342900">
              <a:lnSpc>
                <a:spcPts val="1875"/>
              </a:lnSpc>
              <a:buSzPct val="100000"/>
              <a:buChar char="•"/>
            </a:pPr>
            <a:r>
              <a:rPr lang="en-US" sz="1250" dirty="0">
                <a:solidFill>
                  <a:srgbClr val="334155"/>
                </a:solidFill>
                <a:latin typeface="DM Sans" pitchFamily="34" charset="0"/>
                <a:ea typeface="DM Sans" pitchFamily="34" charset="-122"/>
                <a:cs typeface="DM Sans" pitchFamily="34" charset="-120"/>
              </a:rPr>
              <a:t>Nxance Explain on any chart</a:t>
            </a:r>
            <a:endParaRPr lang="en-US" sz="1250" dirty="0"/>
          </a:p>
        </p:txBody>
      </p:sp>
      <p:sp>
        <p:nvSpPr>
          <p:cNvPr id="13" name="Shape 11"/>
          <p:cNvSpPr/>
          <p:nvPr/>
        </p:nvSpPr>
        <p:spPr>
          <a:xfrm>
            <a:off x="812800" y="4443679"/>
            <a:ext cx="6338160" cy="1350566"/>
          </a:xfrm>
          <a:prstGeom prst="roundRect">
            <a:avLst>
              <a:gd name="adj" fmla="val 7523"/>
            </a:avLst>
          </a:prstGeom>
          <a:solidFill>
            <a:srgbClr val="0F1B33"/>
          </a:solidFill>
          <a:ln/>
        </p:spPr>
      </p:sp>
      <p:sp>
        <p:nvSpPr>
          <p:cNvPr id="14" name="Text 12"/>
          <p:cNvSpPr/>
          <p:nvPr/>
        </p:nvSpPr>
        <p:spPr>
          <a:xfrm>
            <a:off x="1016000" y="4621479"/>
            <a:ext cx="610971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A8FF"/>
                </a:solidFill>
                <a:latin typeface="Lexend" pitchFamily="34" charset="0"/>
                <a:ea typeface="Lexend" pitchFamily="34" charset="-122"/>
                <a:cs typeface="Lexend" pitchFamily="34" charset="-120"/>
              </a:rPr>
              <a:t>NUMBER GUARD</a:t>
            </a:r>
            <a:endParaRPr lang="en-US" sz="1200" dirty="0"/>
          </a:p>
        </p:txBody>
      </p:sp>
      <p:sp>
        <p:nvSpPr>
          <p:cNvPr id="15" name="Text 13"/>
          <p:cNvSpPr/>
          <p:nvPr/>
        </p:nvSpPr>
        <p:spPr>
          <a:xfrm>
            <a:off x="1016000" y="4898299"/>
            <a:ext cx="6109713" cy="7435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E4EAF5"/>
                </a:solidFill>
                <a:latin typeface="DM Sans" pitchFamily="34" charset="0"/>
                <a:ea typeface="DM Sans" pitchFamily="34" charset="-122"/>
                <a:cs typeface="DM Sans" pitchFamily="34" charset="-120"/>
              </a:rPr>
              <a:t>Every figure must trace back to an engine output. Number Guard blocks any number the model was not handed — verified source, confirmed inputs, checked calculation, audit ID.</a:t>
            </a:r>
            <a:endParaRPr lang="en-US" sz="1300" dirty="0"/>
          </a:p>
        </p:txBody>
      </p:sp>
      <p:sp>
        <p:nvSpPr>
          <p:cNvPr id="16" name="Shape 14"/>
          <p:cNvSpPr/>
          <p:nvPr/>
        </p:nvSpPr>
        <p:spPr>
          <a:xfrm>
            <a:off x="7331935" y="4446854"/>
            <a:ext cx="4044090" cy="1344216"/>
          </a:xfrm>
          <a:prstGeom prst="roundRect">
            <a:avLst>
              <a:gd name="adj" fmla="val 7322"/>
            </a:avLst>
          </a:prstGeom>
          <a:solidFill>
            <a:srgbClr val="EEF2FA"/>
          </a:solidFill>
          <a:ln w="6350">
            <a:solidFill>
              <a:srgbClr val="DCE3F0"/>
            </a:solidFill>
            <a:prstDash val="solid"/>
          </a:ln>
        </p:spPr>
      </p:sp>
      <p:sp>
        <p:nvSpPr>
          <p:cNvPr id="17" name="Text 15"/>
          <p:cNvSpPr/>
          <p:nvPr/>
        </p:nvSpPr>
        <p:spPr>
          <a:xfrm>
            <a:off x="7536193" y="4625711"/>
            <a:ext cx="374464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FE0"/>
                </a:solidFill>
                <a:latin typeface="Lexend" pitchFamily="34" charset="0"/>
                <a:ea typeface="Lexend" pitchFamily="34" charset="-122"/>
                <a:cs typeface="Lexend" pitchFamily="34" charset="-120"/>
              </a:rPr>
              <a:t>STACK</a:t>
            </a:r>
            <a:endParaRPr lang="en-US" sz="1200" dirty="0"/>
          </a:p>
        </p:txBody>
      </p:sp>
      <p:sp>
        <p:nvSpPr>
          <p:cNvPr id="18" name="Text 16"/>
          <p:cNvSpPr/>
          <p:nvPr/>
        </p:nvSpPr>
        <p:spPr>
          <a:xfrm>
            <a:off x="7536193" y="4902532"/>
            <a:ext cx="3744641"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155"/>
                </a:solidFill>
                <a:latin typeface="DM Sans" pitchFamily="34" charset="0"/>
                <a:ea typeface="DM Sans" pitchFamily="34" charset="-122"/>
                <a:cs typeface="DM Sans" pitchFamily="34" charset="-120"/>
              </a:rPr>
              <a:t>FastAPI · Supabase · Railway. Lean by design, sized for a subscription product.</a:t>
            </a:r>
            <a:endParaRPr lang="en-US" sz="1300" dirty="0"/>
          </a:p>
        </p:txBody>
      </p:sp>
      <p:pic>
        <p:nvPicPr>
          <p:cNvPr id="19" name="Image 0" descr="Nxance">    </p:cNvPr>
          <p:cNvPicPr>
            <a:picLocks noChangeAspect="1"/>
          </p:cNvPicPr>
          <p:nvPr/>
        </p:nvPicPr>
        <p:blipFill>
          <a:blip r:embed="rId1"/>
          <a:srcRect l="0" r="0" t="-227" b="-227"/>
          <a:stretch/>
        </p:blipFill>
        <p:spPr>
          <a:xfrm>
            <a:off x="812800" y="6267450"/>
            <a:ext cx="698500" cy="215900"/>
          </a:xfrm>
          <a:prstGeom prst="rect">
            <a:avLst/>
          </a:prstGeom>
        </p:spPr>
      </p:pic>
      <p:sp>
        <p:nvSpPr>
          <p:cNvPr id="20" name="Text 17"/>
          <p:cNvSpPr/>
          <p:nvPr/>
        </p:nvSpPr>
        <p:spPr>
          <a:xfrm>
            <a:off x="1638300" y="62382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5"/>
                </a:solidFill>
                <a:latin typeface="DM Sans" pitchFamily="34" charset="0"/>
                <a:ea typeface="DM Sans" pitchFamily="34" charset="-122"/>
                <a:cs typeface="DM Sans" pitchFamily="34" charset="-120"/>
              </a:rPr>
              <a:t>Ohshn Intelligence LLP</a:t>
            </a:r>
            <a:endParaRPr lang="en-US" sz="1200" dirty="0"/>
          </a:p>
        </p:txBody>
      </p:sp>
      <p:sp>
        <p:nvSpPr>
          <p:cNvPr id="21" name="Text 18"/>
          <p:cNvSpPr/>
          <p:nvPr/>
        </p:nvSpPr>
        <p:spPr>
          <a:xfrm>
            <a:off x="10439400" y="623828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3A5"/>
                </a:solidFill>
                <a:latin typeface="DM Sans" pitchFamily="34" charset="0"/>
                <a:ea typeface="DM Sans" pitchFamily="34" charset="-122"/>
                <a:cs typeface="DM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A8FF"/>
                </a:solidFill>
                <a:latin typeface="Lexend" pitchFamily="34" charset="0"/>
                <a:ea typeface="Lexend" pitchFamily="34" charset="-122"/>
                <a:cs typeface="Lexend" pitchFamily="34" charset="-120"/>
              </a:rPr>
              <a:t>WHY WE WIN</a:t>
            </a:r>
            <a:endParaRPr lang="en-US" sz="1200" dirty="0"/>
          </a:p>
        </p:txBody>
      </p:sp>
      <p:sp>
        <p:nvSpPr>
          <p:cNvPr id="3" name="Text 1"/>
          <p:cNvSpPr/>
          <p:nvPr/>
        </p:nvSpPr>
        <p:spPr>
          <a:xfrm>
            <a:off x="812800" y="1191220"/>
            <a:ext cx="10203180" cy="401770"/>
          </a:xfrm>
          <a:prstGeom prst="rect">
            <a:avLst/>
          </a:prstGeom>
          <a:noFill/>
          <a:ln/>
        </p:spPr>
        <p:txBody>
          <a:bodyPr wrap="square" lIns="0" tIns="0" rIns="0" bIns="0" rtlCol="0" anchor="t">
            <a:normAutofit/>
          </a:bodyPr>
          <a:lstStyle/>
          <a:p>
            <a:pPr algn="l" indent="0" marL="0">
              <a:lnSpc>
                <a:spcPts val="2964"/>
              </a:lnSpc>
              <a:buNone/>
            </a:pPr>
            <a:r>
              <a:rPr lang="en-US" sz="2600" b="1" dirty="0">
                <a:solidFill>
                  <a:srgbClr val="FFFFFF"/>
                </a:solidFill>
                <a:latin typeface="Geologica" pitchFamily="34" charset="0"/>
                <a:ea typeface="Geologica" pitchFamily="34" charset="-122"/>
                <a:cs typeface="Geologica" pitchFamily="34" charset="-120"/>
              </a:rPr>
              <a:t>Diagnosis first. Reasoning shown. A flat fee.</a:t>
            </a:r>
            <a:endParaRPr lang="en-US" sz="2600" dirty="0"/>
          </a:p>
        </p:txBody>
      </p:sp>
      <p:sp>
        <p:nvSpPr>
          <p:cNvPr id="4" name="Shape 2"/>
          <p:cNvSpPr/>
          <p:nvPr/>
        </p:nvSpPr>
        <p:spPr>
          <a:xfrm>
            <a:off x="812800" y="1735866"/>
            <a:ext cx="10566400" cy="0"/>
          </a:xfrm>
          <a:prstGeom prst="line">
            <a:avLst/>
          </a:prstGeom>
          <a:noFill/>
          <a:ln w="6350">
            <a:solidFill>
              <a:srgbClr val="2C3C5E"/>
            </a:solidFill>
            <a:prstDash val="solid"/>
          </a:ln>
        </p:spPr>
      </p:sp>
      <p:sp>
        <p:nvSpPr>
          <p:cNvPr id="5" name="Text 3"/>
          <p:cNvSpPr/>
          <p:nvPr/>
        </p:nvSpPr>
        <p:spPr>
          <a:xfrm>
            <a:off x="812800" y="1863923"/>
            <a:ext cx="287782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Lexend" pitchFamily="34" charset="0"/>
                <a:ea typeface="Lexend" pitchFamily="34" charset="-122"/>
                <a:cs typeface="Lexend" pitchFamily="34" charset="-120"/>
              </a:rPr>
              <a:t>Diagnosis before advice</a:t>
            </a:r>
            <a:endParaRPr lang="en-US" sz="1500" dirty="0"/>
          </a:p>
        </p:txBody>
      </p:sp>
      <p:sp>
        <p:nvSpPr>
          <p:cNvPr id="6" name="Text 4"/>
          <p:cNvSpPr/>
          <p:nvPr/>
        </p:nvSpPr>
        <p:spPr>
          <a:xfrm>
            <a:off x="3860800" y="1863923"/>
            <a:ext cx="7743952"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9C4DA"/>
                </a:solidFill>
                <a:latin typeface="DM Sans" pitchFamily="34" charset="0"/>
                <a:ea typeface="DM Sans" pitchFamily="34" charset="-122"/>
                <a:cs typeface="DM Sans" pitchFamily="34" charset="-120"/>
              </a:rPr>
              <a:t>Everyone else starts by selling you something new. Nxance starts with an honest read of what you already own — the cheapest way to earn the right to advise.</a:t>
            </a:r>
            <a:endParaRPr lang="en-US" sz="1300" dirty="0"/>
          </a:p>
        </p:txBody>
      </p:sp>
      <p:sp>
        <p:nvSpPr>
          <p:cNvPr id="7" name="Shape 5"/>
          <p:cNvSpPr/>
          <p:nvPr/>
        </p:nvSpPr>
        <p:spPr>
          <a:xfrm>
            <a:off x="812800" y="2460163"/>
            <a:ext cx="10566400" cy="0"/>
          </a:xfrm>
          <a:prstGeom prst="line">
            <a:avLst/>
          </a:prstGeom>
          <a:noFill/>
          <a:ln w="6350">
            <a:solidFill>
              <a:srgbClr val="2C3C5E"/>
            </a:solidFill>
            <a:prstDash val="solid"/>
          </a:ln>
        </p:spPr>
      </p:sp>
      <p:sp>
        <p:nvSpPr>
          <p:cNvPr id="8" name="Text 6"/>
          <p:cNvSpPr/>
          <p:nvPr/>
        </p:nvSpPr>
        <p:spPr>
          <a:xfrm>
            <a:off x="812800" y="2588220"/>
            <a:ext cx="287782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Lexend" pitchFamily="34" charset="0"/>
                <a:ea typeface="Lexend" pitchFamily="34" charset="-122"/>
                <a:cs typeface="Lexend" pitchFamily="34" charset="-120"/>
              </a:rPr>
              <a:t>Explainable, not a black box</a:t>
            </a:r>
            <a:endParaRPr lang="en-US" sz="1500" dirty="0"/>
          </a:p>
        </p:txBody>
      </p:sp>
      <p:sp>
        <p:nvSpPr>
          <p:cNvPr id="9" name="Text 7"/>
          <p:cNvSpPr/>
          <p:nvPr/>
        </p:nvSpPr>
        <p:spPr>
          <a:xfrm>
            <a:off x="3860800" y="2588220"/>
            <a:ext cx="7743952"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9C4DA"/>
                </a:solidFill>
                <a:latin typeface="DM Sans" pitchFamily="34" charset="0"/>
                <a:ea typeface="DM Sans" pitchFamily="34" charset="-122"/>
                <a:cs typeface="DM Sans" pitchFamily="34" charset="-120"/>
              </a:rPr>
              <a:t>Every output carries its data, its method and its stated limits. Number Guard blocks any figure the engines did not compute, so the AI explains but never invents.</a:t>
            </a:r>
            <a:endParaRPr lang="en-US" sz="1300" dirty="0"/>
          </a:p>
        </p:txBody>
      </p:sp>
      <p:sp>
        <p:nvSpPr>
          <p:cNvPr id="10" name="Shape 8"/>
          <p:cNvSpPr/>
          <p:nvPr/>
        </p:nvSpPr>
        <p:spPr>
          <a:xfrm>
            <a:off x="812800" y="3184460"/>
            <a:ext cx="10566400" cy="0"/>
          </a:xfrm>
          <a:prstGeom prst="line">
            <a:avLst/>
          </a:prstGeom>
          <a:noFill/>
          <a:ln w="6350">
            <a:solidFill>
              <a:srgbClr val="2C3C5E"/>
            </a:solidFill>
            <a:prstDash val="solid"/>
          </a:ln>
        </p:spPr>
      </p:sp>
      <p:sp>
        <p:nvSpPr>
          <p:cNvPr id="11" name="Text 9"/>
          <p:cNvSpPr/>
          <p:nvPr/>
        </p:nvSpPr>
        <p:spPr>
          <a:xfrm>
            <a:off x="812800" y="3312517"/>
            <a:ext cx="2877820"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Lexend" pitchFamily="34" charset="0"/>
                <a:ea typeface="Lexend" pitchFamily="34" charset="-122"/>
                <a:cs typeface="Lexend" pitchFamily="34" charset="-120"/>
              </a:rPr>
              <a:t>Subscription, not commission</a:t>
            </a:r>
            <a:endParaRPr lang="en-US" sz="1500" dirty="0"/>
          </a:p>
        </p:txBody>
      </p:sp>
      <p:sp>
        <p:nvSpPr>
          <p:cNvPr id="12" name="Text 10"/>
          <p:cNvSpPr/>
          <p:nvPr/>
        </p:nvSpPr>
        <p:spPr>
          <a:xfrm>
            <a:off x="3860800" y="3312517"/>
            <a:ext cx="7743952"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9C4DA"/>
                </a:solidFill>
                <a:latin typeface="DM Sans" pitchFamily="34" charset="0"/>
                <a:ea typeface="DM Sans" pitchFamily="34" charset="-122"/>
                <a:cs typeface="DM Sans" pitchFamily="34" charset="-120"/>
              </a:rPr>
              <a:t>A flat ₹399–1,499 a month. No cut of your assets, no trail commission, no lending cross-sell. Our revenue moves with your renewal, not your balance.</a:t>
            </a:r>
            <a:endParaRPr lang="en-US" sz="1300" dirty="0"/>
          </a:p>
        </p:txBody>
      </p:sp>
      <p:sp>
        <p:nvSpPr>
          <p:cNvPr id="13" name="Shape 11"/>
          <p:cNvSpPr/>
          <p:nvPr/>
        </p:nvSpPr>
        <p:spPr>
          <a:xfrm>
            <a:off x="812800" y="3908757"/>
            <a:ext cx="10566400" cy="0"/>
          </a:xfrm>
          <a:prstGeom prst="line">
            <a:avLst/>
          </a:prstGeom>
          <a:noFill/>
          <a:ln w="6350">
            <a:solidFill>
              <a:srgbClr val="2C3C5E"/>
            </a:solidFill>
            <a:prstDash val="solid"/>
          </a:ln>
        </p:spPr>
      </p:sp>
      <p:sp>
        <p:nvSpPr>
          <p:cNvPr id="14" name="Text 12"/>
          <p:cNvSpPr/>
          <p:nvPr/>
        </p:nvSpPr>
        <p:spPr>
          <a:xfrm>
            <a:off x="812800" y="4036814"/>
            <a:ext cx="287782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Lexend" pitchFamily="34" charset="0"/>
                <a:ea typeface="Lexend" pitchFamily="34" charset="-122"/>
                <a:cs typeface="Lexend" pitchFamily="34" charset="-120"/>
              </a:rPr>
              <a:t>Broker- and asset-agnostic</a:t>
            </a:r>
            <a:endParaRPr lang="en-US" sz="1500" dirty="0"/>
          </a:p>
        </p:txBody>
      </p:sp>
      <p:sp>
        <p:nvSpPr>
          <p:cNvPr id="15" name="Text 13"/>
          <p:cNvSpPr/>
          <p:nvPr/>
        </p:nvSpPr>
        <p:spPr>
          <a:xfrm>
            <a:off x="3860800" y="4036814"/>
            <a:ext cx="7743952"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9C4DA"/>
                </a:solidFill>
                <a:latin typeface="DM Sans" pitchFamily="34" charset="0"/>
                <a:ea typeface="DM Sans" pitchFamily="34" charset="-122"/>
                <a:cs typeface="DM Sans" pitchFamily="34" charset="-120"/>
              </a:rPr>
              <a:t>Works across any broker and any asset class — not tied to one execution rail or a single model-portfolio format.</a:t>
            </a:r>
            <a:endParaRPr lang="en-US" sz="1300" dirty="0"/>
          </a:p>
        </p:txBody>
      </p:sp>
      <p:sp>
        <p:nvSpPr>
          <p:cNvPr id="16" name="Text 14"/>
          <p:cNvSpPr/>
          <p:nvPr/>
        </p:nvSpPr>
        <p:spPr>
          <a:xfrm>
            <a:off x="812800" y="5686425"/>
            <a:ext cx="10883392" cy="485775"/>
          </a:xfrm>
          <a:prstGeom prst="rect">
            <a:avLst/>
          </a:prstGeom>
          <a:noFill/>
          <a:ln/>
        </p:spPr>
        <p:txBody>
          <a:bodyPr wrap="square" lIns="0" tIns="0" rIns="0" bIns="0" rtlCol="0" anchor="t">
            <a:normAutofit/>
          </a:bodyPr>
          <a:lstStyle/>
          <a:p>
            <a:pPr algn="l" indent="0" marL="0">
              <a:lnSpc>
                <a:spcPts val="1813"/>
              </a:lnSpc>
              <a:buNone/>
            </a:pPr>
            <a:r>
              <a:rPr lang="en-US" sz="1250" b="1" dirty="0">
                <a:solidFill>
                  <a:srgbClr val="8092B0"/>
                </a:solidFill>
                <a:latin typeface="DM Sans" pitchFamily="34" charset="0"/>
                <a:ea typeface="DM Sans" pitchFamily="34" charset="-122"/>
                <a:cs typeface="DM Sans" pitchFamily="34" charset="-120"/>
              </a:rPr>
              <a:t>What makes it hold:</a:t>
            </a:r>
            <a:r>
              <a:rPr lang="en-US" sz="1250" dirty="0">
                <a:solidFill>
                  <a:srgbClr val="8092B0"/>
                </a:solidFill>
                <a:latin typeface="DM Sans" pitchFamily="34" charset="0"/>
                <a:ea typeface="DM Sans" pitchFamily="34" charset="-122"/>
                <a:cs typeface="DM Sans" pitchFamily="34" charset="-120"/>
              </a:rPr>
              <a:t> answers stay tied to computed evidence; the product improves as consented, anonymised usage data compounds; and commission-free pricing is structurally hard for distributor-funded incumbents to copy, because trail commissions pay their bills.</a:t>
            </a:r>
            <a:endParaRPr lang="en-US" sz="1250" dirty="0"/>
          </a:p>
        </p:txBody>
      </p:sp>
      <p:pic>
        <p:nvPicPr>
          <p:cNvPr id="17" name="Image 0" descr="Nxance">    </p:cNvPr>
          <p:cNvPicPr>
            <a:picLocks noChangeAspect="1"/>
          </p:cNvPicPr>
          <p:nvPr/>
        </p:nvPicPr>
        <p:blipFill>
          <a:blip r:embed="rId1"/>
          <a:srcRect l="0" r="0" t="-227" b="-227"/>
          <a:stretch/>
        </p:blipFill>
        <p:spPr>
          <a:xfrm>
            <a:off x="812800" y="6267450"/>
            <a:ext cx="698500" cy="215900"/>
          </a:xfrm>
          <a:prstGeom prst="rect">
            <a:avLst/>
          </a:prstGeom>
        </p:spPr>
      </p:pic>
      <p:sp>
        <p:nvSpPr>
          <p:cNvPr id="18" name="Text 15"/>
          <p:cNvSpPr/>
          <p:nvPr/>
        </p:nvSpPr>
        <p:spPr>
          <a:xfrm>
            <a:off x="1638300" y="62382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7D99"/>
                </a:solidFill>
                <a:latin typeface="DM Sans" pitchFamily="34" charset="0"/>
                <a:ea typeface="DM Sans" pitchFamily="34" charset="-122"/>
                <a:cs typeface="DM Sans" pitchFamily="34" charset="-120"/>
              </a:rPr>
              <a:t>Ohshn Intelligence LLP</a:t>
            </a:r>
            <a:endParaRPr lang="en-US" sz="1200" dirty="0"/>
          </a:p>
        </p:txBody>
      </p:sp>
      <p:sp>
        <p:nvSpPr>
          <p:cNvPr id="19" name="Text 16"/>
          <p:cNvSpPr/>
          <p:nvPr/>
        </p:nvSpPr>
        <p:spPr>
          <a:xfrm>
            <a:off x="10439400" y="623828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7D99"/>
                </a:solidFill>
                <a:latin typeface="DM Sans" pitchFamily="34" charset="0"/>
                <a:ea typeface="DM Sans" pitchFamily="34" charset="-122"/>
                <a:cs typeface="DM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FE0"/>
                </a:solidFill>
                <a:latin typeface="Lexend" pitchFamily="34" charset="0"/>
                <a:ea typeface="Lexend" pitchFamily="34" charset="-122"/>
                <a:cs typeface="Lexend" pitchFamily="34" charset="-120"/>
              </a:rPr>
              <a:t>COMPETITIVE LANDSCAPE</a:t>
            </a:r>
            <a:endParaRPr lang="en-US" sz="1200" dirty="0"/>
          </a:p>
        </p:txBody>
      </p:sp>
      <p:sp>
        <p:nvSpPr>
          <p:cNvPr id="3" name="Text 1"/>
          <p:cNvSpPr/>
          <p:nvPr/>
        </p:nvSpPr>
        <p:spPr>
          <a:xfrm>
            <a:off x="812800" y="1191220"/>
            <a:ext cx="10203180" cy="778140"/>
          </a:xfrm>
          <a:prstGeom prst="rect">
            <a:avLst/>
          </a:prstGeom>
          <a:noFill/>
          <a:ln/>
        </p:spPr>
        <p:txBody>
          <a:bodyPr wrap="square" lIns="0" tIns="0" rIns="0" bIns="0" rtlCol="0" anchor="t">
            <a:normAutofit/>
          </a:bodyPr>
          <a:lstStyle/>
          <a:p>
            <a:pPr algn="l" indent="0" marL="0">
              <a:lnSpc>
                <a:spcPts val="2964"/>
              </a:lnSpc>
              <a:buNone/>
            </a:pPr>
            <a:r>
              <a:rPr lang="en-US" sz="2600" b="1" dirty="0">
                <a:solidFill>
                  <a:srgbClr val="0F1B33"/>
                </a:solidFill>
                <a:latin typeface="Geologica" pitchFamily="34" charset="0"/>
                <a:ea typeface="Geologica" pitchFamily="34" charset="-122"/>
                <a:cs typeface="Geologica" pitchFamily="34" charset="-120"/>
              </a:rPr>
              <a:t>Nobody else starts with a diagnosis, shows its reasoning, and charges a flat fee.</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2109062"/>
          <a:ext cx="10566400" cy="2619375"/>
        </p:xfrm>
        <a:graphic>
          <a:graphicData uri="http://schemas.openxmlformats.org/drawingml/2006/table">
            <a:tbl>
              <a:tblPr/>
              <a:tblGrid>
                <a:gridCol w="1267968"/>
                <a:gridCol w="1796288"/>
                <a:gridCol w="1796288"/>
                <a:gridCol w="1901952"/>
                <a:gridCol w="1690624"/>
                <a:gridCol w="2113280"/>
              </a:tblGrid>
              <a:tr h="346075">
                <a:tc>
                  <a:txBody>
                    <a:bodyPr/>
                    <a:lstStyle/>
                    <a:p>
                      <a:pPr indent="0" marL="0">
                        <a:lnSpc>
                          <a:spcPts val="1750"/>
                        </a:lnSpc>
                        <a:buNone/>
                      </a:pP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0F1B33"/>
                    </a:solidFill>
                  </a:tcPr>
                </a:tc>
                <a:tc>
                  <a:txBody>
                    <a:bodyPr/>
                    <a:lstStyle/>
                    <a:p>
                      <a:pPr indent="0" marL="0">
                        <a:lnSpc>
                          <a:spcPts val="1750"/>
                        </a:lnSpc>
                        <a:buNone/>
                      </a:pPr>
                      <a:r>
                        <a:rPr lang="en-US" sz="1250" b="1" dirty="0">
                          <a:solidFill>
                            <a:srgbClr val="FFFFFF"/>
                          </a:solidFill>
                          <a:latin typeface="DM Sans" pitchFamily="34" charset="0"/>
                          <a:ea typeface="DM Sans" pitchFamily="34" charset="-122"/>
                          <a:cs typeface="DM Sans" pitchFamily="34" charset="-120"/>
                        </a:rPr>
                        <a:t>Kalpi.ai</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0F1B33"/>
                    </a:solidFill>
                  </a:tcPr>
                </a:tc>
                <a:tc>
                  <a:txBody>
                    <a:bodyPr/>
                    <a:lstStyle/>
                    <a:p>
                      <a:pPr indent="0" marL="0">
                        <a:lnSpc>
                          <a:spcPts val="1750"/>
                        </a:lnSpc>
                        <a:buNone/>
                      </a:pPr>
                      <a:r>
                        <a:rPr lang="en-US" sz="1250" b="1" dirty="0">
                          <a:solidFill>
                            <a:srgbClr val="FFFFFF"/>
                          </a:solidFill>
                          <a:latin typeface="DM Sans" pitchFamily="34" charset="0"/>
                          <a:ea typeface="DM Sans" pitchFamily="34" charset="-122"/>
                          <a:cs typeface="DM Sans" pitchFamily="34" charset="-120"/>
                        </a:rPr>
                        <a:t>Wright Research</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0F1B33"/>
                    </a:solidFill>
                  </a:tcPr>
                </a:tc>
                <a:tc>
                  <a:txBody>
                    <a:bodyPr/>
                    <a:lstStyle/>
                    <a:p>
                      <a:pPr indent="0" marL="0">
                        <a:lnSpc>
                          <a:spcPts val="1750"/>
                        </a:lnSpc>
                        <a:buNone/>
                      </a:pPr>
                      <a:r>
                        <a:rPr lang="en-US" sz="1250" b="1" dirty="0">
                          <a:solidFill>
                            <a:srgbClr val="FFFFFF"/>
                          </a:solidFill>
                          <a:latin typeface="DM Sans" pitchFamily="34" charset="0"/>
                          <a:ea typeface="DM Sans" pitchFamily="34" charset="-122"/>
                          <a:cs typeface="DM Sans" pitchFamily="34" charset="-120"/>
                        </a:rPr>
                        <a:t>Ionic Wealth</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0F1B33"/>
                    </a:solidFill>
                  </a:tcPr>
                </a:tc>
                <a:tc>
                  <a:txBody>
                    <a:bodyPr/>
                    <a:lstStyle/>
                    <a:p>
                      <a:pPr indent="0" marL="0">
                        <a:lnSpc>
                          <a:spcPts val="1750"/>
                        </a:lnSpc>
                        <a:buNone/>
                      </a:pPr>
                      <a:r>
                        <a:rPr lang="en-US" sz="1250" b="1" dirty="0">
                          <a:solidFill>
                            <a:srgbClr val="FFFFFF"/>
                          </a:solidFill>
                          <a:latin typeface="DM Sans" pitchFamily="34" charset="0"/>
                          <a:ea typeface="DM Sans" pitchFamily="34" charset="-122"/>
                          <a:cs typeface="DM Sans" pitchFamily="34" charset="-120"/>
                        </a:rPr>
                        <a:t>MyFi</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0F1B33"/>
                    </a:solidFill>
                  </a:tcPr>
                </a:tc>
                <a:tc>
                  <a:txBody>
                    <a:bodyPr/>
                    <a:lstStyle/>
                    <a:p>
                      <a:pPr indent="0" marL="0">
                        <a:lnSpc>
                          <a:spcPts val="1750"/>
                        </a:lnSpc>
                        <a:buNone/>
                      </a:pPr>
                      <a:r>
                        <a:rPr lang="en-US" sz="1250" b="1" dirty="0">
                          <a:solidFill>
                            <a:srgbClr val="7FA8FF"/>
                          </a:solidFill>
                          <a:latin typeface="DM Sans" pitchFamily="34" charset="0"/>
                          <a:ea typeface="DM Sans" pitchFamily="34" charset="-122"/>
                          <a:cs typeface="DM Sans" pitchFamily="34" charset="-120"/>
                        </a:rPr>
                        <a:t>Nxance</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0F1B33"/>
                    </a:solidFill>
                  </a:tcPr>
                </a:tc>
              </a:tr>
              <a:tr h="568325">
                <a:tc>
                  <a:txBody>
                    <a:bodyPr/>
                    <a:lstStyle/>
                    <a:p>
                      <a:pPr indent="0" marL="0">
                        <a:lnSpc>
                          <a:spcPts val="1750"/>
                        </a:lnSpc>
                        <a:buNone/>
                      </a:pPr>
                      <a:r>
                        <a:rPr lang="en-US" sz="1250" dirty="0">
                          <a:solidFill>
                            <a:srgbClr val="0F1B33"/>
                          </a:solidFill>
                          <a:latin typeface="DM Sans" pitchFamily="34" charset="0"/>
                          <a:ea typeface="DM Sans" pitchFamily="34" charset="-122"/>
                          <a:cs typeface="DM Sans" pitchFamily="34" charset="-120"/>
                        </a:rPr>
                        <a:t>Serves</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750"/>
                        </a:lnSpc>
                        <a:buNone/>
                      </a:pPr>
                      <a:r>
                        <a:rPr lang="en-US" sz="1250" dirty="0">
                          <a:solidFill>
                            <a:srgbClr val="334155"/>
                          </a:solidFill>
                          <a:latin typeface="DM Sans" pitchFamily="34" charset="0"/>
                          <a:ea typeface="DM Sans" pitchFamily="34" charset="-122"/>
                          <a:cs typeface="DM Sans" pitchFamily="34" charset="-120"/>
                        </a:rPr>
                        <a:t>DIY strategy builders</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750"/>
                        </a:lnSpc>
                        <a:buNone/>
                      </a:pPr>
                      <a:r>
                        <a:rPr lang="en-US" sz="1250" dirty="0">
                          <a:solidFill>
                            <a:srgbClr val="334155"/>
                          </a:solidFill>
                          <a:latin typeface="DM Sans" pitchFamily="34" charset="0"/>
                          <a:ea typeface="DM Sans" pitchFamily="34" charset="-122"/>
                          <a:cs typeface="DM Sans" pitchFamily="34" charset="-120"/>
                        </a:rPr>
                        <a:t>Managed money, RIA/PMS</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750"/>
                        </a:lnSpc>
                        <a:buNone/>
                      </a:pPr>
                      <a:r>
                        <a:rPr lang="en-US" sz="1250" dirty="0">
                          <a:solidFill>
                            <a:srgbClr val="334155"/>
                          </a:solidFill>
                          <a:latin typeface="DM Sans" pitchFamily="34" charset="0"/>
                          <a:ea typeface="DM Sans" pitchFamily="34" charset="-122"/>
                          <a:cs typeface="DM Sans" pitchFamily="34" charset="-120"/>
                        </a:rPr>
                        <a:t>HNI/UHNI, ₹1–25 Cr</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750"/>
                        </a:lnSpc>
                        <a:buNone/>
                      </a:pPr>
                      <a:r>
                        <a:rPr lang="en-US" sz="1250" dirty="0">
                          <a:solidFill>
                            <a:srgbClr val="334155"/>
                          </a:solidFill>
                          <a:latin typeface="DM Sans" pitchFamily="34" charset="0"/>
                          <a:ea typeface="DM Sans" pitchFamily="34" charset="-122"/>
                          <a:cs typeface="DM Sans" pitchFamily="34" charset="-120"/>
                        </a:rPr>
                        <a:t>Retail MF and stock investors</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750"/>
                        </a:lnSpc>
                        <a:buNone/>
                      </a:pPr>
                      <a:r>
                        <a:rPr lang="en-US" sz="1250" dirty="0">
                          <a:solidFill>
                            <a:srgbClr val="0F1B33"/>
                          </a:solidFill>
                          <a:latin typeface="DM Sans" pitchFamily="34" charset="0"/>
                          <a:ea typeface="DM Sans" pitchFamily="34" charset="-122"/>
                          <a:cs typeface="DM Sans" pitchFamily="34" charset="-120"/>
                        </a:rPr>
                        <a:t>Every investor, first SIP to HNI</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r>
              <a:tr h="568325">
                <a:tc>
                  <a:txBody>
                    <a:bodyPr/>
                    <a:lstStyle/>
                    <a:p>
                      <a:pPr indent="0" marL="0">
                        <a:lnSpc>
                          <a:spcPts val="1750"/>
                        </a:lnSpc>
                        <a:buNone/>
                      </a:pPr>
                      <a:r>
                        <a:rPr lang="en-US" sz="1250" dirty="0">
                          <a:solidFill>
                            <a:srgbClr val="0F1B33"/>
                          </a:solidFill>
                          <a:latin typeface="DM Sans" pitchFamily="34" charset="0"/>
                          <a:ea typeface="DM Sans" pitchFamily="34" charset="-122"/>
                          <a:cs typeface="DM Sans" pitchFamily="34" charset="-120"/>
                        </a:rPr>
                        <a:t>Pricing</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750"/>
                        </a:lnSpc>
                        <a:buNone/>
                      </a:pPr>
                      <a:r>
                        <a:rPr lang="en-US" sz="1250" dirty="0">
                          <a:solidFill>
                            <a:srgbClr val="334155"/>
                          </a:solidFill>
                          <a:latin typeface="DM Sans" pitchFamily="34" charset="0"/>
                          <a:ea typeface="DM Sans" pitchFamily="34" charset="-122"/>
                          <a:cs typeface="DM Sans" pitchFamily="34" charset="-120"/>
                        </a:rPr>
                        <a:t>Free, then premium tiers</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750"/>
                        </a:lnSpc>
                        <a:buNone/>
                      </a:pPr>
                      <a:r>
                        <a:rPr lang="en-US" sz="1250" dirty="0">
                          <a:solidFill>
                            <a:srgbClr val="334155"/>
                          </a:solidFill>
                          <a:latin typeface="DM Sans" pitchFamily="34" charset="0"/>
                          <a:ea typeface="DM Sans" pitchFamily="34" charset="-122"/>
                          <a:cs typeface="DM Sans" pitchFamily="34" charset="-120"/>
                        </a:rPr>
                        <a:t>~1.5–2% of assets</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750"/>
                        </a:lnSpc>
                        <a:buNone/>
                      </a:pPr>
                      <a:r>
                        <a:rPr lang="en-US" sz="1250" dirty="0">
                          <a:solidFill>
                            <a:srgbClr val="334155"/>
                          </a:solidFill>
                          <a:latin typeface="DM Sans" pitchFamily="34" charset="0"/>
                          <a:ea typeface="DM Sans" pitchFamily="34" charset="-122"/>
                          <a:cs typeface="DM Sans" pitchFamily="34" charset="-120"/>
                        </a:rPr>
                        <a:t>PMS/AIF fees, accredited only</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750"/>
                        </a:lnSpc>
                        <a:buNone/>
                      </a:pPr>
                      <a:r>
                        <a:rPr lang="en-US" sz="1250" dirty="0">
                          <a:solidFill>
                            <a:srgbClr val="334155"/>
                          </a:solidFill>
                          <a:latin typeface="DM Sans" pitchFamily="34" charset="0"/>
                          <a:ea typeface="DM Sans" pitchFamily="34" charset="-122"/>
                          <a:cs typeface="DM Sans" pitchFamily="34" charset="-120"/>
                        </a:rPr>
                        <a:t>Free, monetised via lending</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750"/>
                        </a:lnSpc>
                        <a:buNone/>
                      </a:pPr>
                      <a:r>
                        <a:rPr lang="en-US" sz="1250" dirty="0">
                          <a:solidFill>
                            <a:srgbClr val="0F1B33"/>
                          </a:solidFill>
                          <a:latin typeface="DM Sans" pitchFamily="34" charset="0"/>
                          <a:ea typeface="DM Sans" pitchFamily="34" charset="-122"/>
                          <a:cs typeface="DM Sans" pitchFamily="34" charset="-120"/>
                        </a:rPr>
                        <a:t>Flat ₹399–1,499 a month</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r>
              <a:tr h="568325">
                <a:tc>
                  <a:txBody>
                    <a:bodyPr/>
                    <a:lstStyle/>
                    <a:p>
                      <a:pPr indent="0" marL="0">
                        <a:lnSpc>
                          <a:spcPts val="1750"/>
                        </a:lnSpc>
                        <a:buNone/>
                      </a:pPr>
                      <a:r>
                        <a:rPr lang="en-US" sz="1250" dirty="0">
                          <a:solidFill>
                            <a:srgbClr val="0F1B33"/>
                          </a:solidFill>
                          <a:latin typeface="DM Sans" pitchFamily="34" charset="0"/>
                          <a:ea typeface="DM Sans" pitchFamily="34" charset="-122"/>
                          <a:cs typeface="DM Sans" pitchFamily="34" charset="-120"/>
                        </a:rPr>
                        <a:t>AI depth</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750"/>
                        </a:lnSpc>
                        <a:buNone/>
                      </a:pPr>
                      <a:r>
                        <a:rPr lang="en-US" sz="1250" dirty="0">
                          <a:solidFill>
                            <a:srgbClr val="334155"/>
                          </a:solidFill>
                          <a:latin typeface="DM Sans" pitchFamily="34" charset="0"/>
                          <a:ea typeface="DM Sans" pitchFamily="34" charset="-122"/>
                          <a:cs typeface="DM Sans" pitchFamily="34" charset="-120"/>
                        </a:rPr>
                        <a:t>Rule-based builder</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750"/>
                        </a:lnSpc>
                        <a:buNone/>
                      </a:pPr>
                      <a:r>
                        <a:rPr lang="en-US" sz="1250" dirty="0">
                          <a:solidFill>
                            <a:srgbClr val="334155"/>
                          </a:solidFill>
                          <a:latin typeface="DM Sans" pitchFamily="34" charset="0"/>
                          <a:ea typeface="DM Sans" pitchFamily="34" charset="-122"/>
                          <a:cs typeface="DM Sans" pitchFamily="34" charset="-120"/>
                        </a:rPr>
                        <a:t>ML factor models</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750"/>
                        </a:lnSpc>
                        <a:buNone/>
                      </a:pPr>
                      <a:r>
                        <a:rPr lang="en-US" sz="1250" dirty="0">
                          <a:solidFill>
                            <a:srgbClr val="334155"/>
                          </a:solidFill>
                          <a:latin typeface="DM Sans" pitchFamily="34" charset="0"/>
                          <a:ea typeface="DM Sans" pitchFamily="34" charset="-122"/>
                          <a:cs typeface="DM Sans" pitchFamily="34" charset="-120"/>
                        </a:rPr>
                        <a:t>Insights on synced MF history</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750"/>
                        </a:lnSpc>
                        <a:buNone/>
                      </a:pPr>
                      <a:r>
                        <a:rPr lang="en-US" sz="1250" dirty="0">
                          <a:solidFill>
                            <a:srgbClr val="334155"/>
                          </a:solidFill>
                          <a:latin typeface="DM Sans" pitchFamily="34" charset="0"/>
                          <a:ea typeface="DM Sans" pitchFamily="34" charset="-122"/>
                          <a:cs typeface="DM Sans" pitchFamily="34" charset="-120"/>
                        </a:rPr>
                        <a:t>Chat over fund scores</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750"/>
                        </a:lnSpc>
                        <a:buNone/>
                      </a:pPr>
                      <a:r>
                        <a:rPr lang="en-US" sz="1250" dirty="0">
                          <a:solidFill>
                            <a:srgbClr val="0F1B33"/>
                          </a:solidFill>
                          <a:latin typeface="DM Sans" pitchFamily="34" charset="0"/>
                          <a:ea typeface="DM Sans" pitchFamily="34" charset="-122"/>
                          <a:cs typeface="DM Sans" pitchFamily="34" charset="-120"/>
                        </a:rPr>
                        <a:t>70 engines, every figure verified</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r>
              <a:tr h="568325">
                <a:tc>
                  <a:txBody>
                    <a:bodyPr/>
                    <a:lstStyle/>
                    <a:p>
                      <a:pPr indent="0" marL="0">
                        <a:lnSpc>
                          <a:spcPts val="1750"/>
                        </a:lnSpc>
                        <a:buNone/>
                      </a:pPr>
                      <a:r>
                        <a:rPr lang="en-US" sz="1250" dirty="0">
                          <a:solidFill>
                            <a:srgbClr val="0F1B33"/>
                          </a:solidFill>
                          <a:latin typeface="DM Sans" pitchFamily="34" charset="0"/>
                          <a:ea typeface="DM Sans" pitchFamily="34" charset="-122"/>
                          <a:cs typeface="DM Sans" pitchFamily="34" charset="-120"/>
                        </a:rPr>
                        <a:t>Position</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750"/>
                        </a:lnSpc>
                        <a:buNone/>
                      </a:pPr>
                      <a:r>
                        <a:rPr lang="en-US" sz="1250" dirty="0">
                          <a:solidFill>
                            <a:srgbClr val="334155"/>
                          </a:solidFill>
                          <a:latin typeface="DM Sans" pitchFamily="34" charset="0"/>
                          <a:ea typeface="DM Sans" pitchFamily="34" charset="-122"/>
                          <a:cs typeface="DM Sans" pitchFamily="34" charset="-120"/>
                        </a:rPr>
                        <a:t>Systematic investing for DIY</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750"/>
                        </a:lnSpc>
                        <a:buNone/>
                      </a:pPr>
                      <a:r>
                        <a:rPr lang="en-US" sz="1250" dirty="0">
                          <a:solidFill>
                            <a:srgbClr val="334155"/>
                          </a:solidFill>
                          <a:latin typeface="DM Sans" pitchFamily="34" charset="0"/>
                          <a:ea typeface="DM Sans" pitchFamily="34" charset="-122"/>
                          <a:cs typeface="DM Sans" pitchFamily="34" charset="-120"/>
                        </a:rPr>
                        <a:t>AI robo-adviser</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750"/>
                        </a:lnSpc>
                        <a:buNone/>
                      </a:pPr>
                      <a:r>
                        <a:rPr lang="en-US" sz="1250" dirty="0">
                          <a:solidFill>
                            <a:srgbClr val="334155"/>
                          </a:solidFill>
                          <a:latin typeface="DM Sans" pitchFamily="34" charset="0"/>
                          <a:ea typeface="DM Sans" pitchFamily="34" charset="-122"/>
                          <a:cs typeface="DM Sans" pitchFamily="34" charset="-120"/>
                        </a:rPr>
                        <a:t>Angel One-backed, accredited</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750"/>
                        </a:lnSpc>
                        <a:buNone/>
                      </a:pPr>
                      <a:r>
                        <a:rPr lang="en-US" sz="1250" dirty="0">
                          <a:solidFill>
                            <a:srgbClr val="334155"/>
                          </a:solidFill>
                          <a:latin typeface="DM Sans" pitchFamily="34" charset="0"/>
                          <a:ea typeface="DM Sans" pitchFamily="34" charset="-122"/>
                          <a:cs typeface="DM Sans" pitchFamily="34" charset="-120"/>
                        </a:rPr>
                        <a:t>Review as a lending hook</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750"/>
                        </a:lnSpc>
                        <a:buNone/>
                      </a:pPr>
                      <a:r>
                        <a:rPr lang="en-US" sz="1250" dirty="0">
                          <a:solidFill>
                            <a:srgbClr val="0F1B33"/>
                          </a:solidFill>
                          <a:latin typeface="DM Sans" pitchFamily="34" charset="0"/>
                          <a:ea typeface="DM Sans" pitchFamily="34" charset="-122"/>
                          <a:cs typeface="DM Sans" pitchFamily="34" charset="-120"/>
                        </a:rPr>
                        <a:t>Diagnosis-first, conflict-free</a:t>
                      </a:r>
                      <a:endParaRPr lang="en-US" sz="1250" dirty="0">
                        <a:latin typeface="DM Sans" charset="0"/>
                        <a:ea typeface="DM Sans" charset="0"/>
                        <a:cs typeface="DM Sans" charset="0"/>
                      </a:endParaRPr>
                    </a:p>
                  </a:txBody>
                  <a:tcPr marL="55563" marR="55563" marT="55563" marB="5556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r>
            </a:tbl>
          </a:graphicData>
        </a:graphic>
      </p:graphicFrame>
      <p:sp>
        <p:nvSpPr>
          <p:cNvPr id="5" name="Text 2"/>
          <p:cNvSpPr/>
          <p:nvPr/>
        </p:nvSpPr>
        <p:spPr>
          <a:xfrm>
            <a:off x="812800" y="5134837"/>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5"/>
                </a:solidFill>
                <a:latin typeface="DM Sans" pitchFamily="34" charset="0"/>
                <a:ea typeface="DM Sans" pitchFamily="34" charset="-122"/>
                <a:cs typeface="DM Sans" pitchFamily="34" charset="-120"/>
              </a:rPr>
              <a:t>Dezerv (6 lakh+ users) is HNI-oriented, advisory-fee and relationship-manager-led — cited on the market slide as demand proof rather than as a direct comparable. Sources: company websites and public app listings, 2026.</a:t>
            </a:r>
            <a:endParaRPr lang="en-US" sz="1200" dirty="0"/>
          </a:p>
        </p:txBody>
      </p:sp>
      <p:pic>
        <p:nvPicPr>
          <p:cNvPr id="6" name="Image 0" descr="Nxance">    </p:cNvPr>
          <p:cNvPicPr>
            <a:picLocks noChangeAspect="1"/>
          </p:cNvPicPr>
          <p:nvPr/>
        </p:nvPicPr>
        <p:blipFill>
          <a:blip r:embed="rId1"/>
          <a:srcRect l="0" r="0" t="-227" b="-227"/>
          <a:stretch/>
        </p:blipFill>
        <p:spPr>
          <a:xfrm>
            <a:off x="812800" y="6267450"/>
            <a:ext cx="698500" cy="215900"/>
          </a:xfrm>
          <a:prstGeom prst="rect">
            <a:avLst/>
          </a:prstGeom>
        </p:spPr>
      </p:pic>
      <p:sp>
        <p:nvSpPr>
          <p:cNvPr id="7" name="Text 3"/>
          <p:cNvSpPr/>
          <p:nvPr/>
        </p:nvSpPr>
        <p:spPr>
          <a:xfrm>
            <a:off x="1638300" y="62382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5"/>
                </a:solidFill>
                <a:latin typeface="DM Sans" pitchFamily="34" charset="0"/>
                <a:ea typeface="DM Sans" pitchFamily="34" charset="-122"/>
                <a:cs typeface="DM Sans" pitchFamily="34" charset="-120"/>
              </a:rPr>
              <a:t>Ohshn Intelligence LLP</a:t>
            </a:r>
            <a:endParaRPr lang="en-US" sz="1200" dirty="0"/>
          </a:p>
        </p:txBody>
      </p:sp>
      <p:sp>
        <p:nvSpPr>
          <p:cNvPr id="8" name="Text 4"/>
          <p:cNvSpPr/>
          <p:nvPr/>
        </p:nvSpPr>
        <p:spPr>
          <a:xfrm>
            <a:off x="10439400" y="623828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3A5"/>
                </a:solidFill>
                <a:latin typeface="DM Sans" pitchFamily="34" charset="0"/>
                <a:ea typeface="DM Sans" pitchFamily="34" charset="-122"/>
                <a:cs typeface="DM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FE0"/>
                </a:solidFill>
                <a:latin typeface="Lexend" pitchFamily="34" charset="0"/>
                <a:ea typeface="Lexend" pitchFamily="34" charset="-122"/>
                <a:cs typeface="Lexend" pitchFamily="34" charset="-120"/>
              </a:rPr>
              <a:t>MARKET</a:t>
            </a:r>
            <a:endParaRPr lang="en-US" sz="1200" dirty="0"/>
          </a:p>
        </p:txBody>
      </p:sp>
      <p:sp>
        <p:nvSpPr>
          <p:cNvPr id="3" name="Text 1"/>
          <p:cNvSpPr/>
          <p:nvPr/>
        </p:nvSpPr>
        <p:spPr>
          <a:xfrm>
            <a:off x="812800" y="1153120"/>
            <a:ext cx="10203180" cy="401770"/>
          </a:xfrm>
          <a:prstGeom prst="rect">
            <a:avLst/>
          </a:prstGeom>
          <a:noFill/>
          <a:ln/>
        </p:spPr>
        <p:txBody>
          <a:bodyPr wrap="square" lIns="0" tIns="0" rIns="0" bIns="0" rtlCol="0" anchor="t">
            <a:normAutofit/>
          </a:bodyPr>
          <a:lstStyle/>
          <a:p>
            <a:pPr algn="l" indent="0" marL="0">
              <a:lnSpc>
                <a:spcPts val="2964"/>
              </a:lnSpc>
              <a:buNone/>
            </a:pPr>
            <a:r>
              <a:rPr lang="en-US" sz="2600" b="1" dirty="0">
                <a:solidFill>
                  <a:srgbClr val="0F1B33"/>
                </a:solidFill>
                <a:latin typeface="Geologica" pitchFamily="34" charset="0"/>
                <a:ea typeface="Geologica" pitchFamily="34" charset="-122"/>
                <a:cs typeface="Geologica" pitchFamily="34" charset="-120"/>
              </a:rPr>
              <a:t>Sized as a fee pool, not a pile of assets.</a:t>
            </a:r>
            <a:endParaRPr lang="en-US" sz="2600" dirty="0"/>
          </a:p>
        </p:txBody>
      </p:sp>
      <p:sp>
        <p:nvSpPr>
          <p:cNvPr id="4" name="Text 2"/>
          <p:cNvSpPr/>
          <p:nvPr/>
        </p:nvSpPr>
        <p:spPr>
          <a:xfrm>
            <a:off x="812800" y="1656494"/>
            <a:ext cx="10203180" cy="292365"/>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4A5568"/>
                </a:solidFill>
                <a:latin typeface="DM Sans" pitchFamily="34" charset="0"/>
                <a:ea typeface="DM Sans" pitchFamily="34" charset="-122"/>
                <a:cs typeface="DM Sans" pitchFamily="34" charset="-120"/>
              </a:rPr>
              <a:t>Subscription, AUA or licensing — all three are revenue per rupee of assets influenced.</a:t>
            </a:r>
            <a:endParaRPr lang="en-US" sz="1450" dirty="0"/>
          </a:p>
        </p:txBody>
      </p:sp>
      <p:sp>
        <p:nvSpPr>
          <p:cNvPr id="5" name="Shape 3"/>
          <p:cNvSpPr/>
          <p:nvPr/>
        </p:nvSpPr>
        <p:spPr>
          <a:xfrm>
            <a:off x="815975" y="2053630"/>
            <a:ext cx="3400028" cy="2519759"/>
          </a:xfrm>
          <a:prstGeom prst="roundRect">
            <a:avLst>
              <a:gd name="adj" fmla="val 3906"/>
            </a:avLst>
          </a:prstGeom>
          <a:solidFill>
            <a:srgbClr val="FFFFFF"/>
          </a:solidFill>
          <a:ln w="6350">
            <a:solidFill>
              <a:srgbClr val="DCE3F0"/>
            </a:solidFill>
            <a:prstDash val="solid"/>
          </a:ln>
        </p:spPr>
      </p:sp>
      <p:sp>
        <p:nvSpPr>
          <p:cNvPr id="6" name="Text 4"/>
          <p:cNvSpPr/>
          <p:nvPr/>
        </p:nvSpPr>
        <p:spPr>
          <a:xfrm>
            <a:off x="1007533" y="2245190"/>
            <a:ext cx="310741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FE0"/>
                </a:solidFill>
                <a:latin typeface="Lexend" pitchFamily="34" charset="0"/>
                <a:ea typeface="Lexend" pitchFamily="34" charset="-122"/>
                <a:cs typeface="Lexend" pitchFamily="34" charset="-120"/>
              </a:rPr>
              <a:t>TAM · EVERY INSTRUMENT</a:t>
            </a:r>
            <a:endParaRPr lang="en-US" sz="1200" dirty="0"/>
          </a:p>
        </p:txBody>
      </p:sp>
      <p:sp>
        <p:nvSpPr>
          <p:cNvPr id="7" name="Text 5"/>
          <p:cNvSpPr/>
          <p:nvPr/>
        </p:nvSpPr>
        <p:spPr>
          <a:xfrm>
            <a:off x="1007533" y="2509310"/>
            <a:ext cx="3107419" cy="388871"/>
          </a:xfrm>
          <a:prstGeom prst="rect">
            <a:avLst/>
          </a:prstGeom>
          <a:noFill/>
          <a:ln/>
        </p:spPr>
        <p:txBody>
          <a:bodyPr wrap="square" lIns="0" tIns="0" rIns="0" bIns="0" rtlCol="0" anchor="t">
            <a:normAutofit/>
          </a:bodyPr>
          <a:lstStyle/>
          <a:p>
            <a:pPr algn="l" indent="0" marL="0">
              <a:lnSpc>
                <a:spcPts val="2862"/>
              </a:lnSpc>
              <a:buNone/>
            </a:pPr>
            <a:r>
              <a:rPr lang="en-US" sz="2700" b="1" dirty="0">
                <a:solidFill>
                  <a:srgbClr val="0F1B33"/>
                </a:solidFill>
                <a:latin typeface="Geologica" pitchFamily="34" charset="0"/>
                <a:ea typeface="Geologica" pitchFamily="34" charset="-122"/>
                <a:cs typeface="Geologica" pitchFamily="34" charset="-120"/>
              </a:rPr>
              <a:t>₹68,500 Cr</a:t>
            </a:r>
            <a:endParaRPr lang="en-US" sz="2700" dirty="0"/>
          </a:p>
        </p:txBody>
      </p:sp>
      <p:sp>
        <p:nvSpPr>
          <p:cNvPr id="8" name="Text 6"/>
          <p:cNvSpPr/>
          <p:nvPr/>
        </p:nvSpPr>
        <p:spPr>
          <a:xfrm>
            <a:off x="1007533" y="2923580"/>
            <a:ext cx="3107419"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A93A5"/>
                </a:solidFill>
                <a:latin typeface="DM Sans" pitchFamily="34" charset="0"/>
                <a:ea typeface="DM Sans" pitchFamily="34" charset="-122"/>
                <a:cs typeface="DM Sans" pitchFamily="34" charset="-120"/>
              </a:rPr>
              <a:t>a year · ~US$7.1 bn</a:t>
            </a:r>
            <a:endParaRPr lang="en-US" sz="1200" dirty="0"/>
          </a:p>
        </p:txBody>
      </p:sp>
      <p:sp>
        <p:nvSpPr>
          <p:cNvPr id="9" name="Text 7"/>
          <p:cNvSpPr/>
          <p:nvPr/>
        </p:nvSpPr>
        <p:spPr>
          <a:xfrm>
            <a:off x="1007533" y="3230897"/>
            <a:ext cx="3107419" cy="1176338"/>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334155"/>
                </a:solidFill>
                <a:latin typeface="DM Sans" pitchFamily="34" charset="0"/>
                <a:ea typeface="DM Sans" pitchFamily="34" charset="-122"/>
                <a:cs typeface="DM Sans" pitchFamily="34" charset="-120"/>
              </a:rPr>
              <a:t>Every digitally held instrument an Indian can own — ₹80.3 L Cr in funds, ₹66.6 L Cr in listed equity, ₹11.3 L Cr in AIFs, REITs, InvITs and gold bonds — at 50 bps, 15 on treasury.</a:t>
            </a:r>
            <a:endParaRPr lang="en-US" sz="1250" dirty="0"/>
          </a:p>
        </p:txBody>
      </p:sp>
      <p:sp>
        <p:nvSpPr>
          <p:cNvPr id="10" name="Shape 8"/>
          <p:cNvSpPr/>
          <p:nvPr/>
        </p:nvSpPr>
        <p:spPr>
          <a:xfrm>
            <a:off x="4400153" y="2053630"/>
            <a:ext cx="3400094" cy="2519759"/>
          </a:xfrm>
          <a:prstGeom prst="roundRect">
            <a:avLst>
              <a:gd name="adj" fmla="val 3906"/>
            </a:avLst>
          </a:prstGeom>
          <a:solidFill>
            <a:srgbClr val="FFFFFF"/>
          </a:solidFill>
          <a:ln w="6350">
            <a:solidFill>
              <a:srgbClr val="DCE3F0"/>
            </a:solidFill>
            <a:prstDash val="solid"/>
          </a:ln>
        </p:spPr>
      </p:sp>
      <p:sp>
        <p:nvSpPr>
          <p:cNvPr id="11" name="Text 9"/>
          <p:cNvSpPr/>
          <p:nvPr/>
        </p:nvSpPr>
        <p:spPr>
          <a:xfrm>
            <a:off x="4591712" y="2245190"/>
            <a:ext cx="310748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FE0"/>
                </a:solidFill>
                <a:latin typeface="Lexend" pitchFamily="34" charset="0"/>
                <a:ea typeface="Lexend" pitchFamily="34" charset="-122"/>
                <a:cs typeface="Lexend" pitchFamily="34" charset="-120"/>
              </a:rPr>
              <a:t>SAM · ACTIVE MONEY ONLY</a:t>
            </a:r>
            <a:endParaRPr lang="en-US" sz="1200" dirty="0"/>
          </a:p>
        </p:txBody>
      </p:sp>
      <p:sp>
        <p:nvSpPr>
          <p:cNvPr id="12" name="Text 10"/>
          <p:cNvSpPr/>
          <p:nvPr/>
        </p:nvSpPr>
        <p:spPr>
          <a:xfrm>
            <a:off x="4591712" y="2509310"/>
            <a:ext cx="3107487" cy="388871"/>
          </a:xfrm>
          <a:prstGeom prst="rect">
            <a:avLst/>
          </a:prstGeom>
          <a:noFill/>
          <a:ln/>
        </p:spPr>
        <p:txBody>
          <a:bodyPr wrap="square" lIns="0" tIns="0" rIns="0" bIns="0" rtlCol="0" anchor="t">
            <a:normAutofit/>
          </a:bodyPr>
          <a:lstStyle/>
          <a:p>
            <a:pPr algn="l" indent="0" marL="0">
              <a:lnSpc>
                <a:spcPts val="2862"/>
              </a:lnSpc>
              <a:buNone/>
            </a:pPr>
            <a:r>
              <a:rPr lang="en-US" sz="2700" b="1" dirty="0">
                <a:solidFill>
                  <a:srgbClr val="0F1B33"/>
                </a:solidFill>
                <a:latin typeface="Geologica" pitchFamily="34" charset="0"/>
                <a:ea typeface="Geologica" pitchFamily="34" charset="-122"/>
                <a:cs typeface="Geologica" pitchFamily="34" charset="-120"/>
              </a:rPr>
              <a:t>₹41,200 Cr</a:t>
            </a:r>
            <a:endParaRPr lang="en-US" sz="2700" dirty="0"/>
          </a:p>
        </p:txBody>
      </p:sp>
      <p:sp>
        <p:nvSpPr>
          <p:cNvPr id="13" name="Text 11"/>
          <p:cNvSpPr/>
          <p:nvPr/>
        </p:nvSpPr>
        <p:spPr>
          <a:xfrm>
            <a:off x="4591712" y="2923580"/>
            <a:ext cx="310748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A93A5"/>
                </a:solidFill>
                <a:latin typeface="DM Sans" pitchFamily="34" charset="0"/>
                <a:ea typeface="DM Sans" pitchFamily="34" charset="-122"/>
                <a:cs typeface="DM Sans" pitchFamily="34" charset="-120"/>
              </a:rPr>
              <a:t>a year · ~US$4.3 bn</a:t>
            </a:r>
            <a:endParaRPr lang="en-US" sz="1200" dirty="0"/>
          </a:p>
        </p:txBody>
      </p:sp>
      <p:sp>
        <p:nvSpPr>
          <p:cNvPr id="14" name="Text 12"/>
          <p:cNvSpPr/>
          <p:nvPr/>
        </p:nvSpPr>
        <p:spPr>
          <a:xfrm>
            <a:off x="4591712" y="3230897"/>
            <a:ext cx="3107487" cy="1176338"/>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334155"/>
                </a:solidFill>
                <a:latin typeface="DM Sans" pitchFamily="34" charset="0"/>
                <a:ea typeface="DM Sans" pitchFamily="34" charset="-122"/>
                <a:cs typeface="DM Sans" pitchFamily="34" charset="-120"/>
              </a:rPr>
              <a:t>Dormant money stripped out. Only the 4.60 crore who actually transact, the trusts and investment companies already buying advice, and treasury a B2B motion can reach.</a:t>
            </a:r>
            <a:endParaRPr lang="en-US" sz="1250" dirty="0"/>
          </a:p>
        </p:txBody>
      </p:sp>
      <p:sp>
        <p:nvSpPr>
          <p:cNvPr id="15" name="Shape 13"/>
          <p:cNvSpPr/>
          <p:nvPr/>
        </p:nvSpPr>
        <p:spPr>
          <a:xfrm>
            <a:off x="7981223" y="2050455"/>
            <a:ext cx="3397978" cy="2526109"/>
          </a:xfrm>
          <a:prstGeom prst="roundRect">
            <a:avLst>
              <a:gd name="adj" fmla="val 4022"/>
            </a:avLst>
          </a:prstGeom>
          <a:solidFill>
            <a:srgbClr val="0F1B33"/>
          </a:solidFill>
          <a:ln/>
        </p:spPr>
      </p:sp>
      <p:sp>
        <p:nvSpPr>
          <p:cNvPr id="16" name="Text 14"/>
          <p:cNvSpPr/>
          <p:nvPr/>
        </p:nvSpPr>
        <p:spPr>
          <a:xfrm>
            <a:off x="8171723" y="2240955"/>
            <a:ext cx="310748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A8FF"/>
                </a:solidFill>
                <a:latin typeface="Lexend" pitchFamily="34" charset="0"/>
                <a:ea typeface="Lexend" pitchFamily="34" charset="-122"/>
                <a:cs typeface="Lexend" pitchFamily="34" charset="-120"/>
              </a:rPr>
              <a:t>SOM · WHAT WE CAN COVER</a:t>
            </a:r>
            <a:endParaRPr lang="en-US" sz="1200" dirty="0"/>
          </a:p>
        </p:txBody>
      </p:sp>
      <p:sp>
        <p:nvSpPr>
          <p:cNvPr id="17" name="Text 15"/>
          <p:cNvSpPr/>
          <p:nvPr/>
        </p:nvSpPr>
        <p:spPr>
          <a:xfrm>
            <a:off x="8171723" y="2505075"/>
            <a:ext cx="3107487" cy="388871"/>
          </a:xfrm>
          <a:prstGeom prst="rect">
            <a:avLst/>
          </a:prstGeom>
          <a:noFill/>
          <a:ln/>
        </p:spPr>
        <p:txBody>
          <a:bodyPr wrap="square" lIns="0" tIns="0" rIns="0" bIns="0" rtlCol="0" anchor="t">
            <a:normAutofit/>
          </a:bodyPr>
          <a:lstStyle/>
          <a:p>
            <a:pPr algn="l" indent="0" marL="0">
              <a:lnSpc>
                <a:spcPts val="2862"/>
              </a:lnSpc>
              <a:buNone/>
            </a:pPr>
            <a:r>
              <a:rPr lang="en-US" sz="2700" b="1" dirty="0">
                <a:solidFill>
                  <a:srgbClr val="FFFFFF"/>
                </a:solidFill>
                <a:latin typeface="Geologica" pitchFamily="34" charset="0"/>
                <a:ea typeface="Geologica" pitchFamily="34" charset="-122"/>
                <a:cs typeface="Geologica" pitchFamily="34" charset="-120"/>
              </a:rPr>
              <a:t>₹165 Cr</a:t>
            </a:r>
            <a:endParaRPr lang="en-US" sz="2700" dirty="0"/>
          </a:p>
        </p:txBody>
      </p:sp>
      <p:sp>
        <p:nvSpPr>
          <p:cNvPr id="18" name="Text 16"/>
          <p:cNvSpPr/>
          <p:nvPr/>
        </p:nvSpPr>
        <p:spPr>
          <a:xfrm>
            <a:off x="8171723" y="2919350"/>
            <a:ext cx="310748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092B0"/>
                </a:solidFill>
                <a:latin typeface="DM Sans" pitchFamily="34" charset="0"/>
                <a:ea typeface="DM Sans" pitchFamily="34" charset="-122"/>
                <a:cs typeface="DM Sans" pitchFamily="34" charset="-120"/>
              </a:rPr>
              <a:t>ARR · ~US$17 mn</a:t>
            </a:r>
            <a:endParaRPr lang="en-US" sz="1200" dirty="0"/>
          </a:p>
        </p:txBody>
      </p:sp>
      <p:sp>
        <p:nvSpPr>
          <p:cNvPr id="19" name="Text 17"/>
          <p:cNvSpPr/>
          <p:nvPr/>
        </p:nvSpPr>
        <p:spPr>
          <a:xfrm>
            <a:off x="8171723" y="3465314"/>
            <a:ext cx="3107487" cy="946150"/>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D6DEEC"/>
                </a:solidFill>
                <a:latin typeface="DM Sans" pitchFamily="34" charset="0"/>
                <a:ea typeface="DM Sans" pitchFamily="34" charset="-122"/>
                <a:cs typeface="DM Sans" pitchFamily="34" charset="-120"/>
              </a:rPr>
              <a:t>Coverage, not ambition: what the funded team and channels can serve by year five — 2.1 lakh subscribers, ₹33,000 Cr advised, or 66 licensees. 0.4% of SAM.</a:t>
            </a:r>
            <a:endParaRPr lang="en-US" sz="1250" dirty="0"/>
          </a:p>
        </p:txBody>
      </p:sp>
      <p:sp>
        <p:nvSpPr>
          <p:cNvPr id="20" name="Text 18"/>
          <p:cNvSpPr/>
          <p:nvPr/>
        </p:nvSpPr>
        <p:spPr>
          <a:xfrm>
            <a:off x="812800" y="488890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FE0"/>
                </a:solidFill>
                <a:latin typeface="Lexend" pitchFamily="34" charset="0"/>
                <a:ea typeface="Lexend" pitchFamily="34" charset="-122"/>
                <a:cs typeface="Lexend" pitchFamily="34" charset="-120"/>
              </a:rPr>
              <a:t>WHAT THE ₹158 LAKH CRORE IS INVESTED IN</a:t>
            </a:r>
            <a:endParaRPr lang="en-US" sz="1200" dirty="0"/>
          </a:p>
        </p:txBody>
      </p:sp>
      <p:sp>
        <p:nvSpPr>
          <p:cNvPr id="21" name="Shape 19"/>
          <p:cNvSpPr/>
          <p:nvPr/>
        </p:nvSpPr>
        <p:spPr>
          <a:xfrm>
            <a:off x="812800" y="5229225"/>
            <a:ext cx="3351477" cy="279400"/>
          </a:xfrm>
          <a:prstGeom prst="roundRect">
            <a:avLst>
              <a:gd name="adj" fmla="val 18182"/>
            </a:avLst>
          </a:prstGeom>
          <a:solidFill>
            <a:srgbClr val="2F5FE0"/>
          </a:solidFill>
          <a:ln/>
        </p:spPr>
      </p:sp>
      <p:sp>
        <p:nvSpPr>
          <p:cNvPr id="22" name="Shape 20"/>
          <p:cNvSpPr/>
          <p:nvPr/>
        </p:nvSpPr>
        <p:spPr>
          <a:xfrm>
            <a:off x="4189677" y="5229225"/>
            <a:ext cx="3351543" cy="279400"/>
          </a:xfrm>
          <a:prstGeom prst="rect">
            <a:avLst/>
          </a:prstGeom>
          <a:solidFill>
            <a:srgbClr val="5E93EE"/>
          </a:solidFill>
          <a:ln/>
        </p:spPr>
      </p:sp>
      <p:sp>
        <p:nvSpPr>
          <p:cNvPr id="23" name="Shape 21"/>
          <p:cNvSpPr/>
          <p:nvPr/>
        </p:nvSpPr>
        <p:spPr>
          <a:xfrm>
            <a:off x="7566620" y="5229225"/>
            <a:ext cx="2346060" cy="279400"/>
          </a:xfrm>
          <a:prstGeom prst="rect">
            <a:avLst/>
          </a:prstGeom>
          <a:solidFill>
            <a:srgbClr val="8FB6FF"/>
          </a:solidFill>
          <a:ln/>
        </p:spPr>
      </p:sp>
      <p:sp>
        <p:nvSpPr>
          <p:cNvPr id="24" name="Shape 22"/>
          <p:cNvSpPr/>
          <p:nvPr/>
        </p:nvSpPr>
        <p:spPr>
          <a:xfrm>
            <a:off x="9938081" y="5229225"/>
            <a:ext cx="1441119" cy="279400"/>
          </a:xfrm>
          <a:prstGeom prst="roundRect">
            <a:avLst>
              <a:gd name="adj" fmla="val 18182"/>
            </a:avLst>
          </a:prstGeom>
          <a:solidFill>
            <a:srgbClr val="C3D6FC"/>
          </a:solidFill>
          <a:ln/>
        </p:spPr>
      </p:sp>
      <p:sp>
        <p:nvSpPr>
          <p:cNvPr id="25" name="Shape 23"/>
          <p:cNvSpPr/>
          <p:nvPr/>
        </p:nvSpPr>
        <p:spPr>
          <a:xfrm>
            <a:off x="812800" y="5694363"/>
            <a:ext cx="88900" cy="88900"/>
          </a:xfrm>
          <a:prstGeom prst="roundRect">
            <a:avLst>
              <a:gd name="adj" fmla="val 21429"/>
            </a:avLst>
          </a:prstGeom>
          <a:solidFill>
            <a:srgbClr val="2F5FE0"/>
          </a:solidFill>
          <a:ln/>
        </p:spPr>
      </p:sp>
      <p:sp>
        <p:nvSpPr>
          <p:cNvPr id="26" name="Text 24"/>
          <p:cNvSpPr/>
          <p:nvPr/>
        </p:nvSpPr>
        <p:spPr>
          <a:xfrm>
            <a:off x="977900" y="5635625"/>
            <a:ext cx="1475449" cy="23177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4A5568"/>
                </a:solidFill>
                <a:latin typeface="DM Sans" pitchFamily="34" charset="0"/>
                <a:ea typeface="DM Sans" pitchFamily="34" charset="-122"/>
                <a:cs typeface="DM Sans" pitchFamily="34" charset="-120"/>
              </a:rPr>
              <a:t>Mutual funds ₹80.3</a:t>
            </a:r>
            <a:endParaRPr lang="en-US" sz="1250" dirty="0"/>
          </a:p>
        </p:txBody>
      </p:sp>
      <p:sp>
        <p:nvSpPr>
          <p:cNvPr id="27" name="Shape 25"/>
          <p:cNvSpPr/>
          <p:nvPr/>
        </p:nvSpPr>
        <p:spPr>
          <a:xfrm>
            <a:off x="3492500" y="5694363"/>
            <a:ext cx="88900" cy="88900"/>
          </a:xfrm>
          <a:prstGeom prst="roundRect">
            <a:avLst>
              <a:gd name="adj" fmla="val 21429"/>
            </a:avLst>
          </a:prstGeom>
          <a:solidFill>
            <a:srgbClr val="5E93EE"/>
          </a:solidFill>
          <a:ln/>
        </p:spPr>
      </p:sp>
      <p:sp>
        <p:nvSpPr>
          <p:cNvPr id="28" name="Text 26"/>
          <p:cNvSpPr/>
          <p:nvPr/>
        </p:nvSpPr>
        <p:spPr>
          <a:xfrm>
            <a:off x="3657600" y="5635625"/>
            <a:ext cx="1473200" cy="23177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4A5568"/>
                </a:solidFill>
                <a:latin typeface="DM Sans" pitchFamily="34" charset="0"/>
                <a:ea typeface="DM Sans" pitchFamily="34" charset="-122"/>
                <a:cs typeface="DM Sans" pitchFamily="34" charset="-120"/>
              </a:rPr>
              <a:t>Listed equity ₹66.6</a:t>
            </a:r>
            <a:endParaRPr lang="en-US" sz="1250" dirty="0"/>
          </a:p>
        </p:txBody>
      </p:sp>
      <p:sp>
        <p:nvSpPr>
          <p:cNvPr id="29" name="Shape 27"/>
          <p:cNvSpPr/>
          <p:nvPr/>
        </p:nvSpPr>
        <p:spPr>
          <a:xfrm>
            <a:off x="6172200" y="5694363"/>
            <a:ext cx="88900" cy="88900"/>
          </a:xfrm>
          <a:prstGeom prst="roundRect">
            <a:avLst>
              <a:gd name="adj" fmla="val 21429"/>
            </a:avLst>
          </a:prstGeom>
          <a:solidFill>
            <a:srgbClr val="8FB6FF"/>
          </a:solidFill>
          <a:ln/>
        </p:spPr>
      </p:sp>
      <p:sp>
        <p:nvSpPr>
          <p:cNvPr id="30" name="Text 28"/>
          <p:cNvSpPr/>
          <p:nvPr/>
        </p:nvSpPr>
        <p:spPr>
          <a:xfrm>
            <a:off x="6337300" y="5635625"/>
            <a:ext cx="1004425" cy="23177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4A5568"/>
                </a:solidFill>
                <a:latin typeface="DM Sans" pitchFamily="34" charset="0"/>
                <a:ea typeface="DM Sans" pitchFamily="34" charset="-122"/>
                <a:cs typeface="DM Sans" pitchFamily="34" charset="-120"/>
              </a:rPr>
              <a:t>AIFs I–III ₹7.0</a:t>
            </a:r>
            <a:endParaRPr lang="en-US" sz="1250" dirty="0"/>
          </a:p>
        </p:txBody>
      </p:sp>
      <p:sp>
        <p:nvSpPr>
          <p:cNvPr id="31" name="Shape 29"/>
          <p:cNvSpPr/>
          <p:nvPr/>
        </p:nvSpPr>
        <p:spPr>
          <a:xfrm>
            <a:off x="8851900" y="5694363"/>
            <a:ext cx="88900" cy="88900"/>
          </a:xfrm>
          <a:prstGeom prst="roundRect">
            <a:avLst>
              <a:gd name="adj" fmla="val 21429"/>
            </a:avLst>
          </a:prstGeom>
          <a:solidFill>
            <a:srgbClr val="C3D6FC"/>
          </a:solidFill>
          <a:ln/>
        </p:spPr>
      </p:sp>
      <p:sp>
        <p:nvSpPr>
          <p:cNvPr id="32" name="Text 30"/>
          <p:cNvSpPr/>
          <p:nvPr/>
        </p:nvSpPr>
        <p:spPr>
          <a:xfrm>
            <a:off x="9017000" y="5635625"/>
            <a:ext cx="1730375" cy="23177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4A5568"/>
                </a:solidFill>
                <a:latin typeface="DM Sans" pitchFamily="34" charset="0"/>
                <a:ea typeface="DM Sans" pitchFamily="34" charset="-122"/>
                <a:cs typeface="DM Sans" pitchFamily="34" charset="-120"/>
              </a:rPr>
              <a:t>REITs, InvITs, SGBs ₹4.3</a:t>
            </a:r>
            <a:endParaRPr lang="en-US" sz="1250" dirty="0"/>
          </a:p>
        </p:txBody>
      </p:sp>
      <p:sp>
        <p:nvSpPr>
          <p:cNvPr id="33" name="Text 31"/>
          <p:cNvSpPr/>
          <p:nvPr/>
        </p:nvSpPr>
        <p:spPr>
          <a:xfrm>
            <a:off x="812800" y="5991889"/>
            <a:ext cx="10883392"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A93A5"/>
                </a:solidFill>
                <a:latin typeface="DM Sans" pitchFamily="34" charset="0"/>
                <a:ea typeface="DM Sans" pitchFamily="34" charset="-122"/>
                <a:cs typeface="DM Sans" pitchFamily="34" charset="-120"/>
              </a:rPr>
              <a:t>Amounts in ₹ lakh crore. NSE Ownership Tracker Q1 FY26 · AMFI Feb 2026 · SEBI · RBI. Promoter stakes, institutions and PMS excluded.</a:t>
            </a:r>
            <a:endParaRPr lang="en-US" sz="1200" dirty="0"/>
          </a:p>
        </p:txBody>
      </p:sp>
      <p:pic>
        <p:nvPicPr>
          <p:cNvPr id="34" name="Image 0" descr="Nxance">    </p:cNvPr>
          <p:cNvPicPr>
            <a:picLocks noChangeAspect="1"/>
          </p:cNvPicPr>
          <p:nvPr/>
        </p:nvPicPr>
        <p:blipFill>
          <a:blip r:embed="rId1"/>
          <a:srcRect l="0" r="0" t="-227" b="-227"/>
          <a:stretch/>
        </p:blipFill>
        <p:spPr>
          <a:xfrm>
            <a:off x="812800" y="6267450"/>
            <a:ext cx="698500" cy="215900"/>
          </a:xfrm>
          <a:prstGeom prst="rect">
            <a:avLst/>
          </a:prstGeom>
        </p:spPr>
      </p:pic>
      <p:sp>
        <p:nvSpPr>
          <p:cNvPr id="35" name="Text 32"/>
          <p:cNvSpPr/>
          <p:nvPr/>
        </p:nvSpPr>
        <p:spPr>
          <a:xfrm>
            <a:off x="1638300" y="62382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5"/>
                </a:solidFill>
                <a:latin typeface="DM Sans" pitchFamily="34" charset="0"/>
                <a:ea typeface="DM Sans" pitchFamily="34" charset="-122"/>
                <a:cs typeface="DM Sans" pitchFamily="34" charset="-120"/>
              </a:rPr>
              <a:t>Ohshn Intelligence LLP</a:t>
            </a:r>
            <a:endParaRPr lang="en-US" sz="1200" dirty="0"/>
          </a:p>
        </p:txBody>
      </p:sp>
      <p:sp>
        <p:nvSpPr>
          <p:cNvPr id="36" name="Text 33"/>
          <p:cNvSpPr/>
          <p:nvPr/>
        </p:nvSpPr>
        <p:spPr>
          <a:xfrm>
            <a:off x="10439400" y="623828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3A5"/>
                </a:solidFill>
                <a:latin typeface="DM Sans" pitchFamily="34" charset="0"/>
                <a:ea typeface="DM Sans" pitchFamily="34" charset="-122"/>
                <a:cs typeface="DM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FE0"/>
                </a:solidFill>
                <a:latin typeface="Lexend" pitchFamily="34" charset="0"/>
                <a:ea typeface="Lexend" pitchFamily="34" charset="-122"/>
                <a:cs typeface="Lexend" pitchFamily="34" charset="-120"/>
              </a:rPr>
              <a:t>BUSINESS MODEL</a:t>
            </a:r>
            <a:endParaRPr lang="en-US" sz="1200" dirty="0"/>
          </a:p>
        </p:txBody>
      </p:sp>
      <p:sp>
        <p:nvSpPr>
          <p:cNvPr id="3" name="Text 1"/>
          <p:cNvSpPr/>
          <p:nvPr/>
        </p:nvSpPr>
        <p:spPr>
          <a:xfrm>
            <a:off x="812800" y="1203920"/>
            <a:ext cx="10203180" cy="401770"/>
          </a:xfrm>
          <a:prstGeom prst="rect">
            <a:avLst/>
          </a:prstGeom>
          <a:noFill/>
          <a:ln/>
        </p:spPr>
        <p:txBody>
          <a:bodyPr wrap="square" lIns="0" tIns="0" rIns="0" bIns="0" rtlCol="0" anchor="t">
            <a:normAutofit/>
          </a:bodyPr>
          <a:lstStyle/>
          <a:p>
            <a:pPr algn="l" indent="0" marL="0">
              <a:lnSpc>
                <a:spcPts val="2964"/>
              </a:lnSpc>
              <a:buNone/>
            </a:pPr>
            <a:r>
              <a:rPr lang="en-US" sz="2600" b="1" dirty="0">
                <a:solidFill>
                  <a:srgbClr val="0F1B33"/>
                </a:solidFill>
                <a:latin typeface="Geologica" pitchFamily="34" charset="0"/>
                <a:ea typeface="Geologica" pitchFamily="34" charset="-122"/>
                <a:cs typeface="Geologica" pitchFamily="34" charset="-120"/>
              </a:rPr>
              <a:t>Free diagnosis, ₹99 to unlock it, then a subscription.</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758094"/>
          <a:ext cx="10566400" cy="2155825"/>
        </p:xfrm>
        <a:graphic>
          <a:graphicData uri="http://schemas.openxmlformats.org/drawingml/2006/table">
            <a:tbl>
              <a:tblPr/>
              <a:tblGrid>
                <a:gridCol w="2535936"/>
                <a:gridCol w="1690624"/>
                <a:gridCol w="6339840"/>
              </a:tblGrid>
              <a:tr h="359304">
                <a:tc>
                  <a:txBody>
                    <a:bodyPr/>
                    <a:lstStyle/>
                    <a:p>
                      <a:pPr indent="0" marL="0">
                        <a:lnSpc>
                          <a:spcPts val="1820"/>
                        </a:lnSpc>
                        <a:buNone/>
                      </a:pPr>
                      <a:r>
                        <a:rPr lang="en-US" sz="1300" b="1" dirty="0">
                          <a:solidFill>
                            <a:srgbClr val="FFFFFF"/>
                          </a:solidFill>
                          <a:latin typeface="DM Sans" pitchFamily="34" charset="0"/>
                          <a:ea typeface="DM Sans" pitchFamily="34" charset="-122"/>
                          <a:cs typeface="DM Sans" pitchFamily="34" charset="-120"/>
                        </a:rPr>
                        <a:t>Tier</a:t>
                      </a:r>
                      <a:endParaRPr lang="en-US" sz="1300" dirty="0">
                        <a:latin typeface="DM Sans" charset="0"/>
                        <a:ea typeface="DM Sans" charset="0"/>
                        <a:cs typeface="DM Sans" charset="0"/>
                      </a:endParaRPr>
                    </a:p>
                  </a:txBody>
                  <a:tcPr marL="57785" marR="57785" marT="57785" marB="57785"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0F1B33"/>
                    </a:solidFill>
                  </a:tcPr>
                </a:tc>
                <a:tc>
                  <a:txBody>
                    <a:bodyPr/>
                    <a:lstStyle/>
                    <a:p>
                      <a:pPr indent="0" marL="0">
                        <a:lnSpc>
                          <a:spcPts val="1820"/>
                        </a:lnSpc>
                        <a:buNone/>
                      </a:pPr>
                      <a:r>
                        <a:rPr lang="en-US" sz="1300" b="1" dirty="0">
                          <a:solidFill>
                            <a:srgbClr val="FFFFFF"/>
                          </a:solidFill>
                          <a:latin typeface="DM Sans" pitchFamily="34" charset="0"/>
                          <a:ea typeface="DM Sans" pitchFamily="34" charset="-122"/>
                          <a:cs typeface="DM Sans" pitchFamily="34" charset="-120"/>
                        </a:rPr>
                        <a:t>Price</a:t>
                      </a:r>
                      <a:endParaRPr lang="en-US" sz="1300" dirty="0">
                        <a:latin typeface="DM Sans" charset="0"/>
                        <a:ea typeface="DM Sans" charset="0"/>
                        <a:cs typeface="DM Sans" charset="0"/>
                      </a:endParaRPr>
                    </a:p>
                  </a:txBody>
                  <a:tcPr marL="57785" marR="57785" marT="57785" marB="57785"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0F1B33"/>
                    </a:solidFill>
                  </a:tcPr>
                </a:tc>
                <a:tc>
                  <a:txBody>
                    <a:bodyPr/>
                    <a:lstStyle/>
                    <a:p>
                      <a:pPr indent="0" marL="0">
                        <a:lnSpc>
                          <a:spcPts val="1820"/>
                        </a:lnSpc>
                        <a:buNone/>
                      </a:pPr>
                      <a:r>
                        <a:rPr lang="en-US" sz="1300" b="1" dirty="0">
                          <a:solidFill>
                            <a:srgbClr val="FFFFFF"/>
                          </a:solidFill>
                          <a:latin typeface="DM Sans" pitchFamily="34" charset="0"/>
                          <a:ea typeface="DM Sans" pitchFamily="34" charset="-122"/>
                          <a:cs typeface="DM Sans" pitchFamily="34" charset="-120"/>
                        </a:rPr>
                        <a:t>What it opens</a:t>
                      </a:r>
                      <a:endParaRPr lang="en-US" sz="1300" dirty="0">
                        <a:latin typeface="DM Sans" charset="0"/>
                        <a:ea typeface="DM Sans" charset="0"/>
                        <a:cs typeface="DM Sans" charset="0"/>
                      </a:endParaRPr>
                    </a:p>
                  </a:txBody>
                  <a:tcPr marL="57785" marR="57785" marT="57785" marB="57785"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0F1B33"/>
                    </a:solidFill>
                  </a:tcPr>
                </a:tc>
              </a:tr>
              <a:tr h="359304">
                <a:tc>
                  <a:txBody>
                    <a:bodyPr/>
                    <a:lstStyle/>
                    <a:p>
                      <a:pPr indent="0" marL="0">
                        <a:lnSpc>
                          <a:spcPts val="1820"/>
                        </a:lnSpc>
                        <a:buNone/>
                      </a:pPr>
                      <a:r>
                        <a:rPr lang="en-US" sz="1300" dirty="0">
                          <a:solidFill>
                            <a:srgbClr val="0F1B33"/>
                          </a:solidFill>
                          <a:latin typeface="DM Sans" pitchFamily="34" charset="0"/>
                          <a:ea typeface="DM Sans" pitchFamily="34" charset="-122"/>
                          <a:cs typeface="DM Sans" pitchFamily="34" charset="-120"/>
                        </a:rPr>
                        <a:t>Health Check</a:t>
                      </a:r>
                      <a:endParaRPr lang="en-US" sz="1300" dirty="0">
                        <a:latin typeface="DM Sans" charset="0"/>
                        <a:ea typeface="DM Sans" charset="0"/>
                        <a:cs typeface="DM Sans" charset="0"/>
                      </a:endParaRPr>
                    </a:p>
                  </a:txBody>
                  <a:tcPr marL="57785" marR="57785" marT="57785" marB="57785"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F5FE0"/>
                          </a:solidFill>
                          <a:latin typeface="DM Sans" pitchFamily="34" charset="0"/>
                          <a:ea typeface="DM Sans" pitchFamily="34" charset="-122"/>
                          <a:cs typeface="DM Sans" pitchFamily="34" charset="-120"/>
                        </a:rPr>
                        <a:t>Free</a:t>
                      </a:r>
                      <a:endParaRPr lang="en-US" sz="1300" dirty="0">
                        <a:latin typeface="DM Sans" charset="0"/>
                        <a:ea typeface="DM Sans" charset="0"/>
                        <a:cs typeface="DM Sans" charset="0"/>
                      </a:endParaRPr>
                    </a:p>
                  </a:txBody>
                  <a:tcPr marL="57785" marR="57785" marT="57785" marB="57785"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334155"/>
                          </a:solidFill>
                          <a:latin typeface="DM Sans" pitchFamily="34" charset="0"/>
                          <a:ea typeface="DM Sans" pitchFamily="34" charset="-122"/>
                          <a:cs typeface="DM Sans" pitchFamily="34" charset="-120"/>
                        </a:rPr>
                        <a:t>Run the diagnosis on holdings you already own</a:t>
                      </a:r>
                      <a:endParaRPr lang="en-US" sz="1300" dirty="0">
                        <a:latin typeface="DM Sans" charset="0"/>
                        <a:ea typeface="DM Sans" charset="0"/>
                        <a:cs typeface="DM Sans" charset="0"/>
                      </a:endParaRPr>
                    </a:p>
                  </a:txBody>
                  <a:tcPr marL="57785" marR="57785" marT="57785" marB="57785"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r>
              <a:tr h="359304">
                <a:tc>
                  <a:txBody>
                    <a:bodyPr/>
                    <a:lstStyle/>
                    <a:p>
                      <a:pPr indent="0" marL="0">
                        <a:lnSpc>
                          <a:spcPts val="1820"/>
                        </a:lnSpc>
                        <a:buNone/>
                      </a:pPr>
                      <a:r>
                        <a:rPr lang="en-US" sz="1300" dirty="0">
                          <a:solidFill>
                            <a:srgbClr val="0F1B33"/>
                          </a:solidFill>
                          <a:latin typeface="DM Sans" pitchFamily="34" charset="0"/>
                          <a:ea typeface="DM Sans" pitchFamily="34" charset="-122"/>
                          <a:cs typeface="DM Sans" pitchFamily="34" charset="-120"/>
                        </a:rPr>
                        <a:t>Full report unlock</a:t>
                      </a:r>
                      <a:endParaRPr lang="en-US" sz="1300" dirty="0">
                        <a:latin typeface="DM Sans" charset="0"/>
                        <a:ea typeface="DM Sans" charset="0"/>
                        <a:cs typeface="DM Sans" charset="0"/>
                      </a:endParaRPr>
                    </a:p>
                  </a:txBody>
                  <a:tcPr marL="57785" marR="57785" marT="57785" marB="57785"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820"/>
                        </a:lnSpc>
                        <a:buNone/>
                      </a:pPr>
                      <a:r>
                        <a:rPr lang="en-US" sz="1300" dirty="0">
                          <a:solidFill>
                            <a:srgbClr val="2F5FE0"/>
                          </a:solidFill>
                          <a:latin typeface="DM Sans" pitchFamily="34" charset="0"/>
                          <a:ea typeface="DM Sans" pitchFamily="34" charset="-122"/>
                          <a:cs typeface="DM Sans" pitchFamily="34" charset="-120"/>
                        </a:rPr>
                        <a:t>₹99 once</a:t>
                      </a:r>
                      <a:endParaRPr lang="en-US" sz="1300" dirty="0">
                        <a:latin typeface="DM Sans" charset="0"/>
                        <a:ea typeface="DM Sans" charset="0"/>
                        <a:cs typeface="DM Sans" charset="0"/>
                      </a:endParaRPr>
                    </a:p>
                  </a:txBody>
                  <a:tcPr marL="57785" marR="57785" marT="57785" marB="57785"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820"/>
                        </a:lnSpc>
                        <a:buNone/>
                      </a:pPr>
                      <a:r>
                        <a:rPr lang="en-US" sz="1300" dirty="0">
                          <a:solidFill>
                            <a:srgbClr val="334155"/>
                          </a:solidFill>
                          <a:latin typeface="DM Sans" pitchFamily="34" charset="0"/>
                          <a:ea typeface="DM Sans" pitchFamily="34" charset="-122"/>
                          <a:cs typeface="DM Sans" pitchFamily="34" charset="-120"/>
                        </a:rPr>
                        <a:t>The complete report — a paid-intent qualifier, not the business</a:t>
                      </a:r>
                      <a:endParaRPr lang="en-US" sz="1300" dirty="0">
                        <a:latin typeface="DM Sans" charset="0"/>
                        <a:ea typeface="DM Sans" charset="0"/>
                        <a:cs typeface="DM Sans" charset="0"/>
                      </a:endParaRPr>
                    </a:p>
                  </a:txBody>
                  <a:tcPr marL="57785" marR="57785" marT="57785" marB="57785"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r>
              <a:tr h="359304">
                <a:tc>
                  <a:txBody>
                    <a:bodyPr/>
                    <a:lstStyle/>
                    <a:p>
                      <a:pPr indent="0" marL="0">
                        <a:lnSpc>
                          <a:spcPts val="1820"/>
                        </a:lnSpc>
                        <a:buNone/>
                      </a:pPr>
                      <a:r>
                        <a:rPr lang="en-US" sz="1300" dirty="0">
                          <a:solidFill>
                            <a:srgbClr val="0F1B33"/>
                          </a:solidFill>
                          <a:latin typeface="DM Sans" pitchFamily="34" charset="0"/>
                          <a:ea typeface="DM Sans" pitchFamily="34" charset="-122"/>
                          <a:cs typeface="DM Sans" pitchFamily="34" charset="-120"/>
                        </a:rPr>
                        <a:t>Starter</a:t>
                      </a:r>
                      <a:endParaRPr lang="en-US" sz="1300" dirty="0">
                        <a:latin typeface="DM Sans" charset="0"/>
                        <a:ea typeface="DM Sans" charset="0"/>
                        <a:cs typeface="DM Sans" charset="0"/>
                      </a:endParaRPr>
                    </a:p>
                  </a:txBody>
                  <a:tcPr marL="57785" marR="57785" marT="57785" marB="57785"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F5FE0"/>
                          </a:solidFill>
                          <a:latin typeface="DM Sans" pitchFamily="34" charset="0"/>
                          <a:ea typeface="DM Sans" pitchFamily="34" charset="-122"/>
                          <a:cs typeface="DM Sans" pitchFamily="34" charset="-120"/>
                        </a:rPr>
                        <a:t>₹399/mo</a:t>
                      </a:r>
                      <a:endParaRPr lang="en-US" sz="1300" dirty="0">
                        <a:latin typeface="DM Sans" charset="0"/>
                        <a:ea typeface="DM Sans" charset="0"/>
                        <a:cs typeface="DM Sans" charset="0"/>
                      </a:endParaRPr>
                    </a:p>
                  </a:txBody>
                  <a:tcPr marL="57785" marR="57785" marT="57785" marB="57785"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334155"/>
                          </a:solidFill>
                          <a:latin typeface="DM Sans" pitchFamily="34" charset="0"/>
                          <a:ea typeface="DM Sans" pitchFamily="34" charset="-122"/>
                          <a:cs typeface="DM Sans" pitchFamily="34" charset="-120"/>
                        </a:rPr>
                        <a:t>2 portfolios, Health Check plus Construction, core engines</a:t>
                      </a:r>
                      <a:endParaRPr lang="en-US" sz="1300" dirty="0">
                        <a:latin typeface="DM Sans" charset="0"/>
                        <a:ea typeface="DM Sans" charset="0"/>
                        <a:cs typeface="DM Sans" charset="0"/>
                      </a:endParaRPr>
                    </a:p>
                  </a:txBody>
                  <a:tcPr marL="57785" marR="57785" marT="57785" marB="57785"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r>
              <a:tr h="359304">
                <a:tc>
                  <a:txBody>
                    <a:bodyPr/>
                    <a:lstStyle/>
                    <a:p>
                      <a:pPr indent="0" marL="0">
                        <a:lnSpc>
                          <a:spcPts val="1820"/>
                        </a:lnSpc>
                        <a:buNone/>
                      </a:pPr>
                      <a:r>
                        <a:rPr lang="en-US" sz="1300" dirty="0">
                          <a:solidFill>
                            <a:srgbClr val="0F1B33"/>
                          </a:solidFill>
                          <a:latin typeface="DM Sans" pitchFamily="34" charset="0"/>
                          <a:ea typeface="DM Sans" pitchFamily="34" charset="-122"/>
                          <a:cs typeface="DM Sans" pitchFamily="34" charset="-120"/>
                        </a:rPr>
                        <a:t>Growth</a:t>
                      </a:r>
                      <a:endParaRPr lang="en-US" sz="1300" dirty="0">
                        <a:latin typeface="DM Sans" charset="0"/>
                        <a:ea typeface="DM Sans" charset="0"/>
                        <a:cs typeface="DM Sans" charset="0"/>
                      </a:endParaRPr>
                    </a:p>
                  </a:txBody>
                  <a:tcPr marL="57785" marR="57785" marT="57785" marB="57785"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820"/>
                        </a:lnSpc>
                        <a:buNone/>
                      </a:pPr>
                      <a:r>
                        <a:rPr lang="en-US" sz="1300" dirty="0">
                          <a:solidFill>
                            <a:srgbClr val="2F5FE0"/>
                          </a:solidFill>
                          <a:latin typeface="DM Sans" pitchFamily="34" charset="0"/>
                          <a:ea typeface="DM Sans" pitchFamily="34" charset="-122"/>
                          <a:cs typeface="DM Sans" pitchFamily="34" charset="-120"/>
                        </a:rPr>
                        <a:t>₹899/mo</a:t>
                      </a:r>
                      <a:endParaRPr lang="en-US" sz="1300" dirty="0">
                        <a:latin typeface="DM Sans" charset="0"/>
                        <a:ea typeface="DM Sans" charset="0"/>
                        <a:cs typeface="DM Sans" charset="0"/>
                      </a:endParaRPr>
                    </a:p>
                  </a:txBody>
                  <a:tcPr marL="57785" marR="57785" marT="57785" marB="57785"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820"/>
                        </a:lnSpc>
                        <a:buNone/>
                      </a:pPr>
                      <a:r>
                        <a:rPr lang="en-US" sz="1300" dirty="0">
                          <a:solidFill>
                            <a:srgbClr val="334155"/>
                          </a:solidFill>
                          <a:latin typeface="DM Sans" pitchFamily="34" charset="0"/>
                          <a:ea typeface="DM Sans" pitchFamily="34" charset="-122"/>
                          <a:cs typeface="DM Sans" pitchFamily="34" charset="-120"/>
                        </a:rPr>
                        <a:t>2–5 portfolios, deeper engines, re-checks and rebalancing</a:t>
                      </a:r>
                      <a:endParaRPr lang="en-US" sz="1300" dirty="0">
                        <a:latin typeface="DM Sans" charset="0"/>
                        <a:ea typeface="DM Sans" charset="0"/>
                        <a:cs typeface="DM Sans" charset="0"/>
                      </a:endParaRPr>
                    </a:p>
                  </a:txBody>
                  <a:tcPr marL="57785" marR="57785" marT="57785" marB="57785"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r>
              <a:tr h="359304">
                <a:tc>
                  <a:txBody>
                    <a:bodyPr/>
                    <a:lstStyle/>
                    <a:p>
                      <a:pPr indent="0" marL="0">
                        <a:lnSpc>
                          <a:spcPts val="1820"/>
                        </a:lnSpc>
                        <a:buNone/>
                      </a:pPr>
                      <a:r>
                        <a:rPr lang="en-US" sz="1300" dirty="0">
                          <a:solidFill>
                            <a:srgbClr val="0F1B33"/>
                          </a:solidFill>
                          <a:latin typeface="DM Sans" pitchFamily="34" charset="0"/>
                          <a:ea typeface="DM Sans" pitchFamily="34" charset="-122"/>
                          <a:cs typeface="DM Sans" pitchFamily="34" charset="-120"/>
                        </a:rPr>
                        <a:t>Pro</a:t>
                      </a:r>
                      <a:endParaRPr lang="en-US" sz="1300" dirty="0">
                        <a:latin typeface="DM Sans" charset="0"/>
                        <a:ea typeface="DM Sans" charset="0"/>
                        <a:cs typeface="DM Sans" charset="0"/>
                      </a:endParaRPr>
                    </a:p>
                  </a:txBody>
                  <a:tcPr marL="57785" marR="57785" marT="57785" marB="57785"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F5FE0"/>
                          </a:solidFill>
                          <a:latin typeface="DM Sans" pitchFamily="34" charset="0"/>
                          <a:ea typeface="DM Sans" pitchFamily="34" charset="-122"/>
                          <a:cs typeface="DM Sans" pitchFamily="34" charset="-120"/>
                        </a:rPr>
                        <a:t>₹1,499/mo</a:t>
                      </a:r>
                      <a:endParaRPr lang="en-US" sz="1300" dirty="0">
                        <a:latin typeface="DM Sans" charset="0"/>
                        <a:ea typeface="DM Sans" charset="0"/>
                        <a:cs typeface="DM Sans" charset="0"/>
                      </a:endParaRPr>
                    </a:p>
                  </a:txBody>
                  <a:tcPr marL="57785" marR="57785" marT="57785" marB="57785"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334155"/>
                          </a:solidFill>
                          <a:latin typeface="DM Sans" pitchFamily="34" charset="0"/>
                          <a:ea typeface="DM Sans" pitchFamily="34" charset="-122"/>
                          <a:cs typeface="DM Sans" pitchFamily="34" charset="-120"/>
                        </a:rPr>
                        <a:t>5–10 portfolios, all engines, full NxanceLM access</a:t>
                      </a:r>
                      <a:endParaRPr lang="en-US" sz="1300" dirty="0">
                        <a:latin typeface="DM Sans" charset="0"/>
                        <a:ea typeface="DM Sans" charset="0"/>
                        <a:cs typeface="DM Sans" charset="0"/>
                      </a:endParaRPr>
                    </a:p>
                  </a:txBody>
                  <a:tcPr marL="57785" marR="57785" marT="57785" marB="57785"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r>
            </a:tbl>
          </a:graphicData>
        </a:graphic>
      </p:graphicFrame>
      <p:sp>
        <p:nvSpPr>
          <p:cNvPr id="5" name="Shape 2"/>
          <p:cNvSpPr/>
          <p:nvPr/>
        </p:nvSpPr>
        <p:spPr>
          <a:xfrm>
            <a:off x="815975" y="4336194"/>
            <a:ext cx="5187950" cy="1087901"/>
          </a:xfrm>
          <a:prstGeom prst="roundRect">
            <a:avLst>
              <a:gd name="adj" fmla="val 9047"/>
            </a:avLst>
          </a:prstGeom>
          <a:solidFill>
            <a:srgbClr val="EEF2FA"/>
          </a:solidFill>
          <a:ln w="6350">
            <a:solidFill>
              <a:srgbClr val="DCE3F0"/>
            </a:solidFill>
            <a:prstDash val="solid"/>
          </a:ln>
        </p:spPr>
      </p:sp>
      <p:sp>
        <p:nvSpPr>
          <p:cNvPr id="6" name="Text 3"/>
          <p:cNvSpPr/>
          <p:nvPr/>
        </p:nvSpPr>
        <p:spPr>
          <a:xfrm>
            <a:off x="1007533" y="4502348"/>
            <a:ext cx="494897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FE0"/>
                </a:solidFill>
                <a:latin typeface="Lexend" pitchFamily="34" charset="0"/>
                <a:ea typeface="Lexend" pitchFamily="34" charset="-122"/>
                <a:cs typeface="Lexend" pitchFamily="34" charset="-120"/>
              </a:rPr>
              <a:t>THE THIRD LAYER</a:t>
            </a:r>
            <a:endParaRPr lang="en-US" sz="1200" dirty="0"/>
          </a:p>
        </p:txBody>
      </p:sp>
      <p:sp>
        <p:nvSpPr>
          <p:cNvPr id="7" name="Text 4"/>
          <p:cNvSpPr/>
          <p:nvPr/>
        </p:nvSpPr>
        <p:spPr>
          <a:xfrm>
            <a:off x="1007533" y="4779169"/>
            <a:ext cx="4948978"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155"/>
                </a:solidFill>
                <a:latin typeface="DM Sans" pitchFamily="34" charset="0"/>
                <a:ea typeface="DM Sans" pitchFamily="34" charset="-122"/>
                <a:cs typeface="DM Sans" pitchFamily="34" charset="-120"/>
              </a:rPr>
              <a:t>HNI advisory fees and licensing the engines to distributors, once usage and behaviour data compound.</a:t>
            </a:r>
            <a:endParaRPr lang="en-US" sz="1300" dirty="0"/>
          </a:p>
        </p:txBody>
      </p:sp>
      <p:sp>
        <p:nvSpPr>
          <p:cNvPr id="8" name="Shape 5"/>
          <p:cNvSpPr/>
          <p:nvPr/>
        </p:nvSpPr>
        <p:spPr>
          <a:xfrm>
            <a:off x="6188075" y="4336194"/>
            <a:ext cx="5187950" cy="1087901"/>
          </a:xfrm>
          <a:prstGeom prst="roundRect">
            <a:avLst>
              <a:gd name="adj" fmla="val 9047"/>
            </a:avLst>
          </a:prstGeom>
          <a:solidFill>
            <a:srgbClr val="EEF2FA"/>
          </a:solidFill>
          <a:ln w="6350">
            <a:solidFill>
              <a:srgbClr val="DCE3F0"/>
            </a:solidFill>
            <a:prstDash val="solid"/>
          </a:ln>
        </p:spPr>
      </p:sp>
      <p:sp>
        <p:nvSpPr>
          <p:cNvPr id="9" name="Text 6"/>
          <p:cNvSpPr/>
          <p:nvPr/>
        </p:nvSpPr>
        <p:spPr>
          <a:xfrm>
            <a:off x="6379633" y="4502348"/>
            <a:ext cx="494897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FE0"/>
                </a:solidFill>
                <a:latin typeface="Lexend" pitchFamily="34" charset="0"/>
                <a:ea typeface="Lexend" pitchFamily="34" charset="-122"/>
                <a:cs typeface="Lexend" pitchFamily="34" charset="-120"/>
              </a:rPr>
              <a:t>OVER 18 MONTHS</a:t>
            </a:r>
            <a:endParaRPr lang="en-US" sz="1200" dirty="0"/>
          </a:p>
        </p:txBody>
      </p:sp>
      <p:sp>
        <p:nvSpPr>
          <p:cNvPr id="10" name="Text 7"/>
          <p:cNvSpPr/>
          <p:nvPr/>
        </p:nvSpPr>
        <p:spPr>
          <a:xfrm>
            <a:off x="6379633" y="4779169"/>
            <a:ext cx="4948978"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155"/>
                </a:solidFill>
                <a:latin typeface="DM Sans" pitchFamily="34" charset="0"/>
                <a:ea typeface="DM Sans" pitchFamily="34" charset="-122"/>
                <a:cs typeface="DM Sans" pitchFamily="34" charset="-120"/>
              </a:rPr>
              <a:t>75 → 600 → 2,200 subscribers, ₹76.05 lakh collected — shown as upside, not netted off the ask.</a:t>
            </a:r>
            <a:endParaRPr lang="en-US" sz="1300" dirty="0"/>
          </a:p>
        </p:txBody>
      </p:sp>
      <p:pic>
        <p:nvPicPr>
          <p:cNvPr id="11" name="Image 0" descr="Nxance">    </p:cNvPr>
          <p:cNvPicPr>
            <a:picLocks noChangeAspect="1"/>
          </p:cNvPicPr>
          <p:nvPr/>
        </p:nvPicPr>
        <p:blipFill>
          <a:blip r:embed="rId1"/>
          <a:srcRect l="0" r="0" t="-227" b="-227"/>
          <a:stretch/>
        </p:blipFill>
        <p:spPr>
          <a:xfrm>
            <a:off x="812800" y="6267450"/>
            <a:ext cx="698500" cy="215900"/>
          </a:xfrm>
          <a:prstGeom prst="rect">
            <a:avLst/>
          </a:prstGeom>
        </p:spPr>
      </p:pic>
      <p:sp>
        <p:nvSpPr>
          <p:cNvPr id="12" name="Text 8"/>
          <p:cNvSpPr/>
          <p:nvPr/>
        </p:nvSpPr>
        <p:spPr>
          <a:xfrm>
            <a:off x="1638300" y="62382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5"/>
                </a:solidFill>
                <a:latin typeface="DM Sans" pitchFamily="34" charset="0"/>
                <a:ea typeface="DM Sans" pitchFamily="34" charset="-122"/>
                <a:cs typeface="DM Sans" pitchFamily="34" charset="-120"/>
              </a:rPr>
              <a:t>Ohshn Intelligence LLP</a:t>
            </a:r>
            <a:endParaRPr lang="en-US" sz="1200" dirty="0"/>
          </a:p>
        </p:txBody>
      </p:sp>
      <p:sp>
        <p:nvSpPr>
          <p:cNvPr id="13" name="Text 9"/>
          <p:cNvSpPr/>
          <p:nvPr/>
        </p:nvSpPr>
        <p:spPr>
          <a:xfrm>
            <a:off x="10439400" y="623828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3A5"/>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FE0"/>
                </a:solidFill>
                <a:latin typeface="Lexend" pitchFamily="34" charset="0"/>
                <a:ea typeface="Lexend" pitchFamily="34" charset="-122"/>
                <a:cs typeface="Lexend" pitchFamily="34" charset="-120"/>
              </a:rPr>
              <a:t>GO TO MARKET</a:t>
            </a:r>
            <a:endParaRPr lang="en-US" sz="1200" dirty="0"/>
          </a:p>
        </p:txBody>
      </p:sp>
      <p:sp>
        <p:nvSpPr>
          <p:cNvPr id="3" name="Text 1"/>
          <p:cNvSpPr/>
          <p:nvPr/>
        </p:nvSpPr>
        <p:spPr>
          <a:xfrm>
            <a:off x="812800" y="1203920"/>
            <a:ext cx="10203180" cy="401770"/>
          </a:xfrm>
          <a:prstGeom prst="rect">
            <a:avLst/>
          </a:prstGeom>
          <a:noFill/>
          <a:ln/>
        </p:spPr>
        <p:txBody>
          <a:bodyPr wrap="square" lIns="0" tIns="0" rIns="0" bIns="0" rtlCol="0" anchor="t">
            <a:normAutofit/>
          </a:bodyPr>
          <a:lstStyle/>
          <a:p>
            <a:pPr algn="l" indent="0" marL="0">
              <a:lnSpc>
                <a:spcPts val="2964"/>
              </a:lnSpc>
              <a:buNone/>
            </a:pPr>
            <a:r>
              <a:rPr lang="en-US" sz="2600" b="1" dirty="0">
                <a:solidFill>
                  <a:srgbClr val="0F1B33"/>
                </a:solidFill>
                <a:latin typeface="Geologica" pitchFamily="34" charset="0"/>
                <a:ea typeface="Geologica" pitchFamily="34" charset="-122"/>
                <a:cs typeface="Geologica" pitchFamily="34" charset="-120"/>
              </a:rPr>
              <a:t>A free hook that converts into paid depth.</a:t>
            </a:r>
            <a:endParaRPr lang="en-US" sz="2600" dirty="0"/>
          </a:p>
        </p:txBody>
      </p:sp>
      <p:sp>
        <p:nvSpPr>
          <p:cNvPr id="4" name="Shape 2"/>
          <p:cNvSpPr/>
          <p:nvPr/>
        </p:nvSpPr>
        <p:spPr>
          <a:xfrm>
            <a:off x="812800" y="1761269"/>
            <a:ext cx="10566400" cy="0"/>
          </a:xfrm>
          <a:prstGeom prst="line">
            <a:avLst/>
          </a:prstGeom>
          <a:noFill/>
          <a:ln w="6350">
            <a:solidFill>
              <a:srgbClr val="DCE3F0"/>
            </a:solidFill>
            <a:prstDash val="solid"/>
          </a:ln>
        </p:spPr>
      </p:sp>
      <p:sp>
        <p:nvSpPr>
          <p:cNvPr id="5" name="Text 3"/>
          <p:cNvSpPr/>
          <p:nvPr/>
        </p:nvSpPr>
        <p:spPr>
          <a:xfrm>
            <a:off x="812800" y="1889323"/>
            <a:ext cx="4064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F5FE0"/>
                </a:solidFill>
                <a:latin typeface="Geologica" pitchFamily="34" charset="0"/>
                <a:ea typeface="Geologica" pitchFamily="34" charset="-122"/>
                <a:cs typeface="Geologica" pitchFamily="34" charset="-120"/>
              </a:rPr>
              <a:t>01</a:t>
            </a:r>
            <a:endParaRPr lang="en-US" sz="1600" dirty="0"/>
          </a:p>
        </p:txBody>
      </p:sp>
      <p:sp>
        <p:nvSpPr>
          <p:cNvPr id="6" name="Text 4"/>
          <p:cNvSpPr/>
          <p:nvPr/>
        </p:nvSpPr>
        <p:spPr>
          <a:xfrm>
            <a:off x="1397000" y="1889323"/>
            <a:ext cx="2616200" cy="255588"/>
          </a:xfrm>
          <a:prstGeom prst="rect">
            <a:avLst/>
          </a:prstGeom>
          <a:noFill/>
          <a:ln/>
        </p:spPr>
        <p:txBody>
          <a:bodyPr wrap="square" lIns="0" tIns="0" rIns="0" bIns="0" rtlCol="0" anchor="t">
            <a:normAutofit/>
          </a:bodyPr>
          <a:lstStyle/>
          <a:p>
            <a:pPr algn="l" indent="0" marL="0">
              <a:lnSpc>
                <a:spcPts val="1813"/>
              </a:lnSpc>
              <a:buNone/>
            </a:pPr>
            <a:r>
              <a:rPr lang="en-US" sz="1450" b="1" dirty="0">
                <a:solidFill>
                  <a:srgbClr val="0F1B33"/>
                </a:solidFill>
                <a:latin typeface="Lexend" pitchFamily="34" charset="0"/>
                <a:ea typeface="Lexend" pitchFamily="34" charset="-122"/>
                <a:cs typeface="Lexend" pitchFamily="34" charset="-120"/>
              </a:rPr>
              <a:t>The free Health Check</a:t>
            </a:r>
            <a:endParaRPr lang="en-US" sz="1450" dirty="0"/>
          </a:p>
        </p:txBody>
      </p:sp>
      <p:sp>
        <p:nvSpPr>
          <p:cNvPr id="7" name="Text 5"/>
          <p:cNvSpPr/>
          <p:nvPr/>
        </p:nvSpPr>
        <p:spPr>
          <a:xfrm>
            <a:off x="4165600" y="1889323"/>
            <a:ext cx="7430008"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DM Sans" pitchFamily="34" charset="0"/>
                <a:ea typeface="DM Sans" pitchFamily="34" charset="-122"/>
                <a:cs typeface="DM Sans" pitchFamily="34" charset="-120"/>
              </a:rPr>
              <a:t>The diagnosis is the acquisition. It costs nothing to run, surfaces a problem the user can see in rupees, and the ₹99 unlock turns curiosity into a first payment.</a:t>
            </a:r>
            <a:endParaRPr lang="en-US" sz="1300" dirty="0"/>
          </a:p>
        </p:txBody>
      </p:sp>
      <p:sp>
        <p:nvSpPr>
          <p:cNvPr id="8" name="Shape 6"/>
          <p:cNvSpPr/>
          <p:nvPr/>
        </p:nvSpPr>
        <p:spPr>
          <a:xfrm>
            <a:off x="812800" y="2498266"/>
            <a:ext cx="10566400" cy="0"/>
          </a:xfrm>
          <a:prstGeom prst="line">
            <a:avLst/>
          </a:prstGeom>
          <a:noFill/>
          <a:ln w="6350">
            <a:solidFill>
              <a:srgbClr val="DCE3F0"/>
            </a:solidFill>
            <a:prstDash val="solid"/>
          </a:ln>
        </p:spPr>
      </p:sp>
      <p:sp>
        <p:nvSpPr>
          <p:cNvPr id="9" name="Text 7"/>
          <p:cNvSpPr/>
          <p:nvPr/>
        </p:nvSpPr>
        <p:spPr>
          <a:xfrm>
            <a:off x="812800" y="2626320"/>
            <a:ext cx="4064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F5FE0"/>
                </a:solidFill>
                <a:latin typeface="Geologica" pitchFamily="34" charset="0"/>
                <a:ea typeface="Geologica" pitchFamily="34" charset="-122"/>
                <a:cs typeface="Geologica" pitchFamily="34" charset="-120"/>
              </a:rPr>
              <a:t>02</a:t>
            </a:r>
            <a:endParaRPr lang="en-US" sz="1600" dirty="0"/>
          </a:p>
        </p:txBody>
      </p:sp>
      <p:sp>
        <p:nvSpPr>
          <p:cNvPr id="10" name="Text 8"/>
          <p:cNvSpPr/>
          <p:nvPr/>
        </p:nvSpPr>
        <p:spPr>
          <a:xfrm>
            <a:off x="1397000" y="2626320"/>
            <a:ext cx="2616200" cy="255588"/>
          </a:xfrm>
          <a:prstGeom prst="rect">
            <a:avLst/>
          </a:prstGeom>
          <a:noFill/>
          <a:ln/>
        </p:spPr>
        <p:txBody>
          <a:bodyPr wrap="square" lIns="0" tIns="0" rIns="0" bIns="0" rtlCol="0" anchor="t">
            <a:normAutofit/>
          </a:bodyPr>
          <a:lstStyle/>
          <a:p>
            <a:pPr algn="l" indent="0" marL="0">
              <a:lnSpc>
                <a:spcPts val="1813"/>
              </a:lnSpc>
              <a:buNone/>
            </a:pPr>
            <a:r>
              <a:rPr lang="en-US" sz="1450" b="1" dirty="0">
                <a:solidFill>
                  <a:srgbClr val="0F1B33"/>
                </a:solidFill>
                <a:latin typeface="Lexend" pitchFamily="34" charset="0"/>
                <a:ea typeface="Lexend" pitchFamily="34" charset="-122"/>
                <a:cs typeface="Lexend" pitchFamily="34" charset="-120"/>
              </a:rPr>
              <a:t>Performance marketing</a:t>
            </a:r>
            <a:endParaRPr lang="en-US" sz="1450" dirty="0"/>
          </a:p>
        </p:txBody>
      </p:sp>
      <p:sp>
        <p:nvSpPr>
          <p:cNvPr id="11" name="Text 9"/>
          <p:cNvSpPr/>
          <p:nvPr/>
        </p:nvSpPr>
        <p:spPr>
          <a:xfrm>
            <a:off x="4165600" y="2626320"/>
            <a:ext cx="7430008"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DM Sans" pitchFamily="34" charset="0"/>
                <a:ea typeface="DM Sans" pitchFamily="34" charset="-122"/>
                <a:cs typeface="DM Sans" pitchFamily="34" charset="-120"/>
              </a:rPr>
              <a:t>Paid search and social aimed squarely at self-directed retail investors and recent demat-account holders, measured against unlock rate rather than installs.</a:t>
            </a:r>
            <a:endParaRPr lang="en-US" sz="1300" dirty="0"/>
          </a:p>
        </p:txBody>
      </p:sp>
      <p:sp>
        <p:nvSpPr>
          <p:cNvPr id="12" name="Shape 10"/>
          <p:cNvSpPr/>
          <p:nvPr/>
        </p:nvSpPr>
        <p:spPr>
          <a:xfrm>
            <a:off x="812800" y="3235263"/>
            <a:ext cx="10566400" cy="0"/>
          </a:xfrm>
          <a:prstGeom prst="line">
            <a:avLst/>
          </a:prstGeom>
          <a:noFill/>
          <a:ln w="6350">
            <a:solidFill>
              <a:srgbClr val="DCE3F0"/>
            </a:solidFill>
            <a:prstDash val="solid"/>
          </a:ln>
        </p:spPr>
      </p:sp>
      <p:sp>
        <p:nvSpPr>
          <p:cNvPr id="13" name="Text 11"/>
          <p:cNvSpPr/>
          <p:nvPr/>
        </p:nvSpPr>
        <p:spPr>
          <a:xfrm>
            <a:off x="812800" y="3363317"/>
            <a:ext cx="4064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F5FE0"/>
                </a:solidFill>
                <a:latin typeface="Geologica" pitchFamily="34" charset="0"/>
                <a:ea typeface="Geologica" pitchFamily="34" charset="-122"/>
                <a:cs typeface="Geologica" pitchFamily="34" charset="-120"/>
              </a:rPr>
              <a:t>03</a:t>
            </a:r>
            <a:endParaRPr lang="en-US" sz="1600" dirty="0"/>
          </a:p>
        </p:txBody>
      </p:sp>
      <p:sp>
        <p:nvSpPr>
          <p:cNvPr id="14" name="Text 12"/>
          <p:cNvSpPr/>
          <p:nvPr/>
        </p:nvSpPr>
        <p:spPr>
          <a:xfrm>
            <a:off x="1397000" y="3363317"/>
            <a:ext cx="2616200" cy="485775"/>
          </a:xfrm>
          <a:prstGeom prst="rect">
            <a:avLst/>
          </a:prstGeom>
          <a:noFill/>
          <a:ln/>
        </p:spPr>
        <p:txBody>
          <a:bodyPr wrap="square" lIns="0" tIns="0" rIns="0" bIns="0" rtlCol="0" anchor="t">
            <a:normAutofit/>
          </a:bodyPr>
          <a:lstStyle/>
          <a:p>
            <a:pPr algn="l" indent="0" marL="0">
              <a:lnSpc>
                <a:spcPts val="1813"/>
              </a:lnSpc>
              <a:buNone/>
            </a:pPr>
            <a:r>
              <a:rPr lang="en-US" sz="1450" b="1" dirty="0">
                <a:solidFill>
                  <a:srgbClr val="0F1B33"/>
                </a:solidFill>
                <a:latin typeface="Lexend" pitchFamily="34" charset="0"/>
                <a:ea typeface="Lexend" pitchFamily="34" charset="-122"/>
                <a:cs typeface="Lexend" pitchFamily="34" charset="-120"/>
              </a:rPr>
              <a:t>Communities and educators</a:t>
            </a:r>
            <a:endParaRPr lang="en-US" sz="1450" dirty="0"/>
          </a:p>
        </p:txBody>
      </p:sp>
      <p:sp>
        <p:nvSpPr>
          <p:cNvPr id="15" name="Text 13"/>
          <p:cNvSpPr/>
          <p:nvPr/>
        </p:nvSpPr>
        <p:spPr>
          <a:xfrm>
            <a:off x="4165600" y="3363317"/>
            <a:ext cx="7430008"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DM Sans" pitchFamily="34" charset="0"/>
                <a:ea typeface="DM Sans" pitchFamily="34" charset="-122"/>
                <a:cs typeface="DM Sans" pitchFamily="34" charset="-120"/>
              </a:rPr>
              <a:t>Telegram, Reddit and YouTube investing communities, plus partnerships with financial educators who already hold this audience's attention.</a:t>
            </a:r>
            <a:endParaRPr lang="en-US" sz="1300" dirty="0"/>
          </a:p>
        </p:txBody>
      </p:sp>
      <p:sp>
        <p:nvSpPr>
          <p:cNvPr id="16" name="Shape 14"/>
          <p:cNvSpPr/>
          <p:nvPr/>
        </p:nvSpPr>
        <p:spPr>
          <a:xfrm>
            <a:off x="812800" y="3972260"/>
            <a:ext cx="10566400" cy="0"/>
          </a:xfrm>
          <a:prstGeom prst="line">
            <a:avLst/>
          </a:prstGeom>
          <a:noFill/>
          <a:ln w="6350">
            <a:solidFill>
              <a:srgbClr val="DCE3F0"/>
            </a:solidFill>
            <a:prstDash val="solid"/>
          </a:ln>
        </p:spPr>
      </p:sp>
      <p:sp>
        <p:nvSpPr>
          <p:cNvPr id="17" name="Text 15"/>
          <p:cNvSpPr/>
          <p:nvPr/>
        </p:nvSpPr>
        <p:spPr>
          <a:xfrm>
            <a:off x="812800" y="4100314"/>
            <a:ext cx="4064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F5FE0"/>
                </a:solidFill>
                <a:latin typeface="Geologica" pitchFamily="34" charset="0"/>
                <a:ea typeface="Geologica" pitchFamily="34" charset="-122"/>
                <a:cs typeface="Geologica" pitchFamily="34" charset="-120"/>
              </a:rPr>
              <a:t>04</a:t>
            </a:r>
            <a:endParaRPr lang="en-US" sz="1600" dirty="0"/>
          </a:p>
        </p:txBody>
      </p:sp>
      <p:sp>
        <p:nvSpPr>
          <p:cNvPr id="18" name="Text 16"/>
          <p:cNvSpPr/>
          <p:nvPr/>
        </p:nvSpPr>
        <p:spPr>
          <a:xfrm>
            <a:off x="1397000" y="4100314"/>
            <a:ext cx="2616200" cy="255588"/>
          </a:xfrm>
          <a:prstGeom prst="rect">
            <a:avLst/>
          </a:prstGeom>
          <a:noFill/>
          <a:ln/>
        </p:spPr>
        <p:txBody>
          <a:bodyPr wrap="square" lIns="0" tIns="0" rIns="0" bIns="0" rtlCol="0" anchor="t">
            <a:normAutofit/>
          </a:bodyPr>
          <a:lstStyle/>
          <a:p>
            <a:pPr algn="l" indent="0" marL="0">
              <a:lnSpc>
                <a:spcPts val="1813"/>
              </a:lnSpc>
              <a:buNone/>
            </a:pPr>
            <a:r>
              <a:rPr lang="en-US" sz="1450" b="1" dirty="0">
                <a:solidFill>
                  <a:srgbClr val="0F1B33"/>
                </a:solidFill>
                <a:latin typeface="Lexend" pitchFamily="34" charset="0"/>
                <a:ea typeface="Lexend" pitchFamily="34" charset="-122"/>
                <a:cs typeface="Lexend" pitchFamily="34" charset="-120"/>
              </a:rPr>
              <a:t>Distribution partnerships</a:t>
            </a:r>
            <a:endParaRPr lang="en-US" sz="1450" dirty="0"/>
          </a:p>
        </p:txBody>
      </p:sp>
      <p:sp>
        <p:nvSpPr>
          <p:cNvPr id="19" name="Text 17"/>
          <p:cNvSpPr/>
          <p:nvPr/>
        </p:nvSpPr>
        <p:spPr>
          <a:xfrm>
            <a:off x="4165600" y="4100314"/>
            <a:ext cx="7430008"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DM Sans" pitchFamily="34" charset="0"/>
                <a:ea typeface="DM Sans" pitchFamily="34" charset="-122"/>
                <a:cs typeface="DM Sans" pitchFamily="34" charset="-120"/>
              </a:rPr>
              <a:t>Brokers, fintech apps and distributors as an embedded channel — opened only once the direct consumer product has proven it retains.</a:t>
            </a:r>
            <a:endParaRPr lang="en-US" sz="1300" dirty="0"/>
          </a:p>
        </p:txBody>
      </p:sp>
      <p:pic>
        <p:nvPicPr>
          <p:cNvPr id="20" name="Image 0" descr="Nxance">    </p:cNvPr>
          <p:cNvPicPr>
            <a:picLocks noChangeAspect="1"/>
          </p:cNvPicPr>
          <p:nvPr/>
        </p:nvPicPr>
        <p:blipFill>
          <a:blip r:embed="rId1"/>
          <a:srcRect l="0" r="0" t="-227" b="-227"/>
          <a:stretch/>
        </p:blipFill>
        <p:spPr>
          <a:xfrm>
            <a:off x="812800" y="6267450"/>
            <a:ext cx="698500" cy="215900"/>
          </a:xfrm>
          <a:prstGeom prst="rect">
            <a:avLst/>
          </a:prstGeom>
        </p:spPr>
      </p:pic>
      <p:sp>
        <p:nvSpPr>
          <p:cNvPr id="21" name="Text 18"/>
          <p:cNvSpPr/>
          <p:nvPr/>
        </p:nvSpPr>
        <p:spPr>
          <a:xfrm>
            <a:off x="1638300" y="62382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5"/>
                </a:solidFill>
                <a:latin typeface="DM Sans" pitchFamily="34" charset="0"/>
                <a:ea typeface="DM Sans" pitchFamily="34" charset="-122"/>
                <a:cs typeface="DM Sans" pitchFamily="34" charset="-120"/>
              </a:rPr>
              <a:t>Ohshn Intelligence LLP</a:t>
            </a:r>
            <a:endParaRPr lang="en-US" sz="1200" dirty="0"/>
          </a:p>
        </p:txBody>
      </p:sp>
      <p:sp>
        <p:nvSpPr>
          <p:cNvPr id="22" name="Text 19"/>
          <p:cNvSpPr/>
          <p:nvPr/>
        </p:nvSpPr>
        <p:spPr>
          <a:xfrm>
            <a:off x="10439400" y="623828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3A5"/>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FE0"/>
                </a:solidFill>
                <a:latin typeface="Lexend" pitchFamily="34" charset="0"/>
                <a:ea typeface="Lexend" pitchFamily="34" charset="-122"/>
                <a:cs typeface="Lexend" pitchFamily="34" charset="-120"/>
              </a:rPr>
              <a:t>WHERE WE ARE</a:t>
            </a:r>
            <a:endParaRPr lang="en-US" sz="1200" dirty="0"/>
          </a:p>
        </p:txBody>
      </p:sp>
      <p:sp>
        <p:nvSpPr>
          <p:cNvPr id="3" name="Text 1"/>
          <p:cNvSpPr/>
          <p:nvPr/>
        </p:nvSpPr>
        <p:spPr>
          <a:xfrm>
            <a:off x="812800" y="1178520"/>
            <a:ext cx="10203180" cy="756841"/>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0F1B33"/>
                </a:solidFill>
                <a:latin typeface="Geologica" pitchFamily="34" charset="0"/>
                <a:ea typeface="Geologica" pitchFamily="34" charset="-122"/>
                <a:cs typeface="Geologica" pitchFamily="34" charset="-120"/>
              </a:rPr>
              <a:t>“Everyone tells you to put your money to work. Nobody tells you how — or whether the money you have already put in is working.”</a:t>
            </a:r>
            <a:endParaRPr lang="en-US" sz="2400" dirty="0"/>
          </a:p>
        </p:txBody>
      </p:sp>
      <p:sp>
        <p:nvSpPr>
          <p:cNvPr id="4" name="Text 2"/>
          <p:cNvSpPr/>
          <p:nvPr/>
        </p:nvSpPr>
        <p:spPr>
          <a:xfrm>
            <a:off x="812800" y="2062361"/>
            <a:ext cx="10203180" cy="255588"/>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DM Sans" pitchFamily="34" charset="0"/>
                <a:ea typeface="DM Sans" pitchFamily="34" charset="-122"/>
                <a:cs typeface="DM Sans" pitchFamily="34" charset="-120"/>
              </a:rPr>
              <a:t>The same sentence, in one form or another, in almost every one of our first conversations. The engines exist because of it.</a:t>
            </a:r>
            <a:endParaRPr lang="en-US" sz="1250" dirty="0"/>
          </a:p>
        </p:txBody>
      </p:sp>
      <p:sp>
        <p:nvSpPr>
          <p:cNvPr id="5" name="Shape 3"/>
          <p:cNvSpPr/>
          <p:nvPr/>
        </p:nvSpPr>
        <p:spPr>
          <a:xfrm>
            <a:off x="815975" y="2448123"/>
            <a:ext cx="2511425" cy="1780315"/>
          </a:xfrm>
          <a:prstGeom prst="roundRect">
            <a:avLst>
              <a:gd name="adj" fmla="val 5529"/>
            </a:avLst>
          </a:prstGeom>
          <a:solidFill>
            <a:srgbClr val="FFFFFF"/>
          </a:solidFill>
          <a:ln w="6350">
            <a:solidFill>
              <a:srgbClr val="DCE3F0"/>
            </a:solidFill>
            <a:prstDash val="solid"/>
          </a:ln>
        </p:spPr>
      </p:sp>
      <p:sp>
        <p:nvSpPr>
          <p:cNvPr id="6" name="Text 4"/>
          <p:cNvSpPr/>
          <p:nvPr/>
        </p:nvSpPr>
        <p:spPr>
          <a:xfrm>
            <a:off x="1007533" y="2639684"/>
            <a:ext cx="2192158" cy="388871"/>
          </a:xfrm>
          <a:prstGeom prst="rect">
            <a:avLst/>
          </a:prstGeom>
          <a:noFill/>
          <a:ln/>
        </p:spPr>
        <p:txBody>
          <a:bodyPr wrap="square" lIns="0" tIns="0" rIns="0" bIns="0" rtlCol="0" anchor="t">
            <a:normAutofit/>
          </a:bodyPr>
          <a:lstStyle/>
          <a:p>
            <a:pPr algn="l" indent="0" marL="0">
              <a:lnSpc>
                <a:spcPts val="2862"/>
              </a:lnSpc>
              <a:buNone/>
            </a:pPr>
            <a:r>
              <a:rPr lang="en-US" sz="2700" b="1" dirty="0">
                <a:solidFill>
                  <a:srgbClr val="2F5FE0"/>
                </a:solidFill>
                <a:latin typeface="Geologica" pitchFamily="34" charset="0"/>
                <a:ea typeface="Geologica" pitchFamily="34" charset="-122"/>
                <a:cs typeface="Geologica" pitchFamily="34" charset="-120"/>
              </a:rPr>
              <a:t>12</a:t>
            </a:r>
            <a:endParaRPr lang="en-US" sz="2700" dirty="0"/>
          </a:p>
        </p:txBody>
      </p:sp>
      <p:sp>
        <p:nvSpPr>
          <p:cNvPr id="7" name="Text 5"/>
          <p:cNvSpPr/>
          <p:nvPr/>
        </p:nvSpPr>
        <p:spPr>
          <a:xfrm>
            <a:off x="1007533" y="3079353"/>
            <a:ext cx="2192158" cy="98292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155"/>
                </a:solidFill>
                <a:latin typeface="DM Sans" pitchFamily="34" charset="0"/>
                <a:ea typeface="DM Sans" pitchFamily="34" charset="-122"/>
                <a:cs typeface="DM Sans" pitchFamily="34" charset="-120"/>
              </a:rPr>
              <a:t>investor and user conversations that pressure-tested the problem</a:t>
            </a:r>
            <a:endParaRPr lang="en-US" sz="1300" dirty="0"/>
          </a:p>
        </p:txBody>
      </p:sp>
      <p:sp>
        <p:nvSpPr>
          <p:cNvPr id="8" name="Shape 6"/>
          <p:cNvSpPr/>
          <p:nvPr/>
        </p:nvSpPr>
        <p:spPr>
          <a:xfrm>
            <a:off x="3498850" y="2448123"/>
            <a:ext cx="2511425" cy="1780315"/>
          </a:xfrm>
          <a:prstGeom prst="roundRect">
            <a:avLst>
              <a:gd name="adj" fmla="val 5529"/>
            </a:avLst>
          </a:prstGeom>
          <a:solidFill>
            <a:srgbClr val="FFFFFF"/>
          </a:solidFill>
          <a:ln w="6350">
            <a:solidFill>
              <a:srgbClr val="DCE3F0"/>
            </a:solidFill>
            <a:prstDash val="solid"/>
          </a:ln>
        </p:spPr>
      </p:sp>
      <p:sp>
        <p:nvSpPr>
          <p:cNvPr id="9" name="Text 7"/>
          <p:cNvSpPr/>
          <p:nvPr/>
        </p:nvSpPr>
        <p:spPr>
          <a:xfrm>
            <a:off x="3690408" y="2639684"/>
            <a:ext cx="2192158" cy="388871"/>
          </a:xfrm>
          <a:prstGeom prst="rect">
            <a:avLst/>
          </a:prstGeom>
          <a:noFill/>
          <a:ln/>
        </p:spPr>
        <p:txBody>
          <a:bodyPr wrap="square" lIns="0" tIns="0" rIns="0" bIns="0" rtlCol="0" anchor="t">
            <a:normAutofit/>
          </a:bodyPr>
          <a:lstStyle/>
          <a:p>
            <a:pPr algn="l" indent="0" marL="0">
              <a:lnSpc>
                <a:spcPts val="2862"/>
              </a:lnSpc>
              <a:buNone/>
            </a:pPr>
            <a:r>
              <a:rPr lang="en-US" sz="2700" b="1" dirty="0">
                <a:solidFill>
                  <a:srgbClr val="2F5FE0"/>
                </a:solidFill>
                <a:latin typeface="Geologica" pitchFamily="34" charset="0"/>
                <a:ea typeface="Geologica" pitchFamily="34" charset="-122"/>
                <a:cs typeface="Geologica" pitchFamily="34" charset="-120"/>
              </a:rPr>
              <a:t>8 of 12</a:t>
            </a:r>
            <a:endParaRPr lang="en-US" sz="2700" dirty="0"/>
          </a:p>
        </p:txBody>
      </p:sp>
      <p:sp>
        <p:nvSpPr>
          <p:cNvPr id="10" name="Text 8"/>
          <p:cNvSpPr/>
          <p:nvPr/>
        </p:nvSpPr>
        <p:spPr>
          <a:xfrm>
            <a:off x="3690408" y="3079353"/>
            <a:ext cx="2192158" cy="7435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155"/>
                </a:solidFill>
                <a:latin typeface="DM Sans" pitchFamily="34" charset="0"/>
                <a:ea typeface="DM Sans" pitchFamily="34" charset="-122"/>
                <a:cs typeface="DM Sans" pitchFamily="34" charset="-120"/>
              </a:rPr>
              <a:t>said they would pay for an honest answer on their holdings</a:t>
            </a:r>
            <a:endParaRPr lang="en-US" sz="1300" dirty="0"/>
          </a:p>
        </p:txBody>
      </p:sp>
      <p:sp>
        <p:nvSpPr>
          <p:cNvPr id="11" name="Shape 9"/>
          <p:cNvSpPr/>
          <p:nvPr/>
        </p:nvSpPr>
        <p:spPr>
          <a:xfrm>
            <a:off x="6181725" y="2448123"/>
            <a:ext cx="2511425" cy="1780315"/>
          </a:xfrm>
          <a:prstGeom prst="roundRect">
            <a:avLst>
              <a:gd name="adj" fmla="val 5529"/>
            </a:avLst>
          </a:prstGeom>
          <a:solidFill>
            <a:srgbClr val="FFFFFF"/>
          </a:solidFill>
          <a:ln w="6350">
            <a:solidFill>
              <a:srgbClr val="DCE3F0"/>
            </a:solidFill>
            <a:prstDash val="solid"/>
          </a:ln>
        </p:spPr>
      </p:sp>
      <p:sp>
        <p:nvSpPr>
          <p:cNvPr id="12" name="Text 10"/>
          <p:cNvSpPr/>
          <p:nvPr/>
        </p:nvSpPr>
        <p:spPr>
          <a:xfrm>
            <a:off x="6373283" y="2639684"/>
            <a:ext cx="2192158" cy="388871"/>
          </a:xfrm>
          <a:prstGeom prst="rect">
            <a:avLst/>
          </a:prstGeom>
          <a:noFill/>
          <a:ln/>
        </p:spPr>
        <p:txBody>
          <a:bodyPr wrap="square" lIns="0" tIns="0" rIns="0" bIns="0" rtlCol="0" anchor="t">
            <a:normAutofit/>
          </a:bodyPr>
          <a:lstStyle/>
          <a:p>
            <a:pPr algn="l" indent="0" marL="0">
              <a:lnSpc>
                <a:spcPts val="2862"/>
              </a:lnSpc>
              <a:buNone/>
            </a:pPr>
            <a:r>
              <a:rPr lang="en-US" sz="2700" b="1" dirty="0">
                <a:solidFill>
                  <a:srgbClr val="2F5FE0"/>
                </a:solidFill>
                <a:latin typeface="Geologica" pitchFamily="34" charset="0"/>
                <a:ea typeface="Geologica" pitchFamily="34" charset="-122"/>
                <a:cs typeface="Geologica" pitchFamily="34" charset="-120"/>
              </a:rPr>
              <a:t>50</a:t>
            </a:r>
            <a:endParaRPr lang="en-US" sz="2700" dirty="0"/>
          </a:p>
        </p:txBody>
      </p:sp>
      <p:sp>
        <p:nvSpPr>
          <p:cNvPr id="13" name="Text 11"/>
          <p:cNvSpPr/>
          <p:nvPr/>
        </p:nvSpPr>
        <p:spPr>
          <a:xfrm>
            <a:off x="6373283" y="3079353"/>
            <a:ext cx="2192158" cy="7435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155"/>
                </a:solidFill>
                <a:latin typeface="DM Sans" pitchFamily="34" charset="0"/>
                <a:ea typeface="DM Sans" pitchFamily="34" charset="-122"/>
                <a:cs typeface="DM Sans" pitchFamily="34" charset="-120"/>
              </a:rPr>
              <a:t>early users walked the working Construction engine end to end</a:t>
            </a:r>
            <a:endParaRPr lang="en-US" sz="1300" dirty="0"/>
          </a:p>
        </p:txBody>
      </p:sp>
      <p:sp>
        <p:nvSpPr>
          <p:cNvPr id="14" name="Shape 12"/>
          <p:cNvSpPr/>
          <p:nvPr/>
        </p:nvSpPr>
        <p:spPr>
          <a:xfrm>
            <a:off x="8864600" y="2448123"/>
            <a:ext cx="2511425" cy="1780315"/>
          </a:xfrm>
          <a:prstGeom prst="roundRect">
            <a:avLst>
              <a:gd name="adj" fmla="val 5529"/>
            </a:avLst>
          </a:prstGeom>
          <a:solidFill>
            <a:srgbClr val="FFFFFF"/>
          </a:solidFill>
          <a:ln w="6350">
            <a:solidFill>
              <a:srgbClr val="DCE3F0"/>
            </a:solidFill>
            <a:prstDash val="solid"/>
          </a:ln>
        </p:spPr>
      </p:sp>
      <p:sp>
        <p:nvSpPr>
          <p:cNvPr id="15" name="Text 13"/>
          <p:cNvSpPr/>
          <p:nvPr/>
        </p:nvSpPr>
        <p:spPr>
          <a:xfrm>
            <a:off x="9056159" y="2639684"/>
            <a:ext cx="2192158" cy="388871"/>
          </a:xfrm>
          <a:prstGeom prst="rect">
            <a:avLst/>
          </a:prstGeom>
          <a:noFill/>
          <a:ln/>
        </p:spPr>
        <p:txBody>
          <a:bodyPr wrap="square" lIns="0" tIns="0" rIns="0" bIns="0" rtlCol="0" anchor="t">
            <a:normAutofit/>
          </a:bodyPr>
          <a:lstStyle/>
          <a:p>
            <a:pPr algn="l" indent="0" marL="0">
              <a:lnSpc>
                <a:spcPts val="2862"/>
              </a:lnSpc>
              <a:buNone/>
            </a:pPr>
            <a:r>
              <a:rPr lang="en-US" sz="2700" b="1" dirty="0">
                <a:solidFill>
                  <a:srgbClr val="2F5FE0"/>
                </a:solidFill>
                <a:latin typeface="Geologica" pitchFamily="34" charset="0"/>
                <a:ea typeface="Geologica" pitchFamily="34" charset="-122"/>
                <a:cs typeface="Geologica" pitchFamily="34" charset="-120"/>
              </a:rPr>
              <a:t>500+</a:t>
            </a:r>
            <a:endParaRPr lang="en-US" sz="2700" dirty="0"/>
          </a:p>
        </p:txBody>
      </p:sp>
      <p:sp>
        <p:nvSpPr>
          <p:cNvPr id="16" name="Text 14"/>
          <p:cNvSpPr/>
          <p:nvPr/>
        </p:nvSpPr>
        <p:spPr>
          <a:xfrm>
            <a:off x="9056159" y="3079353"/>
            <a:ext cx="2192158"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155"/>
                </a:solidFill>
                <a:latin typeface="DM Sans" pitchFamily="34" charset="0"/>
                <a:ea typeface="DM Sans" pitchFamily="34" charset="-122"/>
                <a:cs typeface="DM Sans" pitchFamily="34" charset="-120"/>
              </a:rPr>
              <a:t>users signed up to the pre-launch waitlist</a:t>
            </a:r>
            <a:endParaRPr lang="en-US" sz="1300" dirty="0"/>
          </a:p>
        </p:txBody>
      </p:sp>
      <p:sp>
        <p:nvSpPr>
          <p:cNvPr id="17" name="Shape 15"/>
          <p:cNvSpPr/>
          <p:nvPr/>
        </p:nvSpPr>
        <p:spPr>
          <a:xfrm>
            <a:off x="815975" y="4387193"/>
            <a:ext cx="3405717" cy="1087901"/>
          </a:xfrm>
          <a:prstGeom prst="roundRect">
            <a:avLst>
              <a:gd name="adj" fmla="val 9047"/>
            </a:avLst>
          </a:prstGeom>
          <a:solidFill>
            <a:srgbClr val="EEF2FA"/>
          </a:solidFill>
          <a:ln w="6350">
            <a:solidFill>
              <a:srgbClr val="DCE3F0"/>
            </a:solidFill>
            <a:prstDash val="solid"/>
          </a:ln>
        </p:spPr>
      </p:sp>
      <p:sp>
        <p:nvSpPr>
          <p:cNvPr id="18" name="Text 16"/>
          <p:cNvSpPr/>
          <p:nvPr/>
        </p:nvSpPr>
        <p:spPr>
          <a:xfrm>
            <a:off x="1007533" y="4553347"/>
            <a:ext cx="311327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FE0"/>
                </a:solidFill>
                <a:latin typeface="Lexend" pitchFamily="34" charset="0"/>
                <a:ea typeface="Lexend" pitchFamily="34" charset="-122"/>
                <a:cs typeface="Lexend" pitchFamily="34" charset="-120"/>
              </a:rPr>
              <a:t>BUILT</a:t>
            </a:r>
            <a:endParaRPr lang="en-US" sz="1200" dirty="0"/>
          </a:p>
        </p:txBody>
      </p:sp>
      <p:sp>
        <p:nvSpPr>
          <p:cNvPr id="19" name="Text 17"/>
          <p:cNvSpPr/>
          <p:nvPr/>
        </p:nvSpPr>
        <p:spPr>
          <a:xfrm>
            <a:off x="1007533" y="4830167"/>
            <a:ext cx="3113278"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155"/>
                </a:solidFill>
                <a:latin typeface="DM Sans" pitchFamily="34" charset="0"/>
                <a:ea typeface="DM Sans" pitchFamily="34" charset="-122"/>
                <a:cs typeface="DM Sans" pitchFamily="34" charset="-120"/>
              </a:rPr>
              <a:t>A full clickable frontend across all three engines, demoed but not yet public.</a:t>
            </a:r>
            <a:endParaRPr lang="en-US" sz="1300" dirty="0"/>
          </a:p>
        </p:txBody>
      </p:sp>
      <p:sp>
        <p:nvSpPr>
          <p:cNvPr id="20" name="Shape 18"/>
          <p:cNvSpPr/>
          <p:nvPr/>
        </p:nvSpPr>
        <p:spPr>
          <a:xfrm>
            <a:off x="4393142" y="4387193"/>
            <a:ext cx="3405717" cy="1087901"/>
          </a:xfrm>
          <a:prstGeom prst="roundRect">
            <a:avLst>
              <a:gd name="adj" fmla="val 9047"/>
            </a:avLst>
          </a:prstGeom>
          <a:solidFill>
            <a:srgbClr val="EEF2FA"/>
          </a:solidFill>
          <a:ln w="6350">
            <a:solidFill>
              <a:srgbClr val="DCE3F0"/>
            </a:solidFill>
            <a:prstDash val="solid"/>
          </a:ln>
        </p:spPr>
      </p:sp>
      <p:sp>
        <p:nvSpPr>
          <p:cNvPr id="21" name="Text 19"/>
          <p:cNvSpPr/>
          <p:nvPr/>
        </p:nvSpPr>
        <p:spPr>
          <a:xfrm>
            <a:off x="4584700" y="4553347"/>
            <a:ext cx="311327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FE0"/>
                </a:solidFill>
                <a:latin typeface="Lexend" pitchFamily="34" charset="0"/>
                <a:ea typeface="Lexend" pitchFamily="34" charset="-122"/>
                <a:cs typeface="Lexend" pitchFamily="34" charset="-120"/>
              </a:rPr>
              <a:t>NEXT</a:t>
            </a:r>
            <a:endParaRPr lang="en-US" sz="1200" dirty="0"/>
          </a:p>
        </p:txBody>
      </p:sp>
      <p:sp>
        <p:nvSpPr>
          <p:cNvPr id="22" name="Text 20"/>
          <p:cNvSpPr/>
          <p:nvPr/>
        </p:nvSpPr>
        <p:spPr>
          <a:xfrm>
            <a:off x="4584700" y="4830167"/>
            <a:ext cx="3113278"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155"/>
                </a:solidFill>
                <a:latin typeface="DM Sans" pitchFamily="34" charset="0"/>
                <a:ea typeface="DM Sans" pitchFamily="34" charset="-122"/>
                <a:cs typeface="DM Sans" pitchFamily="34" charset="-120"/>
              </a:rPr>
              <a:t>The quant engines and the Number Guard layer — what this raise funds.</a:t>
            </a:r>
            <a:endParaRPr lang="en-US" sz="1300" dirty="0"/>
          </a:p>
        </p:txBody>
      </p:sp>
      <p:sp>
        <p:nvSpPr>
          <p:cNvPr id="23" name="Shape 21"/>
          <p:cNvSpPr/>
          <p:nvPr/>
        </p:nvSpPr>
        <p:spPr>
          <a:xfrm>
            <a:off x="7970309" y="4387193"/>
            <a:ext cx="3405717" cy="1087901"/>
          </a:xfrm>
          <a:prstGeom prst="roundRect">
            <a:avLst>
              <a:gd name="adj" fmla="val 9047"/>
            </a:avLst>
          </a:prstGeom>
          <a:solidFill>
            <a:srgbClr val="EEF2FA"/>
          </a:solidFill>
          <a:ln w="6350">
            <a:solidFill>
              <a:srgbClr val="DCE3F0"/>
            </a:solidFill>
            <a:prstDash val="solid"/>
          </a:ln>
        </p:spPr>
      </p:sp>
      <p:sp>
        <p:nvSpPr>
          <p:cNvPr id="24" name="Text 22"/>
          <p:cNvSpPr/>
          <p:nvPr/>
        </p:nvSpPr>
        <p:spPr>
          <a:xfrm>
            <a:off x="8161867" y="4553347"/>
            <a:ext cx="311327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FE0"/>
                </a:solidFill>
                <a:latin typeface="Lexend" pitchFamily="34" charset="0"/>
                <a:ea typeface="Lexend" pitchFamily="34" charset="-122"/>
                <a:cs typeface="Lexend" pitchFamily="34" charset="-120"/>
              </a:rPr>
              <a:t>ENTITY</a:t>
            </a:r>
            <a:endParaRPr lang="en-US" sz="1200" dirty="0"/>
          </a:p>
        </p:txBody>
      </p:sp>
      <p:sp>
        <p:nvSpPr>
          <p:cNvPr id="25" name="Text 23"/>
          <p:cNvSpPr/>
          <p:nvPr/>
        </p:nvSpPr>
        <p:spPr>
          <a:xfrm>
            <a:off x="8161867" y="4830167"/>
            <a:ext cx="3113278"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155"/>
                </a:solidFill>
                <a:latin typeface="DM Sans" pitchFamily="34" charset="0"/>
                <a:ea typeface="DM Sans" pitchFamily="34" charset="-122"/>
                <a:cs typeface="DM Sans" pitchFamily="34" charset="-120"/>
              </a:rPr>
              <a:t>Ohshn Intelligence LLP, incorporated July 2026. Private Limited at close.</a:t>
            </a:r>
            <a:endParaRPr lang="en-US" sz="1300" dirty="0"/>
          </a:p>
        </p:txBody>
      </p:sp>
      <p:pic>
        <p:nvPicPr>
          <p:cNvPr id="26" name="Image 0" descr="Nxance">    </p:cNvPr>
          <p:cNvPicPr>
            <a:picLocks noChangeAspect="1"/>
          </p:cNvPicPr>
          <p:nvPr/>
        </p:nvPicPr>
        <p:blipFill>
          <a:blip r:embed="rId1"/>
          <a:srcRect l="0" r="0" t="-227" b="-227"/>
          <a:stretch/>
        </p:blipFill>
        <p:spPr>
          <a:xfrm>
            <a:off x="812800" y="6267450"/>
            <a:ext cx="698500" cy="215900"/>
          </a:xfrm>
          <a:prstGeom prst="rect">
            <a:avLst/>
          </a:prstGeom>
        </p:spPr>
      </p:pic>
      <p:sp>
        <p:nvSpPr>
          <p:cNvPr id="27" name="Text 24"/>
          <p:cNvSpPr/>
          <p:nvPr/>
        </p:nvSpPr>
        <p:spPr>
          <a:xfrm>
            <a:off x="1638300" y="62382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5"/>
                </a:solidFill>
                <a:latin typeface="DM Sans" pitchFamily="34" charset="0"/>
                <a:ea typeface="DM Sans" pitchFamily="34" charset="-122"/>
                <a:cs typeface="DM Sans" pitchFamily="34" charset="-120"/>
              </a:rPr>
              <a:t>Ohshn Intelligence LLP</a:t>
            </a:r>
            <a:endParaRPr lang="en-US" sz="1200" dirty="0"/>
          </a:p>
        </p:txBody>
      </p:sp>
      <p:sp>
        <p:nvSpPr>
          <p:cNvPr id="28" name="Text 25"/>
          <p:cNvSpPr/>
          <p:nvPr/>
        </p:nvSpPr>
        <p:spPr>
          <a:xfrm>
            <a:off x="10439400" y="623828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3A5"/>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24234"/>
          </a:xfrm>
          <a:prstGeom prst="rect">
            <a:avLst/>
          </a:prstGeom>
          <a:noFill/>
          <a:ln/>
        </p:spPr>
        <p:txBody>
          <a:bodyPr wrap="square" lIns="0" tIns="0" rIns="0" bIns="0" rtlCol="0" anchor="t">
            <a:normAutofit/>
          </a:bodyPr>
          <a:lstStyle/>
          <a:p>
            <a:pPr algn="l" indent="0" marL="0">
              <a:lnSpc>
                <a:spcPts val="1570"/>
              </a:lnSpc>
              <a:buNone/>
            </a:pPr>
            <a:r>
              <a:rPr lang="en-US" sz="1121" b="1" spc="150" kern="0" dirty="0">
                <a:solidFill>
                  <a:srgbClr val="2F5FE0"/>
                </a:solidFill>
                <a:latin typeface="Lexend" pitchFamily="34" charset="0"/>
                <a:ea typeface="Lexend" pitchFamily="34" charset="-122"/>
                <a:cs typeface="Lexend" pitchFamily="34" charset="-120"/>
              </a:rPr>
              <a:t>18-MONTH ROADMAP</a:t>
            </a:r>
            <a:endParaRPr lang="en-US" sz="1121" dirty="0"/>
          </a:p>
        </p:txBody>
      </p:sp>
      <p:sp>
        <p:nvSpPr>
          <p:cNvPr id="3" name="Text 1"/>
          <p:cNvSpPr/>
          <p:nvPr/>
        </p:nvSpPr>
        <p:spPr>
          <a:xfrm>
            <a:off x="812800" y="1125934"/>
            <a:ext cx="10203180" cy="376171"/>
          </a:xfrm>
          <a:prstGeom prst="rect">
            <a:avLst/>
          </a:prstGeom>
          <a:noFill/>
          <a:ln/>
        </p:spPr>
        <p:txBody>
          <a:bodyPr wrap="square" lIns="0" tIns="0" rIns="0" bIns="0" rtlCol="0" anchor="t">
            <a:normAutofit/>
          </a:bodyPr>
          <a:lstStyle/>
          <a:p>
            <a:pPr algn="l" indent="0" marL="0">
              <a:lnSpc>
                <a:spcPts val="2769"/>
              </a:lnSpc>
              <a:buNone/>
            </a:pPr>
            <a:r>
              <a:rPr lang="en-US" sz="2429" b="1" dirty="0">
                <a:solidFill>
                  <a:srgbClr val="0F1B33"/>
                </a:solidFill>
                <a:latin typeface="Geologica" pitchFamily="34" charset="0"/>
                <a:ea typeface="Geologica" pitchFamily="34" charset="-122"/>
                <a:cs typeface="Geologica" pitchFamily="34" charset="-120"/>
              </a:rPr>
              <a:t>Six build phases. Three capital tranches.</a:t>
            </a:r>
            <a:endParaRPr lang="en-US" sz="2429"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591010"/>
          <a:ext cx="10566400" cy="2173883"/>
        </p:xfrm>
        <a:graphic>
          <a:graphicData uri="http://schemas.openxmlformats.org/drawingml/2006/table">
            <a:tbl>
              <a:tblPr/>
              <a:tblGrid>
                <a:gridCol w="2113280"/>
                <a:gridCol w="1056640"/>
                <a:gridCol w="3698240"/>
                <a:gridCol w="3698240"/>
              </a:tblGrid>
              <a:tr h="310555">
                <a:tc>
                  <a:txBody>
                    <a:bodyPr/>
                    <a:lstStyle/>
                    <a:p>
                      <a:pPr indent="0" marL="0">
                        <a:lnSpc>
                          <a:spcPts val="1565"/>
                        </a:lnSpc>
                        <a:buNone/>
                      </a:pPr>
                      <a:r>
                        <a:rPr lang="en-US" sz="1118" b="1" dirty="0">
                          <a:solidFill>
                            <a:srgbClr val="FFFFFF"/>
                          </a:solidFill>
                          <a:latin typeface="DM Sans" pitchFamily="34" charset="0"/>
                          <a:ea typeface="DM Sans" pitchFamily="34" charset="-122"/>
                          <a:cs typeface="DM Sans" pitchFamily="34" charset="-120"/>
                        </a:rPr>
                        <a:t>Build phase</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0F1B33"/>
                    </a:solidFill>
                  </a:tcPr>
                </a:tc>
                <a:tc>
                  <a:txBody>
                    <a:bodyPr/>
                    <a:lstStyle/>
                    <a:p>
                      <a:pPr indent="0" marL="0">
                        <a:lnSpc>
                          <a:spcPts val="1565"/>
                        </a:lnSpc>
                        <a:buNone/>
                      </a:pPr>
                      <a:r>
                        <a:rPr lang="en-US" sz="1118" b="1" dirty="0">
                          <a:solidFill>
                            <a:srgbClr val="FFFFFF"/>
                          </a:solidFill>
                          <a:latin typeface="DM Sans" pitchFamily="34" charset="0"/>
                          <a:ea typeface="DM Sans" pitchFamily="34" charset="-122"/>
                          <a:cs typeface="DM Sans" pitchFamily="34" charset="-120"/>
                        </a:rPr>
                        <a:t>Months</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0F1B33"/>
                    </a:solidFill>
                  </a:tcPr>
                </a:tc>
                <a:tc>
                  <a:txBody>
                    <a:bodyPr/>
                    <a:lstStyle/>
                    <a:p>
                      <a:pPr indent="0" marL="0">
                        <a:lnSpc>
                          <a:spcPts val="1565"/>
                        </a:lnSpc>
                        <a:buNone/>
                      </a:pPr>
                      <a:r>
                        <a:rPr lang="en-US" sz="1118" b="1" dirty="0">
                          <a:solidFill>
                            <a:srgbClr val="FFFFFF"/>
                          </a:solidFill>
                          <a:latin typeface="DM Sans" pitchFamily="34" charset="0"/>
                          <a:ea typeface="DM Sans" pitchFamily="34" charset="-122"/>
                          <a:cs typeface="DM Sans" pitchFamily="34" charset="-120"/>
                        </a:rPr>
                        <a:t>What ships</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0F1B33"/>
                    </a:solidFill>
                  </a:tcPr>
                </a:tc>
                <a:tc>
                  <a:txBody>
                    <a:bodyPr/>
                    <a:lstStyle/>
                    <a:p>
                      <a:pPr indent="0" marL="0">
                        <a:lnSpc>
                          <a:spcPts val="1565"/>
                        </a:lnSpc>
                        <a:buNone/>
                      </a:pPr>
                      <a:r>
                        <a:rPr lang="en-US" sz="1118" b="1" dirty="0">
                          <a:solidFill>
                            <a:srgbClr val="FFFFFF"/>
                          </a:solidFill>
                          <a:latin typeface="DM Sans" pitchFamily="34" charset="0"/>
                          <a:ea typeface="DM Sans" pitchFamily="34" charset="-122"/>
                          <a:cs typeface="DM Sans" pitchFamily="34" charset="-120"/>
                        </a:rPr>
                        <a:t>Gate that must clear</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0F1B33"/>
                    </a:solidFill>
                  </a:tcPr>
                </a:tc>
              </a:tr>
              <a:tr h="310555">
                <a:tc>
                  <a:txBody>
                    <a:bodyPr/>
                    <a:lstStyle/>
                    <a:p>
                      <a:pPr indent="0" marL="0">
                        <a:lnSpc>
                          <a:spcPts val="1565"/>
                        </a:lnSpc>
                        <a:buNone/>
                      </a:pPr>
                      <a:r>
                        <a:rPr lang="en-US" sz="1118" dirty="0">
                          <a:solidFill>
                            <a:srgbClr val="0F1B33"/>
                          </a:solidFill>
                          <a:latin typeface="DM Sans" pitchFamily="34" charset="0"/>
                          <a:ea typeface="DM Sans" pitchFamily="34" charset="-122"/>
                          <a:cs typeface="DM Sans" pitchFamily="34" charset="-120"/>
                        </a:rPr>
                        <a:t>Foundation</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565"/>
                        </a:lnSpc>
                        <a:buNone/>
                      </a:pPr>
                      <a:r>
                        <a:rPr lang="en-US" sz="1118" dirty="0">
                          <a:solidFill>
                            <a:srgbClr val="334155"/>
                          </a:solidFill>
                          <a:latin typeface="DM Sans" pitchFamily="34" charset="0"/>
                          <a:ea typeface="DM Sans" pitchFamily="34" charset="-122"/>
                          <a:cs typeface="DM Sans" pitchFamily="34" charset="-120"/>
                        </a:rPr>
                        <a:t>M1–3</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565"/>
                        </a:lnSpc>
                        <a:buNone/>
                      </a:pPr>
                      <a:r>
                        <a:rPr lang="en-US" sz="1118" dirty="0">
                          <a:solidFill>
                            <a:srgbClr val="334155"/>
                          </a:solidFill>
                          <a:latin typeface="DM Sans" pitchFamily="34" charset="0"/>
                          <a:ea typeface="DM Sans" pitchFamily="34" charset="-122"/>
                          <a:cs typeface="DM Sans" pitchFamily="34" charset="-120"/>
                        </a:rPr>
                        <a:t>Portfolio import, health score</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565"/>
                        </a:lnSpc>
                        <a:buNone/>
                      </a:pPr>
                      <a:r>
                        <a:rPr lang="en-US" sz="1118" dirty="0">
                          <a:solidFill>
                            <a:srgbClr val="334155"/>
                          </a:solidFill>
                          <a:latin typeface="DM Sans" pitchFamily="34" charset="0"/>
                          <a:ea typeface="DM Sans" pitchFamily="34" charset="-122"/>
                          <a:cs typeface="DM Sans" pitchFamily="34" charset="-120"/>
                        </a:rPr>
                        <a:t>100 interviews, 30–50 testers</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r>
              <a:tr h="310555">
                <a:tc>
                  <a:txBody>
                    <a:bodyPr/>
                    <a:lstStyle/>
                    <a:p>
                      <a:pPr indent="0" marL="0">
                        <a:lnSpc>
                          <a:spcPts val="1565"/>
                        </a:lnSpc>
                        <a:buNone/>
                      </a:pPr>
                      <a:r>
                        <a:rPr lang="en-US" sz="1118" dirty="0">
                          <a:solidFill>
                            <a:srgbClr val="0F1B33"/>
                          </a:solidFill>
                          <a:latin typeface="DM Sans" pitchFamily="34" charset="0"/>
                          <a:ea typeface="DM Sans" pitchFamily="34" charset="-122"/>
                          <a:cs typeface="DM Sans" pitchFamily="34" charset="-120"/>
                        </a:rPr>
                        <a:t>Alpha</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565"/>
                        </a:lnSpc>
                        <a:buNone/>
                      </a:pPr>
                      <a:r>
                        <a:rPr lang="en-US" sz="1118" dirty="0">
                          <a:solidFill>
                            <a:srgbClr val="334155"/>
                          </a:solidFill>
                          <a:latin typeface="DM Sans" pitchFamily="34" charset="0"/>
                          <a:ea typeface="DM Sans" pitchFamily="34" charset="-122"/>
                          <a:cs typeface="DM Sans" pitchFamily="34" charset="-120"/>
                        </a:rPr>
                        <a:t>M4–6</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565"/>
                        </a:lnSpc>
                        <a:buNone/>
                      </a:pPr>
                      <a:r>
                        <a:rPr lang="en-US" sz="1118" dirty="0">
                          <a:solidFill>
                            <a:srgbClr val="334155"/>
                          </a:solidFill>
                          <a:latin typeface="DM Sans" pitchFamily="34" charset="0"/>
                          <a:ea typeface="DM Sans" pitchFamily="34" charset="-122"/>
                          <a:cs typeface="DM Sans" pitchFamily="34" charset="-120"/>
                        </a:rPr>
                        <a:t>Risk profiling, Monte Carlo</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565"/>
                        </a:lnSpc>
                        <a:buNone/>
                      </a:pPr>
                      <a:r>
                        <a:rPr lang="en-US" sz="1118" dirty="0">
                          <a:solidFill>
                            <a:srgbClr val="334155"/>
                          </a:solidFill>
                          <a:latin typeface="DM Sans" pitchFamily="34" charset="0"/>
                          <a:ea typeface="DM Sans" pitchFamily="34" charset="-122"/>
                          <a:cs typeface="DM Sans" pitchFamily="34" charset="-120"/>
                        </a:rPr>
                        <a:t>100+ analyses, 40% repeat use</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r>
              <a:tr h="310555">
                <a:tc>
                  <a:txBody>
                    <a:bodyPr/>
                    <a:lstStyle/>
                    <a:p>
                      <a:pPr indent="0" marL="0">
                        <a:lnSpc>
                          <a:spcPts val="1565"/>
                        </a:lnSpc>
                        <a:buNone/>
                      </a:pPr>
                      <a:r>
                        <a:rPr lang="en-US" sz="1118" dirty="0">
                          <a:solidFill>
                            <a:srgbClr val="0F1B33"/>
                          </a:solidFill>
                          <a:latin typeface="DM Sans" pitchFamily="34" charset="0"/>
                          <a:ea typeface="DM Sans" pitchFamily="34" charset="-122"/>
                          <a:cs typeface="DM Sans" pitchFamily="34" charset="-120"/>
                        </a:rPr>
                        <a:t>Closed beta</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565"/>
                        </a:lnSpc>
                        <a:buNone/>
                      </a:pPr>
                      <a:r>
                        <a:rPr lang="en-US" sz="1118" dirty="0">
                          <a:solidFill>
                            <a:srgbClr val="334155"/>
                          </a:solidFill>
                          <a:latin typeface="DM Sans" pitchFamily="34" charset="0"/>
                          <a:ea typeface="DM Sans" pitchFamily="34" charset="-122"/>
                          <a:cs typeface="DM Sans" pitchFamily="34" charset="-120"/>
                        </a:rPr>
                        <a:t>M7–9</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565"/>
                        </a:lnSpc>
                        <a:buNone/>
                      </a:pPr>
                      <a:r>
                        <a:rPr lang="en-US" sz="1118" dirty="0">
                          <a:solidFill>
                            <a:srgbClr val="334155"/>
                          </a:solidFill>
                          <a:latin typeface="DM Sans" pitchFamily="34" charset="0"/>
                          <a:ea typeface="DM Sans" pitchFamily="34" charset="-122"/>
                          <a:cs typeface="DM Sans" pitchFamily="34" charset="-120"/>
                        </a:rPr>
                        <a:t>Payments, model monitoring</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565"/>
                        </a:lnSpc>
                        <a:buNone/>
                      </a:pPr>
                      <a:r>
                        <a:rPr lang="en-US" sz="1118" dirty="0">
                          <a:solidFill>
                            <a:srgbClr val="334155"/>
                          </a:solidFill>
                          <a:latin typeface="DM Sans" pitchFamily="34" charset="0"/>
                          <a:ea typeface="DM Sans" pitchFamily="34" charset="-122"/>
                          <a:cs typeface="DM Sans" pitchFamily="34" charset="-120"/>
                        </a:rPr>
                        <a:t>300–500 users, 25–50 paying</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r>
              <a:tr h="310555">
                <a:tc>
                  <a:txBody>
                    <a:bodyPr/>
                    <a:lstStyle/>
                    <a:p>
                      <a:pPr indent="0" marL="0">
                        <a:lnSpc>
                          <a:spcPts val="1565"/>
                        </a:lnSpc>
                        <a:buNone/>
                      </a:pPr>
                      <a:r>
                        <a:rPr lang="en-US" sz="1118" dirty="0">
                          <a:solidFill>
                            <a:srgbClr val="0F1B33"/>
                          </a:solidFill>
                          <a:latin typeface="DM Sans" pitchFamily="34" charset="0"/>
                          <a:ea typeface="DM Sans" pitchFamily="34" charset="-122"/>
                          <a:cs typeface="DM Sans" pitchFamily="34" charset="-120"/>
                        </a:rPr>
                        <a:t>Public V1</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565"/>
                        </a:lnSpc>
                        <a:buNone/>
                      </a:pPr>
                      <a:r>
                        <a:rPr lang="en-US" sz="1118" dirty="0">
                          <a:solidFill>
                            <a:srgbClr val="334155"/>
                          </a:solidFill>
                          <a:latin typeface="DM Sans" pitchFamily="34" charset="0"/>
                          <a:ea typeface="DM Sans" pitchFamily="34" charset="-122"/>
                          <a:cs typeface="DM Sans" pitchFamily="34" charset="-120"/>
                        </a:rPr>
                        <a:t>M10–12</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565"/>
                        </a:lnSpc>
                        <a:buNone/>
                      </a:pPr>
                      <a:r>
                        <a:rPr lang="en-US" sz="1118" dirty="0">
                          <a:solidFill>
                            <a:srgbClr val="334155"/>
                          </a:solidFill>
                          <a:latin typeface="DM Sans" pitchFamily="34" charset="0"/>
                          <a:ea typeface="DM Sans" pitchFamily="34" charset="-122"/>
                          <a:cs typeface="DM Sans" pitchFamily="34" charset="-120"/>
                        </a:rPr>
                        <a:t>Production build and reporting</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565"/>
                        </a:lnSpc>
                        <a:buNone/>
                      </a:pPr>
                      <a:r>
                        <a:rPr lang="en-US" sz="1118" dirty="0">
                          <a:solidFill>
                            <a:srgbClr val="334155"/>
                          </a:solidFill>
                          <a:latin typeface="DM Sans" pitchFamily="34" charset="0"/>
                          <a:ea typeface="DM Sans" pitchFamily="34" charset="-122"/>
                          <a:cs typeface="DM Sans" pitchFamily="34" charset="-120"/>
                        </a:rPr>
                        <a:t>1,000+ users, early revenue</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r>
              <a:tr h="310555">
                <a:tc>
                  <a:txBody>
                    <a:bodyPr/>
                    <a:lstStyle/>
                    <a:p>
                      <a:pPr indent="0" marL="0">
                        <a:lnSpc>
                          <a:spcPts val="1565"/>
                        </a:lnSpc>
                        <a:buNone/>
                      </a:pPr>
                      <a:r>
                        <a:rPr lang="en-US" sz="1118" dirty="0">
                          <a:solidFill>
                            <a:srgbClr val="0F1B33"/>
                          </a:solidFill>
                          <a:latin typeface="DM Sans" pitchFamily="34" charset="0"/>
                          <a:ea typeface="DM Sans" pitchFamily="34" charset="-122"/>
                          <a:cs typeface="DM Sans" pitchFamily="34" charset="-120"/>
                        </a:rPr>
                        <a:t>Simulation</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565"/>
                        </a:lnSpc>
                        <a:buNone/>
                      </a:pPr>
                      <a:r>
                        <a:rPr lang="en-US" sz="1118" dirty="0">
                          <a:solidFill>
                            <a:srgbClr val="334155"/>
                          </a:solidFill>
                          <a:latin typeface="DM Sans" pitchFamily="34" charset="0"/>
                          <a:ea typeface="DM Sans" pitchFamily="34" charset="-122"/>
                          <a:cs typeface="DM Sans" pitchFamily="34" charset="-120"/>
                        </a:rPr>
                        <a:t>M13–15</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565"/>
                        </a:lnSpc>
                        <a:buNone/>
                      </a:pPr>
                      <a:r>
                        <a:rPr lang="en-US" sz="1118" dirty="0">
                          <a:solidFill>
                            <a:srgbClr val="334155"/>
                          </a:solidFill>
                          <a:latin typeface="DM Sans" pitchFamily="34" charset="0"/>
                          <a:ea typeface="DM Sans" pitchFamily="34" charset="-122"/>
                          <a:cs typeface="DM Sans" pitchFamily="34" charset="-120"/>
                        </a:rPr>
                        <a:t>Market replay, stress tests</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c>
                  <a:txBody>
                    <a:bodyPr/>
                    <a:lstStyle/>
                    <a:p>
                      <a:pPr indent="0" marL="0">
                        <a:lnSpc>
                          <a:spcPts val="1565"/>
                        </a:lnSpc>
                        <a:buNone/>
                      </a:pPr>
                      <a:r>
                        <a:rPr lang="en-US" sz="1118" dirty="0">
                          <a:solidFill>
                            <a:srgbClr val="334155"/>
                          </a:solidFill>
                          <a:latin typeface="DM Sans" pitchFamily="34" charset="0"/>
                          <a:ea typeface="DM Sans" pitchFamily="34" charset="-122"/>
                          <a:cs typeface="DM Sans" pitchFamily="34" charset="-120"/>
                        </a:rPr>
                        <a:t>Validated scenario library</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FFFFF"/>
                    </a:solidFill>
                  </a:tcPr>
                </a:tc>
              </a:tr>
              <a:tr h="310555">
                <a:tc>
                  <a:txBody>
                    <a:bodyPr/>
                    <a:lstStyle/>
                    <a:p>
                      <a:pPr indent="0" marL="0">
                        <a:lnSpc>
                          <a:spcPts val="1565"/>
                        </a:lnSpc>
                        <a:buNone/>
                      </a:pPr>
                      <a:r>
                        <a:rPr lang="en-US" sz="1118" dirty="0">
                          <a:solidFill>
                            <a:srgbClr val="0F1B33"/>
                          </a:solidFill>
                          <a:latin typeface="DM Sans" pitchFamily="34" charset="0"/>
                          <a:ea typeface="DM Sans" pitchFamily="34" charset="-122"/>
                          <a:cs typeface="DM Sans" pitchFamily="34" charset="-120"/>
                        </a:rPr>
                        <a:t>Institutional</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565"/>
                        </a:lnSpc>
                        <a:buNone/>
                      </a:pPr>
                      <a:r>
                        <a:rPr lang="en-US" sz="1118" dirty="0">
                          <a:solidFill>
                            <a:srgbClr val="334155"/>
                          </a:solidFill>
                          <a:latin typeface="DM Sans" pitchFamily="34" charset="0"/>
                          <a:ea typeface="DM Sans" pitchFamily="34" charset="-122"/>
                          <a:cs typeface="DM Sans" pitchFamily="34" charset="-120"/>
                        </a:rPr>
                        <a:t>M16–18</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565"/>
                        </a:lnSpc>
                        <a:buNone/>
                      </a:pPr>
                      <a:r>
                        <a:rPr lang="en-US" sz="1118" dirty="0">
                          <a:solidFill>
                            <a:srgbClr val="334155"/>
                          </a:solidFill>
                          <a:latin typeface="DM Sans" pitchFamily="34" charset="0"/>
                          <a:ea typeface="DM Sans" pitchFamily="34" charset="-122"/>
                          <a:cs typeface="DM Sans" pitchFamily="34" charset="-120"/>
                        </a:rPr>
                        <a:t>Adviser platform, APIs</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c>
                  <a:txBody>
                    <a:bodyPr/>
                    <a:lstStyle/>
                    <a:p>
                      <a:pPr indent="0" marL="0">
                        <a:lnSpc>
                          <a:spcPts val="1565"/>
                        </a:lnSpc>
                        <a:buNone/>
                      </a:pPr>
                      <a:r>
                        <a:rPr lang="en-US" sz="1118" dirty="0">
                          <a:solidFill>
                            <a:srgbClr val="334155"/>
                          </a:solidFill>
                          <a:latin typeface="DM Sans" pitchFamily="34" charset="0"/>
                          <a:ea typeface="DM Sans" pitchFamily="34" charset="-122"/>
                          <a:cs typeface="DM Sans" pitchFamily="34" charset="-120"/>
                        </a:rPr>
                        <a:t>3 institutional pilots, 5,000 users</a:t>
                      </a:r>
                      <a:endParaRPr lang="en-US" sz="1118" dirty="0">
                        <a:latin typeface="DM Sans" charset="0"/>
                        <a:ea typeface="DM Sans" charset="0"/>
                        <a:cs typeface="DM Sans" charset="0"/>
                      </a:endParaRPr>
                    </a:p>
                  </a:txBody>
                  <a:tcPr marL="49673" marR="49673" marT="49673" marB="49673" anchor="t">
                    <a:lnL w="12700" cap="flat" cmpd="sng" algn="ctr">
                      <a:solidFill>
                        <a:srgbClr val="CCD0D6"/>
                      </a:solidFill>
                      <a:prstDash val="solid"/>
                      <a:round/>
                      <a:headEnd type="none" w="med" len="med"/>
                      <a:tailEnd type="none" w="med" len="med"/>
                    </a:lnL>
                    <a:lnR w="12700" cap="flat" cmpd="sng" algn="ctr">
                      <a:solidFill>
                        <a:srgbClr val="CCD0D6"/>
                      </a:solidFill>
                      <a:prstDash val="solid"/>
                      <a:round/>
                      <a:headEnd type="none" w="med" len="med"/>
                      <a:tailEnd type="none" w="med" len="med"/>
                    </a:lnR>
                    <a:lnT w="12700" cap="flat" cmpd="sng" algn="ctr">
                      <a:solidFill>
                        <a:srgbClr val="CCD0D6"/>
                      </a:solidFill>
                      <a:prstDash val="solid"/>
                      <a:round/>
                      <a:headEnd type="none" w="med" len="med"/>
                      <a:tailEnd type="none" w="med" len="med"/>
                    </a:lnT>
                    <a:lnB w="12700" cap="flat" cmpd="sng" algn="ctr">
                      <a:solidFill>
                        <a:srgbClr val="CCD0D6"/>
                      </a:solidFill>
                      <a:prstDash val="solid"/>
                      <a:round/>
                      <a:headEnd type="none" w="med" len="med"/>
                      <a:tailEnd type="none" w="med" len="med"/>
                    </a:lnB>
                    <a:solidFill>
                      <a:srgbClr val="F1F4FA"/>
                    </a:solidFill>
                  </a:tcPr>
                </a:tc>
              </a:tr>
            </a:tbl>
          </a:graphicData>
        </a:graphic>
      </p:graphicFrame>
      <p:sp>
        <p:nvSpPr>
          <p:cNvPr id="5" name="Text 2"/>
          <p:cNvSpPr/>
          <p:nvPr/>
        </p:nvSpPr>
        <p:spPr>
          <a:xfrm>
            <a:off x="812800" y="4091849"/>
            <a:ext cx="10883392" cy="224234"/>
          </a:xfrm>
          <a:prstGeom prst="rect">
            <a:avLst/>
          </a:prstGeom>
          <a:noFill/>
          <a:ln/>
        </p:spPr>
        <p:txBody>
          <a:bodyPr wrap="square" lIns="0" tIns="0" rIns="0" bIns="0" rtlCol="0" anchor="t">
            <a:normAutofit/>
          </a:bodyPr>
          <a:lstStyle/>
          <a:p>
            <a:pPr algn="l" indent="0" marL="0">
              <a:lnSpc>
                <a:spcPts val="1570"/>
              </a:lnSpc>
              <a:buNone/>
            </a:pPr>
            <a:r>
              <a:rPr lang="en-US" sz="1121" b="1" spc="100" kern="0" dirty="0">
                <a:solidFill>
                  <a:srgbClr val="2F5FE0"/>
                </a:solidFill>
                <a:latin typeface="Lexend" pitchFamily="34" charset="0"/>
                <a:ea typeface="Lexend" pitchFamily="34" charset="-122"/>
                <a:cs typeface="Lexend" pitchFamily="34" charset="-120"/>
              </a:rPr>
              <a:t>CAPITAL RELEASES ON ITS OWN CLOCK — THREE TRANCHES, 6 MONTHS EACH</a:t>
            </a:r>
            <a:endParaRPr lang="en-US" sz="1121" dirty="0"/>
          </a:p>
        </p:txBody>
      </p:sp>
      <p:sp>
        <p:nvSpPr>
          <p:cNvPr id="6" name="Shape 3"/>
          <p:cNvSpPr/>
          <p:nvPr/>
        </p:nvSpPr>
        <p:spPr>
          <a:xfrm>
            <a:off x="815975" y="4408159"/>
            <a:ext cx="3433895" cy="902031"/>
          </a:xfrm>
          <a:prstGeom prst="roundRect">
            <a:avLst>
              <a:gd name="adj" fmla="val 9504"/>
            </a:avLst>
          </a:prstGeom>
          <a:solidFill>
            <a:srgbClr val="EEF2FA"/>
          </a:solidFill>
          <a:ln w="6350">
            <a:solidFill>
              <a:srgbClr val="DCE3F0"/>
            </a:solidFill>
            <a:prstDash val="solid"/>
          </a:ln>
        </p:spPr>
      </p:sp>
      <p:sp>
        <p:nvSpPr>
          <p:cNvPr id="7" name="Text 4"/>
          <p:cNvSpPr/>
          <p:nvPr/>
        </p:nvSpPr>
        <p:spPr>
          <a:xfrm>
            <a:off x="969433" y="4523519"/>
            <a:ext cx="3220787" cy="217421"/>
          </a:xfrm>
          <a:prstGeom prst="rect">
            <a:avLst/>
          </a:prstGeom>
          <a:noFill/>
          <a:ln/>
        </p:spPr>
        <p:txBody>
          <a:bodyPr wrap="square" lIns="0" tIns="0" rIns="0" bIns="0" rtlCol="0" anchor="t">
            <a:normAutofit/>
          </a:bodyPr>
          <a:lstStyle/>
          <a:p>
            <a:pPr algn="l" indent="0" marL="0">
              <a:lnSpc>
                <a:spcPts val="1523"/>
              </a:lnSpc>
              <a:buNone/>
            </a:pPr>
            <a:r>
              <a:rPr lang="en-US" sz="1088" b="1" dirty="0">
                <a:solidFill>
                  <a:srgbClr val="4A5568"/>
                </a:solidFill>
                <a:latin typeface="Lexend" pitchFamily="34" charset="0"/>
                <a:ea typeface="Lexend" pitchFamily="34" charset="-122"/>
                <a:cs typeface="Lexend" pitchFamily="34" charset="-120"/>
              </a:rPr>
              <a:t>Tranche 1 · M1–6</a:t>
            </a:r>
            <a:endParaRPr lang="en-US" sz="1088" dirty="0"/>
          </a:p>
        </p:txBody>
      </p:sp>
      <p:sp>
        <p:nvSpPr>
          <p:cNvPr id="8" name="Text 5"/>
          <p:cNvSpPr/>
          <p:nvPr/>
        </p:nvSpPr>
        <p:spPr>
          <a:xfrm>
            <a:off x="969433" y="4753639"/>
            <a:ext cx="3220787" cy="243417"/>
          </a:xfrm>
          <a:prstGeom prst="rect">
            <a:avLst/>
          </a:prstGeom>
          <a:noFill/>
          <a:ln/>
        </p:spPr>
        <p:txBody>
          <a:bodyPr wrap="square" lIns="0" tIns="0" rIns="0" bIns="0" rtlCol="0" anchor="t">
            <a:normAutofit/>
          </a:bodyPr>
          <a:lstStyle/>
          <a:p>
            <a:pPr algn="l" indent="0" marL="0">
              <a:lnSpc>
                <a:spcPts val="1723"/>
              </a:lnSpc>
              <a:buNone/>
            </a:pPr>
            <a:r>
              <a:rPr lang="en-US" sz="1626" b="1" dirty="0">
                <a:solidFill>
                  <a:srgbClr val="2F5FE0"/>
                </a:solidFill>
                <a:latin typeface="Geologica" pitchFamily="34" charset="0"/>
                <a:ea typeface="Geologica" pitchFamily="34" charset="-122"/>
                <a:cs typeface="Geologica" pitchFamily="34" charset="-120"/>
              </a:rPr>
              <a:t>₹2.74 Cr</a:t>
            </a:r>
            <a:endParaRPr lang="en-US" sz="1626" dirty="0"/>
          </a:p>
        </p:txBody>
      </p:sp>
      <p:sp>
        <p:nvSpPr>
          <p:cNvPr id="9" name="Text 6"/>
          <p:cNvSpPr/>
          <p:nvPr/>
        </p:nvSpPr>
        <p:spPr>
          <a:xfrm>
            <a:off x="969433" y="5009753"/>
            <a:ext cx="3220787" cy="210476"/>
          </a:xfrm>
          <a:prstGeom prst="rect">
            <a:avLst/>
          </a:prstGeom>
          <a:noFill/>
          <a:ln/>
        </p:spPr>
        <p:txBody>
          <a:bodyPr wrap="square" lIns="0" tIns="0" rIns="0" bIns="0" rtlCol="0" anchor="t">
            <a:normAutofit/>
          </a:bodyPr>
          <a:lstStyle/>
          <a:p>
            <a:pPr algn="l" indent="0" marL="0">
              <a:lnSpc>
                <a:spcPts val="1473"/>
              </a:lnSpc>
              <a:buNone/>
            </a:pPr>
            <a:r>
              <a:rPr lang="en-US" sz="1091" dirty="0">
                <a:solidFill>
                  <a:srgbClr val="4A5568"/>
                </a:solidFill>
                <a:latin typeface="DM Sans" pitchFamily="34" charset="0"/>
                <a:ea typeface="DM Sans" pitchFamily="34" charset="-122"/>
                <a:cs typeface="DM Sans" pitchFamily="34" charset="-120"/>
              </a:rPr>
              <a:t>+6% equity</a:t>
            </a:r>
            <a:endParaRPr lang="en-US" sz="1091" dirty="0"/>
          </a:p>
        </p:txBody>
      </p:sp>
      <p:sp>
        <p:nvSpPr>
          <p:cNvPr id="10" name="Shape 7"/>
          <p:cNvSpPr/>
          <p:nvPr/>
        </p:nvSpPr>
        <p:spPr>
          <a:xfrm>
            <a:off x="4383220" y="4408159"/>
            <a:ext cx="3433961" cy="902031"/>
          </a:xfrm>
          <a:prstGeom prst="roundRect">
            <a:avLst>
              <a:gd name="adj" fmla="val 9504"/>
            </a:avLst>
          </a:prstGeom>
          <a:solidFill>
            <a:srgbClr val="EEF2FA"/>
          </a:solidFill>
          <a:ln w="6350">
            <a:solidFill>
              <a:srgbClr val="DCE3F0"/>
            </a:solidFill>
            <a:prstDash val="solid"/>
          </a:ln>
        </p:spPr>
      </p:sp>
      <p:sp>
        <p:nvSpPr>
          <p:cNvPr id="11" name="Text 8"/>
          <p:cNvSpPr/>
          <p:nvPr/>
        </p:nvSpPr>
        <p:spPr>
          <a:xfrm>
            <a:off x="4536678" y="4523519"/>
            <a:ext cx="3220856" cy="217421"/>
          </a:xfrm>
          <a:prstGeom prst="rect">
            <a:avLst/>
          </a:prstGeom>
          <a:noFill/>
          <a:ln/>
        </p:spPr>
        <p:txBody>
          <a:bodyPr wrap="square" lIns="0" tIns="0" rIns="0" bIns="0" rtlCol="0" anchor="t">
            <a:normAutofit/>
          </a:bodyPr>
          <a:lstStyle/>
          <a:p>
            <a:pPr algn="l" indent="0" marL="0">
              <a:lnSpc>
                <a:spcPts val="1523"/>
              </a:lnSpc>
              <a:buNone/>
            </a:pPr>
            <a:r>
              <a:rPr lang="en-US" sz="1088" b="1" dirty="0">
                <a:solidFill>
                  <a:srgbClr val="4A5568"/>
                </a:solidFill>
                <a:latin typeface="Lexend" pitchFamily="34" charset="0"/>
                <a:ea typeface="Lexend" pitchFamily="34" charset="-122"/>
                <a:cs typeface="Lexend" pitchFamily="34" charset="-120"/>
              </a:rPr>
              <a:t>Tranche 2 · M7–12</a:t>
            </a:r>
            <a:endParaRPr lang="en-US" sz="1088" dirty="0"/>
          </a:p>
        </p:txBody>
      </p:sp>
      <p:sp>
        <p:nvSpPr>
          <p:cNvPr id="12" name="Text 9"/>
          <p:cNvSpPr/>
          <p:nvPr/>
        </p:nvSpPr>
        <p:spPr>
          <a:xfrm>
            <a:off x="4536678" y="4753639"/>
            <a:ext cx="3220856" cy="243417"/>
          </a:xfrm>
          <a:prstGeom prst="rect">
            <a:avLst/>
          </a:prstGeom>
          <a:noFill/>
          <a:ln/>
        </p:spPr>
        <p:txBody>
          <a:bodyPr wrap="square" lIns="0" tIns="0" rIns="0" bIns="0" rtlCol="0" anchor="t">
            <a:normAutofit/>
          </a:bodyPr>
          <a:lstStyle/>
          <a:p>
            <a:pPr algn="l" indent="0" marL="0">
              <a:lnSpc>
                <a:spcPts val="1723"/>
              </a:lnSpc>
              <a:buNone/>
            </a:pPr>
            <a:r>
              <a:rPr lang="en-US" sz="1626" b="1" dirty="0">
                <a:solidFill>
                  <a:srgbClr val="2F5FE0"/>
                </a:solidFill>
                <a:latin typeface="Geologica" pitchFamily="34" charset="0"/>
                <a:ea typeface="Geologica" pitchFamily="34" charset="-122"/>
                <a:cs typeface="Geologica" pitchFamily="34" charset="-120"/>
              </a:rPr>
              <a:t>₹5.27 Cr</a:t>
            </a:r>
            <a:endParaRPr lang="en-US" sz="1626" dirty="0"/>
          </a:p>
        </p:txBody>
      </p:sp>
      <p:sp>
        <p:nvSpPr>
          <p:cNvPr id="13" name="Text 10"/>
          <p:cNvSpPr/>
          <p:nvPr/>
        </p:nvSpPr>
        <p:spPr>
          <a:xfrm>
            <a:off x="4536678" y="5009753"/>
            <a:ext cx="3220856" cy="210476"/>
          </a:xfrm>
          <a:prstGeom prst="rect">
            <a:avLst/>
          </a:prstGeom>
          <a:noFill/>
          <a:ln/>
        </p:spPr>
        <p:txBody>
          <a:bodyPr wrap="square" lIns="0" tIns="0" rIns="0" bIns="0" rtlCol="0" anchor="t">
            <a:normAutofit/>
          </a:bodyPr>
          <a:lstStyle/>
          <a:p>
            <a:pPr algn="l" indent="0" marL="0">
              <a:lnSpc>
                <a:spcPts val="1473"/>
              </a:lnSpc>
              <a:buNone/>
            </a:pPr>
            <a:r>
              <a:rPr lang="en-US" sz="1091" dirty="0">
                <a:solidFill>
                  <a:srgbClr val="4A5568"/>
                </a:solidFill>
                <a:latin typeface="DM Sans" pitchFamily="34" charset="0"/>
                <a:ea typeface="DM Sans" pitchFamily="34" charset="-122"/>
                <a:cs typeface="DM Sans" pitchFamily="34" charset="-120"/>
              </a:rPr>
              <a:t>+7% equity</a:t>
            </a:r>
            <a:endParaRPr lang="en-US" sz="1091" dirty="0"/>
          </a:p>
        </p:txBody>
      </p:sp>
      <p:sp>
        <p:nvSpPr>
          <p:cNvPr id="14" name="Shape 11"/>
          <p:cNvSpPr/>
          <p:nvPr/>
        </p:nvSpPr>
        <p:spPr>
          <a:xfrm>
            <a:off x="7947356" y="4404984"/>
            <a:ext cx="3431844" cy="908381"/>
          </a:xfrm>
          <a:prstGeom prst="roundRect">
            <a:avLst>
              <a:gd name="adj" fmla="val 9787"/>
            </a:avLst>
          </a:prstGeom>
          <a:solidFill>
            <a:srgbClr val="0F1B33"/>
          </a:solidFill>
          <a:ln/>
        </p:spPr>
      </p:sp>
      <p:sp>
        <p:nvSpPr>
          <p:cNvPr id="15" name="Text 12"/>
          <p:cNvSpPr/>
          <p:nvPr/>
        </p:nvSpPr>
        <p:spPr>
          <a:xfrm>
            <a:off x="8099756" y="4519284"/>
            <a:ext cx="3220856" cy="220133"/>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B9C4DA"/>
                </a:solidFill>
                <a:latin typeface="Lexend" pitchFamily="34" charset="0"/>
                <a:ea typeface="Lexend" pitchFamily="34" charset="-122"/>
                <a:cs typeface="Lexend" pitchFamily="34" charset="-120"/>
              </a:rPr>
              <a:t>Tranche 3 · M13–18</a:t>
            </a:r>
            <a:endParaRPr lang="en-US" sz="1121" dirty="0"/>
          </a:p>
        </p:txBody>
      </p:sp>
      <p:sp>
        <p:nvSpPr>
          <p:cNvPr id="16" name="Text 13"/>
          <p:cNvSpPr/>
          <p:nvPr/>
        </p:nvSpPr>
        <p:spPr>
          <a:xfrm>
            <a:off x="8099756" y="4752119"/>
            <a:ext cx="3220856" cy="246526"/>
          </a:xfrm>
          <a:prstGeom prst="rect">
            <a:avLst/>
          </a:prstGeom>
          <a:noFill/>
          <a:ln/>
        </p:spPr>
        <p:txBody>
          <a:bodyPr wrap="square" lIns="0" tIns="0" rIns="0" bIns="0" rtlCol="0" anchor="t">
            <a:normAutofit/>
          </a:bodyPr>
          <a:lstStyle/>
          <a:p>
            <a:pPr algn="l" indent="0" marL="0">
              <a:lnSpc>
                <a:spcPts val="1771"/>
              </a:lnSpc>
              <a:buNone/>
            </a:pPr>
            <a:r>
              <a:rPr lang="en-US" sz="1671" b="1" dirty="0">
                <a:solidFill>
                  <a:srgbClr val="7FA8FF"/>
                </a:solidFill>
                <a:latin typeface="Geologica" pitchFamily="34" charset="0"/>
                <a:ea typeface="Geologica" pitchFamily="34" charset="-122"/>
                <a:cs typeface="Geologica" pitchFamily="34" charset="-120"/>
              </a:rPr>
              <a:t>₹4.48 Cr</a:t>
            </a:r>
            <a:endParaRPr lang="en-US" sz="1671" dirty="0"/>
          </a:p>
        </p:txBody>
      </p:sp>
      <p:sp>
        <p:nvSpPr>
          <p:cNvPr id="17" name="Text 14"/>
          <p:cNvSpPr/>
          <p:nvPr/>
        </p:nvSpPr>
        <p:spPr>
          <a:xfrm>
            <a:off x="8099756" y="5011341"/>
            <a:ext cx="3220856" cy="213122"/>
          </a:xfrm>
          <a:prstGeom prst="rect">
            <a:avLst/>
          </a:prstGeom>
          <a:noFill/>
          <a:ln/>
        </p:spPr>
        <p:txBody>
          <a:bodyPr wrap="square" lIns="0" tIns="0" rIns="0" bIns="0" rtlCol="0" anchor="t">
            <a:normAutofit/>
          </a:bodyPr>
          <a:lstStyle/>
          <a:p>
            <a:pPr algn="l" indent="0" marL="0">
              <a:lnSpc>
                <a:spcPts val="1524"/>
              </a:lnSpc>
              <a:buNone/>
            </a:pPr>
            <a:r>
              <a:rPr lang="en-US" sz="1129" dirty="0">
                <a:solidFill>
                  <a:srgbClr val="B9C4DA"/>
                </a:solidFill>
                <a:latin typeface="DM Sans" pitchFamily="34" charset="0"/>
                <a:ea typeface="DM Sans" pitchFamily="34" charset="-122"/>
                <a:cs typeface="DM Sans" pitchFamily="34" charset="-120"/>
              </a:rPr>
              <a:t>+7% — 20% in total</a:t>
            </a:r>
            <a:endParaRPr lang="en-US" sz="1129" dirty="0"/>
          </a:p>
        </p:txBody>
      </p:sp>
      <p:sp>
        <p:nvSpPr>
          <p:cNvPr id="18" name="Text 15"/>
          <p:cNvSpPr/>
          <p:nvPr/>
        </p:nvSpPr>
        <p:spPr>
          <a:xfrm>
            <a:off x="812800" y="5427663"/>
            <a:ext cx="10883392" cy="439738"/>
          </a:xfrm>
          <a:prstGeom prst="rect">
            <a:avLst/>
          </a:prstGeom>
          <a:noFill/>
          <a:ln/>
        </p:spPr>
        <p:txBody>
          <a:bodyPr wrap="square" lIns="0" tIns="0" rIns="0" bIns="0" rtlCol="0" anchor="t">
            <a:normAutofit/>
          </a:bodyPr>
          <a:lstStyle/>
          <a:p>
            <a:pPr algn="l" indent="0" marL="0">
              <a:lnSpc>
                <a:spcPts val="1635"/>
              </a:lnSpc>
              <a:buNone/>
            </a:pPr>
            <a:r>
              <a:rPr lang="en-US" sz="1168" dirty="0">
                <a:solidFill>
                  <a:srgbClr val="4A5568"/>
                </a:solidFill>
                <a:latin typeface="DM Sans" pitchFamily="34" charset="0"/>
                <a:ea typeface="DM Sans" pitchFamily="34" charset="-122"/>
                <a:cs typeface="DM Sans" pitchFamily="34" charset="-120"/>
              </a:rPr>
              <a:t>Capital and equity release together, only once the prior tranche's deliverables are evidenced. Tranche 2 carries the SEBI-RIA deposit and the full ₹1.33 Cr contingency, which the round closes with intact. Tile widths show each tranche's share of the round.</a:t>
            </a:r>
            <a:endParaRPr lang="en-US" sz="1168" dirty="0"/>
          </a:p>
        </p:txBody>
      </p:sp>
      <p:pic>
        <p:nvPicPr>
          <p:cNvPr id="19" name="Image 0" descr="Nxance">    </p:cNvPr>
          <p:cNvPicPr>
            <a:picLocks noChangeAspect="1"/>
          </p:cNvPicPr>
          <p:nvPr/>
        </p:nvPicPr>
        <p:blipFill>
          <a:blip r:embed="rId1"/>
          <a:srcRect l="0" r="0" t="-227" b="-227"/>
          <a:stretch/>
        </p:blipFill>
        <p:spPr>
          <a:xfrm>
            <a:off x="812800" y="6267450"/>
            <a:ext cx="698500" cy="215900"/>
          </a:xfrm>
          <a:prstGeom prst="rect">
            <a:avLst/>
          </a:prstGeom>
        </p:spPr>
      </p:pic>
      <p:sp>
        <p:nvSpPr>
          <p:cNvPr id="20" name="Text 16"/>
          <p:cNvSpPr/>
          <p:nvPr/>
        </p:nvSpPr>
        <p:spPr>
          <a:xfrm>
            <a:off x="1638300" y="62382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5"/>
                </a:solidFill>
                <a:latin typeface="DM Sans" pitchFamily="34" charset="0"/>
                <a:ea typeface="DM Sans" pitchFamily="34" charset="-122"/>
                <a:cs typeface="DM Sans" pitchFamily="34" charset="-120"/>
              </a:rPr>
              <a:t>Ohshn Intelligence LLP</a:t>
            </a:r>
            <a:endParaRPr lang="en-US" sz="1200" dirty="0"/>
          </a:p>
        </p:txBody>
      </p:sp>
      <p:sp>
        <p:nvSpPr>
          <p:cNvPr id="21" name="Text 17"/>
          <p:cNvSpPr/>
          <p:nvPr/>
        </p:nvSpPr>
        <p:spPr>
          <a:xfrm>
            <a:off x="10439400" y="623828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3A5"/>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FE0"/>
                </a:solidFill>
                <a:latin typeface="Lexend" pitchFamily="34" charset="0"/>
                <a:ea typeface="Lexend" pitchFamily="34" charset="-122"/>
                <a:cs typeface="Lexend" pitchFamily="34" charset="-120"/>
              </a:rPr>
              <a:t>TEAM</a:t>
            </a:r>
            <a:endParaRPr lang="en-US" sz="1200" dirty="0"/>
          </a:p>
        </p:txBody>
      </p:sp>
      <p:sp>
        <p:nvSpPr>
          <p:cNvPr id="3" name="Text 1"/>
          <p:cNvSpPr/>
          <p:nvPr/>
        </p:nvSpPr>
        <p:spPr>
          <a:xfrm>
            <a:off x="812800" y="1178520"/>
            <a:ext cx="10203180" cy="401770"/>
          </a:xfrm>
          <a:prstGeom prst="rect">
            <a:avLst/>
          </a:prstGeom>
          <a:noFill/>
          <a:ln/>
        </p:spPr>
        <p:txBody>
          <a:bodyPr wrap="square" lIns="0" tIns="0" rIns="0" bIns="0" rtlCol="0" anchor="t">
            <a:normAutofit/>
          </a:bodyPr>
          <a:lstStyle/>
          <a:p>
            <a:pPr algn="l" indent="0" marL="0">
              <a:lnSpc>
                <a:spcPts val="2964"/>
              </a:lnSpc>
              <a:buNone/>
            </a:pPr>
            <a:r>
              <a:rPr lang="en-US" sz="2600" b="1" dirty="0">
                <a:solidFill>
                  <a:srgbClr val="0F1B33"/>
                </a:solidFill>
                <a:latin typeface="Geologica" pitchFamily="34" charset="0"/>
                <a:ea typeface="Geologica" pitchFamily="34" charset="-122"/>
                <a:cs typeface="Geologica" pitchFamily="34" charset="-120"/>
              </a:rPr>
              <a:t>Four founders, full-time, one product.</a:t>
            </a:r>
            <a:endParaRPr lang="en-US" sz="2600" dirty="0"/>
          </a:p>
        </p:txBody>
      </p:sp>
      <p:sp>
        <p:nvSpPr>
          <p:cNvPr id="4" name="Shape 2"/>
          <p:cNvSpPr/>
          <p:nvPr/>
        </p:nvSpPr>
        <p:spPr>
          <a:xfrm>
            <a:off x="815975" y="1710469"/>
            <a:ext cx="5276850" cy="1302279"/>
          </a:xfrm>
          <a:prstGeom prst="roundRect">
            <a:avLst>
              <a:gd name="adj" fmla="val 7558"/>
            </a:avLst>
          </a:prstGeom>
          <a:solidFill>
            <a:srgbClr val="FFFFFF"/>
          </a:solidFill>
          <a:ln w="6350">
            <a:solidFill>
              <a:srgbClr val="DCE3F0"/>
            </a:solidFill>
            <a:prstDash val="solid"/>
          </a:ln>
        </p:spPr>
      </p:sp>
      <p:sp>
        <p:nvSpPr>
          <p:cNvPr id="5" name="Text 3"/>
          <p:cNvSpPr/>
          <p:nvPr/>
        </p:nvSpPr>
        <p:spPr>
          <a:xfrm>
            <a:off x="1007533" y="1876623"/>
            <a:ext cx="504054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33"/>
                </a:solidFill>
                <a:latin typeface="Lexend" pitchFamily="34" charset="0"/>
                <a:ea typeface="Lexend" pitchFamily="34" charset="-122"/>
                <a:cs typeface="Lexend" pitchFamily="34" charset="-120"/>
              </a:rPr>
              <a:t>Abhishek Rajput  </a:t>
            </a:r>
            <a:r>
              <a:rPr lang="en-US" sz="1500" b="1" dirty="0">
                <a:solidFill>
                  <a:srgbClr val="2F5FE0"/>
                </a:solidFill>
                <a:latin typeface="Lexend" pitchFamily="34" charset="0"/>
                <a:ea typeface="Lexend" pitchFamily="34" charset="-122"/>
                <a:cs typeface="Lexend" pitchFamily="34" charset="-120"/>
              </a:rPr>
              <a:t>Founder &amp; CEO</a:t>
            </a:r>
            <a:endParaRPr lang="en-US" sz="1500" dirty="0"/>
          </a:p>
        </p:txBody>
      </p:sp>
      <p:sp>
        <p:nvSpPr>
          <p:cNvPr id="6" name="Text 4"/>
          <p:cNvSpPr/>
          <p:nvPr/>
        </p:nvSpPr>
        <p:spPr>
          <a:xfrm>
            <a:off x="1007533" y="2156023"/>
            <a:ext cx="5040545" cy="715963"/>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DM Sans" pitchFamily="34" charset="0"/>
                <a:ea typeface="DM Sans" pitchFamily="34" charset="-122"/>
                <a:cs typeface="DM Sans" pitchFamily="34" charset="-120"/>
              </a:rPr>
              <a:t>Investment analyst and product builder. Trades equity and derivatives, has run live portfolios, and has built sales teams that beat target.</a:t>
            </a:r>
            <a:endParaRPr lang="en-US" sz="1250" dirty="0"/>
          </a:p>
        </p:txBody>
      </p:sp>
      <p:sp>
        <p:nvSpPr>
          <p:cNvPr id="7" name="Shape 5"/>
          <p:cNvSpPr/>
          <p:nvPr/>
        </p:nvSpPr>
        <p:spPr>
          <a:xfrm>
            <a:off x="6099175" y="1710469"/>
            <a:ext cx="5276850" cy="1302279"/>
          </a:xfrm>
          <a:prstGeom prst="roundRect">
            <a:avLst>
              <a:gd name="adj" fmla="val 7558"/>
            </a:avLst>
          </a:prstGeom>
          <a:solidFill>
            <a:srgbClr val="FFFFFF"/>
          </a:solidFill>
          <a:ln w="6350">
            <a:solidFill>
              <a:srgbClr val="DCE3F0"/>
            </a:solidFill>
            <a:prstDash val="solid"/>
          </a:ln>
        </p:spPr>
      </p:sp>
      <p:sp>
        <p:nvSpPr>
          <p:cNvPr id="8" name="Text 6"/>
          <p:cNvSpPr/>
          <p:nvPr/>
        </p:nvSpPr>
        <p:spPr>
          <a:xfrm>
            <a:off x="6290733" y="1876623"/>
            <a:ext cx="504054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33"/>
                </a:solidFill>
                <a:latin typeface="Lexend" pitchFamily="34" charset="0"/>
                <a:ea typeface="Lexend" pitchFamily="34" charset="-122"/>
                <a:cs typeface="Lexend" pitchFamily="34" charset="-120"/>
              </a:rPr>
              <a:t>Raghav Kripasthya  </a:t>
            </a:r>
            <a:r>
              <a:rPr lang="en-US" sz="1500" b="1" dirty="0">
                <a:solidFill>
                  <a:srgbClr val="2F5FE0"/>
                </a:solidFill>
                <a:latin typeface="Lexend" pitchFamily="34" charset="0"/>
                <a:ea typeface="Lexend" pitchFamily="34" charset="-122"/>
                <a:cs typeface="Lexend" pitchFamily="34" charset="-120"/>
              </a:rPr>
              <a:t>Co-Founder &amp; CTO</a:t>
            </a:r>
            <a:endParaRPr lang="en-US" sz="1500" dirty="0"/>
          </a:p>
        </p:txBody>
      </p:sp>
      <p:sp>
        <p:nvSpPr>
          <p:cNvPr id="9" name="Text 7"/>
          <p:cNvSpPr/>
          <p:nvPr/>
        </p:nvSpPr>
        <p:spPr>
          <a:xfrm>
            <a:off x="6290733" y="2156023"/>
            <a:ext cx="5040545" cy="715963"/>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DM Sans" pitchFamily="34" charset="0"/>
                <a:ea typeface="DM Sans" pitchFamily="34" charset="-122"/>
                <a:cs typeface="DM Sans" pitchFamily="34" charset="-120"/>
              </a:rPr>
              <a:t>AI engineer and data scientist. Has shipped intelligent systems across healthcare, defence and computer vision. Python, PyTorch, AWS.</a:t>
            </a:r>
            <a:endParaRPr lang="en-US" sz="1250" dirty="0"/>
          </a:p>
        </p:txBody>
      </p:sp>
      <p:sp>
        <p:nvSpPr>
          <p:cNvPr id="10" name="Shape 8"/>
          <p:cNvSpPr/>
          <p:nvPr/>
        </p:nvSpPr>
        <p:spPr>
          <a:xfrm>
            <a:off x="815975" y="3019096"/>
            <a:ext cx="5276850" cy="1302279"/>
          </a:xfrm>
          <a:prstGeom prst="roundRect">
            <a:avLst>
              <a:gd name="adj" fmla="val 7558"/>
            </a:avLst>
          </a:prstGeom>
          <a:solidFill>
            <a:srgbClr val="FFFFFF"/>
          </a:solidFill>
          <a:ln w="6350">
            <a:solidFill>
              <a:srgbClr val="DCE3F0"/>
            </a:solidFill>
            <a:prstDash val="solid"/>
          </a:ln>
        </p:spPr>
      </p:sp>
      <p:sp>
        <p:nvSpPr>
          <p:cNvPr id="11" name="Text 9"/>
          <p:cNvSpPr/>
          <p:nvPr/>
        </p:nvSpPr>
        <p:spPr>
          <a:xfrm>
            <a:off x="1007533" y="3185257"/>
            <a:ext cx="504054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33"/>
                </a:solidFill>
                <a:latin typeface="Lexend" pitchFamily="34" charset="0"/>
                <a:ea typeface="Lexend" pitchFamily="34" charset="-122"/>
                <a:cs typeface="Lexend" pitchFamily="34" charset="-120"/>
              </a:rPr>
              <a:t>Deepesh Khemka  </a:t>
            </a:r>
            <a:r>
              <a:rPr lang="en-US" sz="1500" b="1" dirty="0">
                <a:solidFill>
                  <a:srgbClr val="2F5FE0"/>
                </a:solidFill>
                <a:latin typeface="Lexend" pitchFamily="34" charset="0"/>
                <a:ea typeface="Lexend" pitchFamily="34" charset="-122"/>
                <a:cs typeface="Lexend" pitchFamily="34" charset="-120"/>
              </a:rPr>
              <a:t>Co-Founder &amp; CIO</a:t>
            </a:r>
            <a:endParaRPr lang="en-US" sz="1500" dirty="0"/>
          </a:p>
        </p:txBody>
      </p:sp>
      <p:sp>
        <p:nvSpPr>
          <p:cNvPr id="12" name="Text 10"/>
          <p:cNvSpPr/>
          <p:nvPr/>
        </p:nvSpPr>
        <p:spPr>
          <a:xfrm>
            <a:off x="1007533" y="3464657"/>
            <a:ext cx="5040545" cy="715963"/>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DM Sans" pitchFamily="34" charset="0"/>
                <a:ea typeface="DM Sans" pitchFamily="34" charset="-122"/>
                <a:cs typeface="DM Sans" pitchFamily="34" charset="-120"/>
              </a:rPr>
              <a:t>CFA Level III (charter pending) with deep capital-markets expertise. Built and scaled businesses before moving into wealth management.</a:t>
            </a:r>
            <a:endParaRPr lang="en-US" sz="1250" dirty="0"/>
          </a:p>
        </p:txBody>
      </p:sp>
      <p:sp>
        <p:nvSpPr>
          <p:cNvPr id="13" name="Shape 11"/>
          <p:cNvSpPr/>
          <p:nvPr/>
        </p:nvSpPr>
        <p:spPr>
          <a:xfrm>
            <a:off x="6099175" y="3019096"/>
            <a:ext cx="5276850" cy="1302279"/>
          </a:xfrm>
          <a:prstGeom prst="roundRect">
            <a:avLst>
              <a:gd name="adj" fmla="val 7558"/>
            </a:avLst>
          </a:prstGeom>
          <a:solidFill>
            <a:srgbClr val="FFFFFF"/>
          </a:solidFill>
          <a:ln w="6350">
            <a:solidFill>
              <a:srgbClr val="DCE3F0"/>
            </a:solidFill>
            <a:prstDash val="solid"/>
          </a:ln>
        </p:spPr>
      </p:sp>
      <p:sp>
        <p:nvSpPr>
          <p:cNvPr id="14" name="Text 12"/>
          <p:cNvSpPr/>
          <p:nvPr/>
        </p:nvSpPr>
        <p:spPr>
          <a:xfrm>
            <a:off x="6290733" y="3185257"/>
            <a:ext cx="504054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33"/>
                </a:solidFill>
                <a:latin typeface="Lexend" pitchFamily="34" charset="0"/>
                <a:ea typeface="Lexend" pitchFamily="34" charset="-122"/>
                <a:cs typeface="Lexend" pitchFamily="34" charset="-120"/>
              </a:rPr>
              <a:t>Bhaskar Pandey  </a:t>
            </a:r>
            <a:r>
              <a:rPr lang="en-US" sz="1500" b="1" dirty="0">
                <a:solidFill>
                  <a:srgbClr val="2F5FE0"/>
                </a:solidFill>
                <a:latin typeface="Lexend" pitchFamily="34" charset="0"/>
                <a:ea typeface="Lexend" pitchFamily="34" charset="-122"/>
                <a:cs typeface="Lexend" pitchFamily="34" charset="-120"/>
              </a:rPr>
              <a:t>Co-Founder &amp; COO</a:t>
            </a:r>
            <a:endParaRPr lang="en-US" sz="1500" dirty="0"/>
          </a:p>
        </p:txBody>
      </p:sp>
      <p:sp>
        <p:nvSpPr>
          <p:cNvPr id="15" name="Text 13"/>
          <p:cNvSpPr/>
          <p:nvPr/>
        </p:nvSpPr>
        <p:spPr>
          <a:xfrm>
            <a:off x="6290733" y="3464657"/>
            <a:ext cx="5040545"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DM Sans" pitchFamily="34" charset="0"/>
                <a:ea typeface="DM Sans" pitchFamily="34" charset="-122"/>
                <a:cs typeface="DM Sans" pitchFamily="34" charset="-120"/>
              </a:rPr>
              <a:t>Technology strategist across AI/ML, enterprise automation and data platforms. Has shipped 28+ npm packages for AI tooling.</a:t>
            </a:r>
            <a:endParaRPr lang="en-US" sz="1250" dirty="0"/>
          </a:p>
        </p:txBody>
      </p:sp>
      <p:sp>
        <p:nvSpPr>
          <p:cNvPr id="16" name="Shape 14"/>
          <p:cNvSpPr/>
          <p:nvPr/>
        </p:nvSpPr>
        <p:spPr>
          <a:xfrm>
            <a:off x="815975" y="4480123"/>
            <a:ext cx="2530475" cy="973336"/>
          </a:xfrm>
          <a:prstGeom prst="roundRect">
            <a:avLst>
              <a:gd name="adj" fmla="val 8807"/>
            </a:avLst>
          </a:prstGeom>
          <a:solidFill>
            <a:srgbClr val="EEF2FA"/>
          </a:solidFill>
          <a:ln w="6350">
            <a:solidFill>
              <a:srgbClr val="DCE3F0"/>
            </a:solidFill>
            <a:prstDash val="solid"/>
          </a:ln>
        </p:spPr>
      </p:sp>
      <p:sp>
        <p:nvSpPr>
          <p:cNvPr id="17" name="Text 15"/>
          <p:cNvSpPr/>
          <p:nvPr/>
        </p:nvSpPr>
        <p:spPr>
          <a:xfrm>
            <a:off x="982133" y="4620884"/>
            <a:ext cx="2264103" cy="267692"/>
          </a:xfrm>
          <a:prstGeom prst="rect">
            <a:avLst/>
          </a:prstGeom>
          <a:noFill/>
          <a:ln/>
        </p:spPr>
        <p:txBody>
          <a:bodyPr wrap="square" lIns="0" tIns="0" rIns="0" bIns="0" rtlCol="0" anchor="t">
            <a:normAutofit/>
          </a:bodyPr>
          <a:lstStyle/>
          <a:p>
            <a:pPr algn="l" indent="0" marL="0">
              <a:lnSpc>
                <a:spcPts val="1908"/>
              </a:lnSpc>
              <a:buNone/>
            </a:pPr>
            <a:r>
              <a:rPr lang="en-US" sz="1800" b="1" dirty="0">
                <a:solidFill>
                  <a:srgbClr val="2F5FE0"/>
                </a:solidFill>
                <a:latin typeface="Geologica" pitchFamily="34" charset="0"/>
                <a:ea typeface="Geologica" pitchFamily="34" charset="-122"/>
                <a:cs typeface="Geologica" pitchFamily="34" charset="-120"/>
              </a:rPr>
              <a:t>40</a:t>
            </a:r>
            <a:endParaRPr lang="en-US" sz="1800" dirty="0"/>
          </a:p>
        </p:txBody>
      </p:sp>
      <p:sp>
        <p:nvSpPr>
          <p:cNvPr id="18" name="Text 16"/>
          <p:cNvSpPr/>
          <p:nvPr/>
        </p:nvSpPr>
        <p:spPr>
          <a:xfrm>
            <a:off x="982133" y="4901276"/>
            <a:ext cx="2264103"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DM Sans" pitchFamily="34" charset="0"/>
                <a:ea typeface="DM Sans" pitchFamily="34" charset="-122"/>
                <a:cs typeface="DM Sans" pitchFamily="34" charset="-120"/>
              </a:rPr>
              <a:t>people at exit headcount</a:t>
            </a:r>
            <a:endParaRPr lang="en-US" sz="1200" dirty="0"/>
          </a:p>
        </p:txBody>
      </p:sp>
      <p:sp>
        <p:nvSpPr>
          <p:cNvPr id="19" name="Shape 17"/>
          <p:cNvSpPr/>
          <p:nvPr/>
        </p:nvSpPr>
        <p:spPr>
          <a:xfrm>
            <a:off x="3492500" y="4480123"/>
            <a:ext cx="2530475" cy="973336"/>
          </a:xfrm>
          <a:prstGeom prst="roundRect">
            <a:avLst>
              <a:gd name="adj" fmla="val 8807"/>
            </a:avLst>
          </a:prstGeom>
          <a:solidFill>
            <a:srgbClr val="EEF2FA"/>
          </a:solidFill>
          <a:ln w="6350">
            <a:solidFill>
              <a:srgbClr val="DCE3F0"/>
            </a:solidFill>
            <a:prstDash val="solid"/>
          </a:ln>
        </p:spPr>
      </p:sp>
      <p:sp>
        <p:nvSpPr>
          <p:cNvPr id="20" name="Text 18"/>
          <p:cNvSpPr/>
          <p:nvPr/>
        </p:nvSpPr>
        <p:spPr>
          <a:xfrm>
            <a:off x="3658658" y="4620884"/>
            <a:ext cx="2264103" cy="267692"/>
          </a:xfrm>
          <a:prstGeom prst="rect">
            <a:avLst/>
          </a:prstGeom>
          <a:noFill/>
          <a:ln/>
        </p:spPr>
        <p:txBody>
          <a:bodyPr wrap="square" lIns="0" tIns="0" rIns="0" bIns="0" rtlCol="0" anchor="t">
            <a:normAutofit/>
          </a:bodyPr>
          <a:lstStyle/>
          <a:p>
            <a:pPr algn="l" indent="0" marL="0">
              <a:lnSpc>
                <a:spcPts val="1908"/>
              </a:lnSpc>
              <a:buNone/>
            </a:pPr>
            <a:r>
              <a:rPr lang="en-US" sz="1800" b="1" dirty="0">
                <a:solidFill>
                  <a:srgbClr val="2F5FE0"/>
                </a:solidFill>
                <a:latin typeface="Geologica" pitchFamily="34" charset="0"/>
                <a:ea typeface="Geologica" pitchFamily="34" charset="-122"/>
                <a:cs typeface="Geologica" pitchFamily="34" charset="-120"/>
              </a:rPr>
              <a:t>25</a:t>
            </a:r>
            <a:endParaRPr lang="en-US" sz="1800" dirty="0"/>
          </a:p>
        </p:txBody>
      </p:sp>
      <p:sp>
        <p:nvSpPr>
          <p:cNvPr id="21" name="Text 19"/>
          <p:cNvSpPr/>
          <p:nvPr/>
        </p:nvSpPr>
        <p:spPr>
          <a:xfrm>
            <a:off x="3658658" y="4901276"/>
            <a:ext cx="2264103"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DM Sans" pitchFamily="34" charset="0"/>
                <a:ea typeface="DM Sans" pitchFamily="34" charset="-122"/>
                <a:cs typeface="DM Sans" pitchFamily="34" charset="-120"/>
              </a:rPr>
              <a:t>costed hiring lines in the budget</a:t>
            </a:r>
            <a:endParaRPr lang="en-US" sz="1200" dirty="0"/>
          </a:p>
        </p:txBody>
      </p:sp>
      <p:sp>
        <p:nvSpPr>
          <p:cNvPr id="22" name="Shape 20"/>
          <p:cNvSpPr/>
          <p:nvPr/>
        </p:nvSpPr>
        <p:spPr>
          <a:xfrm>
            <a:off x="6169025" y="4480123"/>
            <a:ext cx="2530475" cy="973336"/>
          </a:xfrm>
          <a:prstGeom prst="roundRect">
            <a:avLst>
              <a:gd name="adj" fmla="val 8807"/>
            </a:avLst>
          </a:prstGeom>
          <a:solidFill>
            <a:srgbClr val="EEF2FA"/>
          </a:solidFill>
          <a:ln w="6350">
            <a:solidFill>
              <a:srgbClr val="DCE3F0"/>
            </a:solidFill>
            <a:prstDash val="solid"/>
          </a:ln>
        </p:spPr>
      </p:sp>
      <p:sp>
        <p:nvSpPr>
          <p:cNvPr id="23" name="Text 21"/>
          <p:cNvSpPr/>
          <p:nvPr/>
        </p:nvSpPr>
        <p:spPr>
          <a:xfrm>
            <a:off x="6335183" y="4620884"/>
            <a:ext cx="2264103" cy="267692"/>
          </a:xfrm>
          <a:prstGeom prst="rect">
            <a:avLst/>
          </a:prstGeom>
          <a:noFill/>
          <a:ln/>
        </p:spPr>
        <p:txBody>
          <a:bodyPr wrap="square" lIns="0" tIns="0" rIns="0" bIns="0" rtlCol="0" anchor="t">
            <a:normAutofit/>
          </a:bodyPr>
          <a:lstStyle/>
          <a:p>
            <a:pPr algn="l" indent="0" marL="0">
              <a:lnSpc>
                <a:spcPts val="1908"/>
              </a:lnSpc>
              <a:buNone/>
            </a:pPr>
            <a:r>
              <a:rPr lang="en-US" sz="1800" b="1" dirty="0">
                <a:solidFill>
                  <a:srgbClr val="2F5FE0"/>
                </a:solidFill>
                <a:latin typeface="Geologica" pitchFamily="34" charset="0"/>
                <a:ea typeface="Geologica" pitchFamily="34" charset="-122"/>
                <a:cs typeface="Geologica" pitchFamily="34" charset="-120"/>
              </a:rPr>
              <a:t>₹5.83 Cr</a:t>
            </a:r>
            <a:endParaRPr lang="en-US" sz="1800" dirty="0"/>
          </a:p>
        </p:txBody>
      </p:sp>
      <p:sp>
        <p:nvSpPr>
          <p:cNvPr id="24" name="Text 22"/>
          <p:cNvSpPr/>
          <p:nvPr/>
        </p:nvSpPr>
        <p:spPr>
          <a:xfrm>
            <a:off x="6335183" y="4901276"/>
            <a:ext cx="2264103"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DM Sans" pitchFamily="34" charset="0"/>
                <a:ea typeface="DM Sans" pitchFamily="34" charset="-122"/>
                <a:cs typeface="DM Sans" pitchFamily="34" charset="-120"/>
              </a:rPr>
              <a:t>budgeted people cost over 18 months</a:t>
            </a:r>
            <a:endParaRPr lang="en-US" sz="1200" dirty="0"/>
          </a:p>
        </p:txBody>
      </p:sp>
      <p:sp>
        <p:nvSpPr>
          <p:cNvPr id="25" name="Shape 23"/>
          <p:cNvSpPr/>
          <p:nvPr/>
        </p:nvSpPr>
        <p:spPr>
          <a:xfrm>
            <a:off x="8845550" y="4480123"/>
            <a:ext cx="2530475" cy="973336"/>
          </a:xfrm>
          <a:prstGeom prst="roundRect">
            <a:avLst>
              <a:gd name="adj" fmla="val 8807"/>
            </a:avLst>
          </a:prstGeom>
          <a:solidFill>
            <a:srgbClr val="EEF2FA"/>
          </a:solidFill>
          <a:ln w="6350">
            <a:solidFill>
              <a:srgbClr val="DCE3F0"/>
            </a:solidFill>
            <a:prstDash val="solid"/>
          </a:ln>
        </p:spPr>
      </p:sp>
      <p:sp>
        <p:nvSpPr>
          <p:cNvPr id="26" name="Text 24"/>
          <p:cNvSpPr/>
          <p:nvPr/>
        </p:nvSpPr>
        <p:spPr>
          <a:xfrm>
            <a:off x="9011709" y="4620884"/>
            <a:ext cx="2264103" cy="267692"/>
          </a:xfrm>
          <a:prstGeom prst="rect">
            <a:avLst/>
          </a:prstGeom>
          <a:noFill/>
          <a:ln/>
        </p:spPr>
        <p:txBody>
          <a:bodyPr wrap="square" lIns="0" tIns="0" rIns="0" bIns="0" rtlCol="0" anchor="t">
            <a:normAutofit/>
          </a:bodyPr>
          <a:lstStyle/>
          <a:p>
            <a:pPr algn="l" indent="0" marL="0">
              <a:lnSpc>
                <a:spcPts val="1908"/>
              </a:lnSpc>
              <a:buNone/>
            </a:pPr>
            <a:r>
              <a:rPr lang="en-US" sz="1800" b="1" dirty="0">
                <a:solidFill>
                  <a:srgbClr val="2F5FE0"/>
                </a:solidFill>
                <a:latin typeface="Geologica" pitchFamily="34" charset="0"/>
                <a:ea typeface="Geologica" pitchFamily="34" charset="-122"/>
                <a:cs typeface="Geologica" pitchFamily="34" charset="-120"/>
              </a:rPr>
              <a:t>43%</a:t>
            </a:r>
            <a:endParaRPr lang="en-US" sz="1800" dirty="0"/>
          </a:p>
        </p:txBody>
      </p:sp>
      <p:sp>
        <p:nvSpPr>
          <p:cNvPr id="27" name="Text 25"/>
          <p:cNvSpPr/>
          <p:nvPr/>
        </p:nvSpPr>
        <p:spPr>
          <a:xfrm>
            <a:off x="9011709" y="4901276"/>
            <a:ext cx="2264103"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DM Sans" pitchFamily="34" charset="0"/>
                <a:ea typeface="DM Sans" pitchFamily="34" charset="-122"/>
                <a:cs typeface="DM Sans" pitchFamily="34" charset="-120"/>
              </a:rPr>
              <a:t>of that pool is investment and research</a:t>
            </a:r>
            <a:endParaRPr lang="en-US" sz="1200" dirty="0"/>
          </a:p>
        </p:txBody>
      </p:sp>
      <p:pic>
        <p:nvPicPr>
          <p:cNvPr id="28" name="Image 0" descr="Nxance">    </p:cNvPr>
          <p:cNvPicPr>
            <a:picLocks noChangeAspect="1"/>
          </p:cNvPicPr>
          <p:nvPr/>
        </p:nvPicPr>
        <p:blipFill>
          <a:blip r:embed="rId1"/>
          <a:srcRect l="0" r="0" t="-227" b="-227"/>
          <a:stretch/>
        </p:blipFill>
        <p:spPr>
          <a:xfrm>
            <a:off x="812800" y="6267450"/>
            <a:ext cx="698500" cy="215900"/>
          </a:xfrm>
          <a:prstGeom prst="rect">
            <a:avLst/>
          </a:prstGeom>
        </p:spPr>
      </p:pic>
      <p:sp>
        <p:nvSpPr>
          <p:cNvPr id="29" name="Text 26"/>
          <p:cNvSpPr/>
          <p:nvPr/>
        </p:nvSpPr>
        <p:spPr>
          <a:xfrm>
            <a:off x="1638300" y="62382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5"/>
                </a:solidFill>
                <a:latin typeface="DM Sans" pitchFamily="34" charset="0"/>
                <a:ea typeface="DM Sans" pitchFamily="34" charset="-122"/>
                <a:cs typeface="DM Sans" pitchFamily="34" charset="-120"/>
              </a:rPr>
              <a:t>Ohshn Intelligence LLP</a:t>
            </a:r>
            <a:endParaRPr lang="en-US" sz="1200" dirty="0"/>
          </a:p>
        </p:txBody>
      </p:sp>
      <p:sp>
        <p:nvSpPr>
          <p:cNvPr id="30" name="Text 27"/>
          <p:cNvSpPr/>
          <p:nvPr/>
        </p:nvSpPr>
        <p:spPr>
          <a:xfrm>
            <a:off x="10439400" y="623828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3A5"/>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A8FF"/>
                </a:solidFill>
                <a:latin typeface="Lexend" pitchFamily="34" charset="0"/>
                <a:ea typeface="Lexend" pitchFamily="34" charset="-122"/>
                <a:cs typeface="Lexend" pitchFamily="34" charset="-120"/>
              </a:rPr>
              <a:t>THE ASK</a:t>
            </a:r>
            <a:endParaRPr lang="en-US" sz="1200" dirty="0"/>
          </a:p>
        </p:txBody>
      </p:sp>
      <p:sp>
        <p:nvSpPr>
          <p:cNvPr id="3" name="Text 1"/>
          <p:cNvSpPr/>
          <p:nvPr/>
        </p:nvSpPr>
        <p:spPr>
          <a:xfrm>
            <a:off x="812800" y="1178520"/>
            <a:ext cx="10203180" cy="401770"/>
          </a:xfrm>
          <a:prstGeom prst="rect">
            <a:avLst/>
          </a:prstGeom>
          <a:noFill/>
          <a:ln/>
        </p:spPr>
        <p:txBody>
          <a:bodyPr wrap="square" lIns="0" tIns="0" rIns="0" bIns="0" rtlCol="0" anchor="t">
            <a:normAutofit/>
          </a:bodyPr>
          <a:lstStyle/>
          <a:p>
            <a:pPr algn="l" indent="0" marL="0">
              <a:lnSpc>
                <a:spcPts val="2964"/>
              </a:lnSpc>
              <a:buNone/>
            </a:pPr>
            <a:r>
              <a:rPr lang="en-US" sz="2600" b="1" dirty="0">
                <a:solidFill>
                  <a:srgbClr val="FFFFFF"/>
                </a:solidFill>
                <a:latin typeface="Geologica" pitchFamily="34" charset="0"/>
                <a:ea typeface="Geologica" pitchFamily="34" charset="-122"/>
                <a:cs typeface="Geologica" pitchFamily="34" charset="-120"/>
              </a:rPr>
              <a:t>₹12.49 Cr for 20% — ₹49.95 Cr pre-money.</a:t>
            </a:r>
            <a:endParaRPr lang="en-US" sz="2600" dirty="0"/>
          </a:p>
        </p:txBody>
      </p:sp>
      <p:sp>
        <p:nvSpPr>
          <p:cNvPr id="4" name="Shape 2"/>
          <p:cNvSpPr/>
          <p:nvPr/>
        </p:nvSpPr>
        <p:spPr>
          <a:xfrm>
            <a:off x="815975" y="1710469"/>
            <a:ext cx="3397250" cy="1170715"/>
          </a:xfrm>
          <a:prstGeom prst="roundRect">
            <a:avLst>
              <a:gd name="adj" fmla="val 8407"/>
            </a:avLst>
          </a:prstGeom>
          <a:solidFill>
            <a:srgbClr val="16233F"/>
          </a:solidFill>
          <a:ln w="6350">
            <a:solidFill>
              <a:srgbClr val="2C3C5E"/>
            </a:solidFill>
            <a:prstDash val="solid"/>
          </a:ln>
        </p:spPr>
      </p:sp>
      <p:sp>
        <p:nvSpPr>
          <p:cNvPr id="5" name="Text 3"/>
          <p:cNvSpPr/>
          <p:nvPr/>
        </p:nvSpPr>
        <p:spPr>
          <a:xfrm>
            <a:off x="1007533" y="1876623"/>
            <a:ext cx="3104557" cy="321535"/>
          </a:xfrm>
          <a:prstGeom prst="rect">
            <a:avLst/>
          </a:prstGeom>
          <a:noFill/>
          <a:ln/>
        </p:spPr>
        <p:txBody>
          <a:bodyPr wrap="square" lIns="0" tIns="0" rIns="0" bIns="0" rtlCol="0" anchor="t">
            <a:normAutofit/>
          </a:bodyPr>
          <a:lstStyle/>
          <a:p>
            <a:pPr algn="l" indent="0" marL="0">
              <a:lnSpc>
                <a:spcPts val="2332"/>
              </a:lnSpc>
              <a:buNone/>
            </a:pPr>
            <a:r>
              <a:rPr lang="en-US" sz="2200" b="1" dirty="0">
                <a:solidFill>
                  <a:srgbClr val="7FA8FF"/>
                </a:solidFill>
                <a:latin typeface="Geologica" pitchFamily="34" charset="0"/>
                <a:ea typeface="Geologica" pitchFamily="34" charset="-122"/>
                <a:cs typeface="Geologica" pitchFamily="34" charset="-120"/>
              </a:rPr>
              <a:t>₹12.49 Cr</a:t>
            </a:r>
            <a:endParaRPr lang="en-US" sz="2200" dirty="0"/>
          </a:p>
        </p:txBody>
      </p:sp>
      <p:sp>
        <p:nvSpPr>
          <p:cNvPr id="6" name="Text 4"/>
          <p:cNvSpPr/>
          <p:nvPr/>
        </p:nvSpPr>
        <p:spPr>
          <a:xfrm>
            <a:off x="1007533" y="2236260"/>
            <a:ext cx="3104557"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6DEEC"/>
                </a:solidFill>
                <a:latin typeface="DM Sans" pitchFamily="34" charset="0"/>
                <a:ea typeface="DM Sans" pitchFamily="34" charset="-122"/>
                <a:cs typeface="DM Sans" pitchFamily="34" charset="-120"/>
              </a:rPr>
              <a:t>Operating burn, SEBI-RIA deposit and contingency</a:t>
            </a:r>
            <a:endParaRPr lang="en-US" sz="1300" dirty="0"/>
          </a:p>
        </p:txBody>
      </p:sp>
      <p:sp>
        <p:nvSpPr>
          <p:cNvPr id="7" name="Shape 5"/>
          <p:cNvSpPr/>
          <p:nvPr/>
        </p:nvSpPr>
        <p:spPr>
          <a:xfrm>
            <a:off x="4397375" y="1710469"/>
            <a:ext cx="3397250" cy="1170715"/>
          </a:xfrm>
          <a:prstGeom prst="roundRect">
            <a:avLst>
              <a:gd name="adj" fmla="val 8407"/>
            </a:avLst>
          </a:prstGeom>
          <a:solidFill>
            <a:srgbClr val="16233F"/>
          </a:solidFill>
          <a:ln w="6350">
            <a:solidFill>
              <a:srgbClr val="2C3C5E"/>
            </a:solidFill>
            <a:prstDash val="solid"/>
          </a:ln>
        </p:spPr>
      </p:sp>
      <p:sp>
        <p:nvSpPr>
          <p:cNvPr id="8" name="Text 6"/>
          <p:cNvSpPr/>
          <p:nvPr/>
        </p:nvSpPr>
        <p:spPr>
          <a:xfrm>
            <a:off x="4588933" y="1876623"/>
            <a:ext cx="3104557" cy="321535"/>
          </a:xfrm>
          <a:prstGeom prst="rect">
            <a:avLst/>
          </a:prstGeom>
          <a:noFill/>
          <a:ln/>
        </p:spPr>
        <p:txBody>
          <a:bodyPr wrap="square" lIns="0" tIns="0" rIns="0" bIns="0" rtlCol="0" anchor="t">
            <a:normAutofit/>
          </a:bodyPr>
          <a:lstStyle/>
          <a:p>
            <a:pPr algn="l" indent="0" marL="0">
              <a:lnSpc>
                <a:spcPts val="2332"/>
              </a:lnSpc>
              <a:buNone/>
            </a:pPr>
            <a:r>
              <a:rPr lang="en-US" sz="2200" b="1" dirty="0">
                <a:solidFill>
                  <a:srgbClr val="7FA8FF"/>
                </a:solidFill>
                <a:latin typeface="Geologica" pitchFamily="34" charset="0"/>
                <a:ea typeface="Geologica" pitchFamily="34" charset="-122"/>
                <a:cs typeface="Geologica" pitchFamily="34" charset="-120"/>
              </a:rPr>
              <a:t>18 months</a:t>
            </a:r>
            <a:endParaRPr lang="en-US" sz="2200" dirty="0"/>
          </a:p>
        </p:txBody>
      </p:sp>
      <p:sp>
        <p:nvSpPr>
          <p:cNvPr id="9" name="Text 7"/>
          <p:cNvSpPr/>
          <p:nvPr/>
        </p:nvSpPr>
        <p:spPr>
          <a:xfrm>
            <a:off x="4588933" y="2236260"/>
            <a:ext cx="3104557"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6DEEC"/>
                </a:solidFill>
                <a:latin typeface="DM Sans" pitchFamily="34" charset="0"/>
                <a:ea typeface="DM Sans" pitchFamily="34" charset="-122"/>
                <a:cs typeface="DM Sans" pitchFamily="34" charset="-120"/>
              </a:rPr>
              <a:t>of runway, backend build to institutional pilots</a:t>
            </a:r>
            <a:endParaRPr lang="en-US" sz="1300" dirty="0"/>
          </a:p>
        </p:txBody>
      </p:sp>
      <p:sp>
        <p:nvSpPr>
          <p:cNvPr id="10" name="Shape 8"/>
          <p:cNvSpPr/>
          <p:nvPr/>
        </p:nvSpPr>
        <p:spPr>
          <a:xfrm>
            <a:off x="7978775" y="1710469"/>
            <a:ext cx="3397250" cy="1170715"/>
          </a:xfrm>
          <a:prstGeom prst="roundRect">
            <a:avLst>
              <a:gd name="adj" fmla="val 8407"/>
            </a:avLst>
          </a:prstGeom>
          <a:solidFill>
            <a:srgbClr val="16233F"/>
          </a:solidFill>
          <a:ln w="6350">
            <a:solidFill>
              <a:srgbClr val="2C3C5E"/>
            </a:solidFill>
            <a:prstDash val="solid"/>
          </a:ln>
        </p:spPr>
      </p:sp>
      <p:sp>
        <p:nvSpPr>
          <p:cNvPr id="11" name="Text 9"/>
          <p:cNvSpPr/>
          <p:nvPr/>
        </p:nvSpPr>
        <p:spPr>
          <a:xfrm>
            <a:off x="8170334" y="1876623"/>
            <a:ext cx="3104557" cy="321535"/>
          </a:xfrm>
          <a:prstGeom prst="rect">
            <a:avLst/>
          </a:prstGeom>
          <a:noFill/>
          <a:ln/>
        </p:spPr>
        <p:txBody>
          <a:bodyPr wrap="square" lIns="0" tIns="0" rIns="0" bIns="0" rtlCol="0" anchor="t">
            <a:normAutofit/>
          </a:bodyPr>
          <a:lstStyle/>
          <a:p>
            <a:pPr algn="l" indent="0" marL="0">
              <a:lnSpc>
                <a:spcPts val="2332"/>
              </a:lnSpc>
              <a:buNone/>
            </a:pPr>
            <a:r>
              <a:rPr lang="en-US" sz="2200" b="1" dirty="0">
                <a:solidFill>
                  <a:srgbClr val="7FA8FF"/>
                </a:solidFill>
                <a:latin typeface="Geologica" pitchFamily="34" charset="0"/>
                <a:ea typeface="Geologica" pitchFamily="34" charset="-122"/>
                <a:cs typeface="Geologica" pitchFamily="34" charset="-120"/>
              </a:rPr>
              <a:t>₹62.44 Cr</a:t>
            </a:r>
            <a:endParaRPr lang="en-US" sz="2200" dirty="0"/>
          </a:p>
        </p:txBody>
      </p:sp>
      <p:sp>
        <p:nvSpPr>
          <p:cNvPr id="12" name="Text 10"/>
          <p:cNvSpPr/>
          <p:nvPr/>
        </p:nvSpPr>
        <p:spPr>
          <a:xfrm>
            <a:off x="8170334" y="2236260"/>
            <a:ext cx="3104557"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6DEEC"/>
                </a:solidFill>
                <a:latin typeface="DM Sans" pitchFamily="34" charset="0"/>
                <a:ea typeface="DM Sans" pitchFamily="34" charset="-122"/>
                <a:cs typeface="DM Sans" pitchFamily="34" charset="-120"/>
              </a:rPr>
              <a:t>post-money, investor ownership at close 20.0%</a:t>
            </a:r>
            <a:endParaRPr lang="en-US" sz="1300" dirty="0"/>
          </a:p>
        </p:txBody>
      </p:sp>
      <p:sp>
        <p:nvSpPr>
          <p:cNvPr id="13" name="Text 11"/>
          <p:cNvSpPr/>
          <p:nvPr/>
        </p:nvSpPr>
        <p:spPr>
          <a:xfrm>
            <a:off x="812800" y="3036757"/>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A8FF"/>
                </a:solidFill>
                <a:latin typeface="Lexend" pitchFamily="34" charset="0"/>
                <a:ea typeface="Lexend" pitchFamily="34" charset="-122"/>
                <a:cs typeface="Lexend" pitchFamily="34" charset="-120"/>
              </a:rPr>
              <a:t>WHERE IT GOES</a:t>
            </a:r>
            <a:endParaRPr lang="en-US" sz="1200" dirty="0"/>
          </a:p>
        </p:txBody>
      </p:sp>
      <p:sp>
        <p:nvSpPr>
          <p:cNvPr id="14" name="Text 12"/>
          <p:cNvSpPr/>
          <p:nvPr/>
        </p:nvSpPr>
        <p:spPr>
          <a:xfrm>
            <a:off x="812800" y="3402478"/>
            <a:ext cx="5310886" cy="231775"/>
          </a:xfrm>
          <a:prstGeom prst="rect">
            <a:avLst/>
          </a:prstGeom>
          <a:noFill/>
          <a:ln/>
        </p:spPr>
        <p:txBody>
          <a:bodyPr wrap="square" lIns="0" tIns="0" rIns="0" bIns="0" rtlCol="0" anchor="t">
            <a:normAutofit/>
          </a:bodyPr>
          <a:lstStyle/>
          <a:p>
            <a:pPr algn="l" indent="0" marL="0">
              <a:lnSpc>
                <a:spcPts val="1625"/>
              </a:lnSpc>
              <a:buNone/>
            </a:pPr>
            <a:r>
              <a:rPr lang="en-US" sz="1250" b="1" dirty="0">
                <a:solidFill>
                  <a:srgbClr val="FFFFFF"/>
                </a:solidFill>
                <a:latin typeface="Lexend" pitchFamily="34" charset="0"/>
                <a:ea typeface="Lexend" pitchFamily="34" charset="-122"/>
                <a:cs typeface="Lexend" pitchFamily="34" charset="-120"/>
              </a:rPr>
              <a:t>Building and growing  </a:t>
            </a:r>
            <a:r>
              <a:rPr lang="en-US" sz="1250" b="1" dirty="0">
                <a:solidFill>
                  <a:srgbClr val="7FA8FF"/>
                </a:solidFill>
                <a:latin typeface="Lexend" pitchFamily="34" charset="0"/>
                <a:ea typeface="Lexend" pitchFamily="34" charset="-122"/>
                <a:cs typeface="Lexend" pitchFamily="34" charset="-120"/>
              </a:rPr>
              <a:t>72.6% · ₹9.06 Cr</a:t>
            </a:r>
            <a:endParaRPr lang="en-US" sz="1250" dirty="0"/>
          </a:p>
        </p:txBody>
      </p:sp>
      <p:sp>
        <p:nvSpPr>
          <p:cNvPr id="15" name="Text 13"/>
          <p:cNvSpPr/>
          <p:nvPr/>
        </p:nvSpPr>
        <p:spPr>
          <a:xfrm>
            <a:off x="812800" y="3723153"/>
            <a:ext cx="1229717" cy="23177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D6DEEC"/>
                </a:solidFill>
                <a:latin typeface="DM Sans" pitchFamily="34" charset="0"/>
                <a:ea typeface="DM Sans" pitchFamily="34" charset="-122"/>
                <a:cs typeface="DM Sans" pitchFamily="34" charset="-120"/>
              </a:rPr>
              <a:t>Technology &amp; AI</a:t>
            </a:r>
            <a:endParaRPr lang="en-US" sz="1250" dirty="0"/>
          </a:p>
        </p:txBody>
      </p:sp>
      <p:sp>
        <p:nvSpPr>
          <p:cNvPr id="16" name="Text 14"/>
          <p:cNvSpPr/>
          <p:nvPr/>
        </p:nvSpPr>
        <p:spPr>
          <a:xfrm>
            <a:off x="4820179" y="3723153"/>
            <a:ext cx="1199621" cy="231775"/>
          </a:xfrm>
          <a:prstGeom prst="rect">
            <a:avLst/>
          </a:prstGeom>
          <a:noFill/>
          <a:ln/>
        </p:spPr>
        <p:txBody>
          <a:bodyPr wrap="square" lIns="0" tIns="0" rIns="0" bIns="0" rtlCol="0" anchor="t">
            <a:normAutofit/>
          </a:bodyPr>
          <a:lstStyle/>
          <a:p>
            <a:pPr algn="l" indent="0" marL="0">
              <a:lnSpc>
                <a:spcPts val="1625"/>
              </a:lnSpc>
              <a:buNone/>
            </a:pPr>
            <a:r>
              <a:rPr lang="en-US" sz="1250" b="1" dirty="0">
                <a:solidFill>
                  <a:srgbClr val="FFFFFF"/>
                </a:solidFill>
                <a:latin typeface="DM Sans" pitchFamily="34" charset="0"/>
                <a:ea typeface="DM Sans" pitchFamily="34" charset="-122"/>
                <a:cs typeface="DM Sans" pitchFamily="34" charset="-120"/>
              </a:rPr>
              <a:t>27.7%</a:t>
            </a:r>
            <a:r>
              <a:rPr lang="en-US" sz="1250" dirty="0">
                <a:solidFill>
                  <a:srgbClr val="FFFFFF"/>
                </a:solidFill>
                <a:latin typeface="DM Sans" pitchFamily="34" charset="0"/>
                <a:ea typeface="DM Sans" pitchFamily="34" charset="-122"/>
                <a:cs typeface="DM Sans" pitchFamily="34" charset="-120"/>
              </a:rPr>
              <a:t>  </a:t>
            </a:r>
            <a:r>
              <a:rPr lang="en-US" sz="1250" dirty="0">
                <a:solidFill>
                  <a:srgbClr val="8092B0"/>
                </a:solidFill>
                <a:latin typeface="DM Sans" pitchFamily="34" charset="0"/>
                <a:ea typeface="DM Sans" pitchFamily="34" charset="-122"/>
                <a:cs typeface="DM Sans" pitchFamily="34" charset="-120"/>
              </a:rPr>
              <a:t>₹3.45 Cr</a:t>
            </a:r>
            <a:endParaRPr lang="en-US" sz="1250" dirty="0"/>
          </a:p>
        </p:txBody>
      </p:sp>
      <p:sp>
        <p:nvSpPr>
          <p:cNvPr id="17" name="Shape 15"/>
          <p:cNvSpPr/>
          <p:nvPr/>
        </p:nvSpPr>
        <p:spPr>
          <a:xfrm>
            <a:off x="812800" y="3973978"/>
            <a:ext cx="5156200" cy="76200"/>
          </a:xfrm>
          <a:prstGeom prst="roundRect">
            <a:avLst>
              <a:gd name="adj" fmla="val 50000"/>
            </a:avLst>
          </a:prstGeom>
          <a:solidFill>
            <a:srgbClr val="1C2B4A"/>
          </a:solidFill>
          <a:ln/>
        </p:spPr>
      </p:sp>
      <p:sp>
        <p:nvSpPr>
          <p:cNvPr id="18" name="Shape 16"/>
          <p:cNvSpPr/>
          <p:nvPr/>
        </p:nvSpPr>
        <p:spPr>
          <a:xfrm>
            <a:off x="812800" y="3973978"/>
            <a:ext cx="5156200" cy="76200"/>
          </a:xfrm>
          <a:prstGeom prst="rect">
            <a:avLst/>
          </a:prstGeom>
          <a:solidFill>
            <a:srgbClr val="8FB6FF"/>
          </a:solidFill>
          <a:ln/>
        </p:spPr>
      </p:sp>
      <p:sp>
        <p:nvSpPr>
          <p:cNvPr id="19" name="Text 17"/>
          <p:cNvSpPr/>
          <p:nvPr/>
        </p:nvSpPr>
        <p:spPr>
          <a:xfrm>
            <a:off x="812800" y="4164478"/>
            <a:ext cx="1711656" cy="23177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D6DEEC"/>
                </a:solidFill>
                <a:latin typeface="DM Sans" pitchFamily="34" charset="0"/>
                <a:ea typeface="DM Sans" pitchFamily="34" charset="-122"/>
                <a:cs typeface="DM Sans" pitchFamily="34" charset="-120"/>
              </a:rPr>
              <a:t>Investment &amp; research</a:t>
            </a:r>
            <a:endParaRPr lang="en-US" sz="1250" dirty="0"/>
          </a:p>
        </p:txBody>
      </p:sp>
      <p:sp>
        <p:nvSpPr>
          <p:cNvPr id="20" name="Text 18"/>
          <p:cNvSpPr/>
          <p:nvPr/>
        </p:nvSpPr>
        <p:spPr>
          <a:xfrm>
            <a:off x="4788297" y="4164478"/>
            <a:ext cx="1231503" cy="231775"/>
          </a:xfrm>
          <a:prstGeom prst="rect">
            <a:avLst/>
          </a:prstGeom>
          <a:noFill/>
          <a:ln/>
        </p:spPr>
        <p:txBody>
          <a:bodyPr wrap="square" lIns="0" tIns="0" rIns="0" bIns="0" rtlCol="0" anchor="t">
            <a:normAutofit/>
          </a:bodyPr>
          <a:lstStyle/>
          <a:p>
            <a:pPr algn="l" indent="0" marL="0">
              <a:lnSpc>
                <a:spcPts val="1625"/>
              </a:lnSpc>
              <a:buNone/>
            </a:pPr>
            <a:r>
              <a:rPr lang="en-US" sz="1250" b="1" dirty="0">
                <a:solidFill>
                  <a:srgbClr val="FFFFFF"/>
                </a:solidFill>
                <a:latin typeface="DM Sans" pitchFamily="34" charset="0"/>
                <a:ea typeface="DM Sans" pitchFamily="34" charset="-122"/>
                <a:cs typeface="DM Sans" pitchFamily="34" charset="-120"/>
              </a:rPr>
              <a:t>23.6%</a:t>
            </a:r>
            <a:r>
              <a:rPr lang="en-US" sz="1250" dirty="0">
                <a:solidFill>
                  <a:srgbClr val="FFFFFF"/>
                </a:solidFill>
                <a:latin typeface="DM Sans" pitchFamily="34" charset="0"/>
                <a:ea typeface="DM Sans" pitchFamily="34" charset="-122"/>
                <a:cs typeface="DM Sans" pitchFamily="34" charset="-120"/>
              </a:rPr>
              <a:t>  </a:t>
            </a:r>
            <a:r>
              <a:rPr lang="en-US" sz="1250" dirty="0">
                <a:solidFill>
                  <a:srgbClr val="8092B0"/>
                </a:solidFill>
                <a:latin typeface="DM Sans" pitchFamily="34" charset="0"/>
                <a:ea typeface="DM Sans" pitchFamily="34" charset="-122"/>
                <a:cs typeface="DM Sans" pitchFamily="34" charset="-120"/>
              </a:rPr>
              <a:t>₹2.95 Cr</a:t>
            </a:r>
            <a:endParaRPr lang="en-US" sz="1250" dirty="0"/>
          </a:p>
        </p:txBody>
      </p:sp>
      <p:sp>
        <p:nvSpPr>
          <p:cNvPr id="21" name="Shape 19"/>
          <p:cNvSpPr/>
          <p:nvPr/>
        </p:nvSpPr>
        <p:spPr>
          <a:xfrm>
            <a:off x="812800" y="4415303"/>
            <a:ext cx="5156200" cy="76200"/>
          </a:xfrm>
          <a:prstGeom prst="roundRect">
            <a:avLst>
              <a:gd name="adj" fmla="val 50000"/>
            </a:avLst>
          </a:prstGeom>
          <a:solidFill>
            <a:srgbClr val="1C2B4A"/>
          </a:solidFill>
          <a:ln/>
        </p:spPr>
      </p:sp>
      <p:sp>
        <p:nvSpPr>
          <p:cNvPr id="22" name="Shape 20"/>
          <p:cNvSpPr/>
          <p:nvPr/>
        </p:nvSpPr>
        <p:spPr>
          <a:xfrm>
            <a:off x="812800" y="4415303"/>
            <a:ext cx="3656873" cy="76200"/>
          </a:xfrm>
          <a:prstGeom prst="rect">
            <a:avLst/>
          </a:prstGeom>
          <a:solidFill>
            <a:srgbClr val="8FB6FF"/>
          </a:solidFill>
          <a:ln/>
        </p:spPr>
      </p:sp>
      <p:sp>
        <p:nvSpPr>
          <p:cNvPr id="23" name="Text 21"/>
          <p:cNvSpPr/>
          <p:nvPr/>
        </p:nvSpPr>
        <p:spPr>
          <a:xfrm>
            <a:off x="812800" y="4605803"/>
            <a:ext cx="1407319" cy="23177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D6DEEC"/>
                </a:solidFill>
                <a:latin typeface="DM Sans" pitchFamily="34" charset="0"/>
                <a:ea typeface="DM Sans" pitchFamily="34" charset="-122"/>
                <a:cs typeface="DM Sans" pitchFamily="34" charset="-120"/>
              </a:rPr>
              <a:t>Marketing &amp; brand</a:t>
            </a:r>
            <a:endParaRPr lang="en-US" sz="1250" dirty="0"/>
          </a:p>
        </p:txBody>
      </p:sp>
      <p:sp>
        <p:nvSpPr>
          <p:cNvPr id="24" name="Text 22"/>
          <p:cNvSpPr/>
          <p:nvPr/>
        </p:nvSpPr>
        <p:spPr>
          <a:xfrm>
            <a:off x="4934016" y="4605803"/>
            <a:ext cx="1085784" cy="231775"/>
          </a:xfrm>
          <a:prstGeom prst="rect">
            <a:avLst/>
          </a:prstGeom>
          <a:noFill/>
          <a:ln/>
        </p:spPr>
        <p:txBody>
          <a:bodyPr wrap="square" lIns="0" tIns="0" rIns="0" bIns="0" rtlCol="0" anchor="t">
            <a:normAutofit/>
          </a:bodyPr>
          <a:lstStyle/>
          <a:p>
            <a:pPr algn="l" indent="0" marL="0">
              <a:lnSpc>
                <a:spcPts val="1625"/>
              </a:lnSpc>
              <a:buNone/>
            </a:pPr>
            <a:r>
              <a:rPr lang="en-US" sz="1250" b="1" dirty="0">
                <a:solidFill>
                  <a:srgbClr val="FFFFFF"/>
                </a:solidFill>
                <a:latin typeface="DM Sans" pitchFamily="34" charset="0"/>
                <a:ea typeface="DM Sans" pitchFamily="34" charset="-122"/>
                <a:cs typeface="DM Sans" pitchFamily="34" charset="-120"/>
              </a:rPr>
              <a:t>17.1%</a:t>
            </a:r>
            <a:r>
              <a:rPr lang="en-US" sz="1250" dirty="0">
                <a:solidFill>
                  <a:srgbClr val="FFFFFF"/>
                </a:solidFill>
                <a:latin typeface="DM Sans" pitchFamily="34" charset="0"/>
                <a:ea typeface="DM Sans" pitchFamily="34" charset="-122"/>
                <a:cs typeface="DM Sans" pitchFamily="34" charset="-120"/>
              </a:rPr>
              <a:t>  </a:t>
            </a:r>
            <a:r>
              <a:rPr lang="en-US" sz="1250" dirty="0">
                <a:solidFill>
                  <a:srgbClr val="8092B0"/>
                </a:solidFill>
                <a:latin typeface="DM Sans" pitchFamily="34" charset="0"/>
                <a:ea typeface="DM Sans" pitchFamily="34" charset="-122"/>
                <a:cs typeface="DM Sans" pitchFamily="34" charset="-120"/>
              </a:rPr>
              <a:t>₹2.14 Cr</a:t>
            </a:r>
            <a:endParaRPr lang="en-US" sz="1250" dirty="0"/>
          </a:p>
        </p:txBody>
      </p:sp>
      <p:sp>
        <p:nvSpPr>
          <p:cNvPr id="25" name="Shape 23"/>
          <p:cNvSpPr/>
          <p:nvPr/>
        </p:nvSpPr>
        <p:spPr>
          <a:xfrm>
            <a:off x="812800" y="4856628"/>
            <a:ext cx="5156200" cy="76200"/>
          </a:xfrm>
          <a:prstGeom prst="roundRect">
            <a:avLst>
              <a:gd name="adj" fmla="val 50000"/>
            </a:avLst>
          </a:prstGeom>
          <a:solidFill>
            <a:srgbClr val="1C2B4A"/>
          </a:solidFill>
          <a:ln/>
        </p:spPr>
      </p:sp>
      <p:sp>
        <p:nvSpPr>
          <p:cNvPr id="26" name="Shape 24"/>
          <p:cNvSpPr/>
          <p:nvPr/>
        </p:nvSpPr>
        <p:spPr>
          <a:xfrm>
            <a:off x="812800" y="4856628"/>
            <a:ext cx="2578100" cy="76200"/>
          </a:xfrm>
          <a:prstGeom prst="rect">
            <a:avLst/>
          </a:prstGeom>
          <a:solidFill>
            <a:srgbClr val="5E93EE"/>
          </a:solidFill>
          <a:ln/>
        </p:spPr>
      </p:sp>
      <p:sp>
        <p:nvSpPr>
          <p:cNvPr id="27" name="Text 25"/>
          <p:cNvSpPr/>
          <p:nvPr/>
        </p:nvSpPr>
        <p:spPr>
          <a:xfrm>
            <a:off x="812800" y="5047128"/>
            <a:ext cx="1219994" cy="23177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D6DEEC"/>
                </a:solidFill>
                <a:latin typeface="DM Sans" pitchFamily="34" charset="0"/>
                <a:ea typeface="DM Sans" pitchFamily="34" charset="-122"/>
                <a:cs typeface="DM Sans" pitchFamily="34" charset="-120"/>
              </a:rPr>
              <a:t>Sales &amp; support</a:t>
            </a:r>
            <a:endParaRPr lang="en-US" sz="1250" dirty="0"/>
          </a:p>
        </p:txBody>
      </p:sp>
      <p:sp>
        <p:nvSpPr>
          <p:cNvPr id="28" name="Text 26"/>
          <p:cNvSpPr/>
          <p:nvPr/>
        </p:nvSpPr>
        <p:spPr>
          <a:xfrm>
            <a:off x="4870979" y="5047128"/>
            <a:ext cx="1148821" cy="231775"/>
          </a:xfrm>
          <a:prstGeom prst="rect">
            <a:avLst/>
          </a:prstGeom>
          <a:noFill/>
          <a:ln/>
        </p:spPr>
        <p:txBody>
          <a:bodyPr wrap="square" lIns="0" tIns="0" rIns="0" bIns="0" rtlCol="0" anchor="t">
            <a:normAutofit/>
          </a:bodyPr>
          <a:lstStyle/>
          <a:p>
            <a:pPr algn="l" indent="0" marL="0">
              <a:lnSpc>
                <a:spcPts val="1625"/>
              </a:lnSpc>
              <a:buNone/>
            </a:pPr>
            <a:r>
              <a:rPr lang="en-US" sz="1250" b="1" dirty="0">
                <a:solidFill>
                  <a:srgbClr val="FFFFFF"/>
                </a:solidFill>
                <a:latin typeface="DM Sans" pitchFamily="34" charset="0"/>
                <a:ea typeface="DM Sans" pitchFamily="34" charset="-122"/>
                <a:cs typeface="DM Sans" pitchFamily="34" charset="-120"/>
              </a:rPr>
              <a:t>4.2%</a:t>
            </a:r>
            <a:r>
              <a:rPr lang="en-US" sz="1250" dirty="0">
                <a:solidFill>
                  <a:srgbClr val="FFFFFF"/>
                </a:solidFill>
                <a:latin typeface="DM Sans" pitchFamily="34" charset="0"/>
                <a:ea typeface="DM Sans" pitchFamily="34" charset="-122"/>
                <a:cs typeface="DM Sans" pitchFamily="34" charset="-120"/>
              </a:rPr>
              <a:t>  </a:t>
            </a:r>
            <a:r>
              <a:rPr lang="en-US" sz="1250" dirty="0">
                <a:solidFill>
                  <a:srgbClr val="8092B0"/>
                </a:solidFill>
                <a:latin typeface="DM Sans" pitchFamily="34" charset="0"/>
                <a:ea typeface="DM Sans" pitchFamily="34" charset="-122"/>
                <a:cs typeface="DM Sans" pitchFamily="34" charset="-120"/>
              </a:rPr>
              <a:t>₹0.52 Cr</a:t>
            </a:r>
            <a:endParaRPr lang="en-US" sz="1250" dirty="0"/>
          </a:p>
        </p:txBody>
      </p:sp>
      <p:sp>
        <p:nvSpPr>
          <p:cNvPr id="29" name="Shape 27"/>
          <p:cNvSpPr/>
          <p:nvPr/>
        </p:nvSpPr>
        <p:spPr>
          <a:xfrm>
            <a:off x="812800" y="5297953"/>
            <a:ext cx="5156200" cy="76200"/>
          </a:xfrm>
          <a:prstGeom prst="roundRect">
            <a:avLst>
              <a:gd name="adj" fmla="val 50000"/>
            </a:avLst>
          </a:prstGeom>
          <a:solidFill>
            <a:srgbClr val="1C2B4A"/>
          </a:solidFill>
          <a:ln/>
        </p:spPr>
      </p:sp>
      <p:sp>
        <p:nvSpPr>
          <p:cNvPr id="30" name="Shape 28"/>
          <p:cNvSpPr/>
          <p:nvPr/>
        </p:nvSpPr>
        <p:spPr>
          <a:xfrm>
            <a:off x="812800" y="5297953"/>
            <a:ext cx="1525058" cy="76200"/>
          </a:xfrm>
          <a:prstGeom prst="rect">
            <a:avLst/>
          </a:prstGeom>
          <a:solidFill>
            <a:srgbClr val="5E93EE"/>
          </a:solidFill>
          <a:ln/>
        </p:spPr>
      </p:sp>
      <p:sp>
        <p:nvSpPr>
          <p:cNvPr id="31" name="Text 29"/>
          <p:cNvSpPr/>
          <p:nvPr/>
        </p:nvSpPr>
        <p:spPr>
          <a:xfrm>
            <a:off x="6223000" y="3402478"/>
            <a:ext cx="5310886" cy="231775"/>
          </a:xfrm>
          <a:prstGeom prst="rect">
            <a:avLst/>
          </a:prstGeom>
          <a:noFill/>
          <a:ln/>
        </p:spPr>
        <p:txBody>
          <a:bodyPr wrap="square" lIns="0" tIns="0" rIns="0" bIns="0" rtlCol="0" anchor="t">
            <a:normAutofit/>
          </a:bodyPr>
          <a:lstStyle/>
          <a:p>
            <a:pPr algn="l" indent="0" marL="0">
              <a:lnSpc>
                <a:spcPts val="1625"/>
              </a:lnSpc>
              <a:buNone/>
            </a:pPr>
            <a:r>
              <a:rPr lang="en-US" sz="1250" b="1" dirty="0">
                <a:solidFill>
                  <a:srgbClr val="FFFFFF"/>
                </a:solidFill>
                <a:latin typeface="Lexend" pitchFamily="34" charset="0"/>
                <a:ea typeface="Lexend" pitchFamily="34" charset="-122"/>
                <a:cs typeface="Lexend" pitchFamily="34" charset="-120"/>
              </a:rPr>
              <a:t>Running and protecting  </a:t>
            </a:r>
            <a:r>
              <a:rPr lang="en-US" sz="1250" b="1" dirty="0">
                <a:solidFill>
                  <a:srgbClr val="7FA8FF"/>
                </a:solidFill>
                <a:latin typeface="Lexend" pitchFamily="34" charset="0"/>
                <a:ea typeface="Lexend" pitchFamily="34" charset="-122"/>
                <a:cs typeface="Lexend" pitchFamily="34" charset="-120"/>
              </a:rPr>
              <a:t>27.4% · ₹3.41 Cr</a:t>
            </a:r>
            <a:endParaRPr lang="en-US" sz="1250" dirty="0"/>
          </a:p>
        </p:txBody>
      </p:sp>
      <p:sp>
        <p:nvSpPr>
          <p:cNvPr id="32" name="Text 30"/>
          <p:cNvSpPr/>
          <p:nvPr/>
        </p:nvSpPr>
        <p:spPr>
          <a:xfrm>
            <a:off x="6223000" y="3723153"/>
            <a:ext cx="1143198" cy="23177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D6DEEC"/>
                </a:solidFill>
                <a:latin typeface="DM Sans" pitchFamily="34" charset="0"/>
                <a:ea typeface="DM Sans" pitchFamily="34" charset="-122"/>
                <a:cs typeface="DM Sans" pitchFamily="34" charset="-120"/>
              </a:rPr>
              <a:t>Founder draws</a:t>
            </a:r>
            <a:endParaRPr lang="en-US" sz="1250" dirty="0"/>
          </a:p>
        </p:txBody>
      </p:sp>
      <p:sp>
        <p:nvSpPr>
          <p:cNvPr id="33" name="Text 31"/>
          <p:cNvSpPr/>
          <p:nvPr/>
        </p:nvSpPr>
        <p:spPr>
          <a:xfrm>
            <a:off x="10299502" y="3723153"/>
            <a:ext cx="1130498" cy="231775"/>
          </a:xfrm>
          <a:prstGeom prst="rect">
            <a:avLst/>
          </a:prstGeom>
          <a:noFill/>
          <a:ln/>
        </p:spPr>
        <p:txBody>
          <a:bodyPr wrap="square" lIns="0" tIns="0" rIns="0" bIns="0" rtlCol="0" anchor="t">
            <a:normAutofit/>
          </a:bodyPr>
          <a:lstStyle/>
          <a:p>
            <a:pPr algn="l" indent="0" marL="0">
              <a:lnSpc>
                <a:spcPts val="1625"/>
              </a:lnSpc>
              <a:buNone/>
            </a:pPr>
            <a:r>
              <a:rPr lang="en-US" sz="1250" b="1" dirty="0">
                <a:solidFill>
                  <a:srgbClr val="FFFFFF"/>
                </a:solidFill>
                <a:latin typeface="DM Sans" pitchFamily="34" charset="0"/>
                <a:ea typeface="DM Sans" pitchFamily="34" charset="-122"/>
                <a:cs typeface="DM Sans" pitchFamily="34" charset="-120"/>
              </a:rPr>
              <a:t>7.6%</a:t>
            </a:r>
            <a:r>
              <a:rPr lang="en-US" sz="1250" dirty="0">
                <a:solidFill>
                  <a:srgbClr val="FFFFFF"/>
                </a:solidFill>
                <a:latin typeface="DM Sans" pitchFamily="34" charset="0"/>
                <a:ea typeface="DM Sans" pitchFamily="34" charset="-122"/>
                <a:cs typeface="DM Sans" pitchFamily="34" charset="-120"/>
              </a:rPr>
              <a:t>  </a:t>
            </a:r>
            <a:r>
              <a:rPr lang="en-US" sz="1250" dirty="0">
                <a:solidFill>
                  <a:srgbClr val="8092B0"/>
                </a:solidFill>
                <a:latin typeface="DM Sans" pitchFamily="34" charset="0"/>
                <a:ea typeface="DM Sans" pitchFamily="34" charset="-122"/>
                <a:cs typeface="DM Sans" pitchFamily="34" charset="-120"/>
              </a:rPr>
              <a:t>₹0.95 Cr</a:t>
            </a:r>
            <a:endParaRPr lang="en-US" sz="1250" dirty="0"/>
          </a:p>
        </p:txBody>
      </p:sp>
      <p:sp>
        <p:nvSpPr>
          <p:cNvPr id="34" name="Shape 32"/>
          <p:cNvSpPr/>
          <p:nvPr/>
        </p:nvSpPr>
        <p:spPr>
          <a:xfrm>
            <a:off x="6223000" y="3973978"/>
            <a:ext cx="5156200" cy="76200"/>
          </a:xfrm>
          <a:prstGeom prst="roundRect">
            <a:avLst>
              <a:gd name="adj" fmla="val 50000"/>
            </a:avLst>
          </a:prstGeom>
          <a:solidFill>
            <a:srgbClr val="1C2B4A"/>
          </a:solidFill>
          <a:ln/>
        </p:spPr>
      </p:sp>
      <p:sp>
        <p:nvSpPr>
          <p:cNvPr id="35" name="Shape 33"/>
          <p:cNvSpPr/>
          <p:nvPr/>
        </p:nvSpPr>
        <p:spPr>
          <a:xfrm>
            <a:off x="6223000" y="3973978"/>
            <a:ext cx="2226535" cy="76200"/>
          </a:xfrm>
          <a:prstGeom prst="rect">
            <a:avLst/>
          </a:prstGeom>
          <a:solidFill>
            <a:srgbClr val="3E62B8"/>
          </a:solidFill>
          <a:ln/>
        </p:spPr>
      </p:sp>
      <p:sp>
        <p:nvSpPr>
          <p:cNvPr id="36" name="Text 34"/>
          <p:cNvSpPr/>
          <p:nvPr/>
        </p:nvSpPr>
        <p:spPr>
          <a:xfrm>
            <a:off x="6223000" y="4164478"/>
            <a:ext cx="1603573" cy="23177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D6DEEC"/>
                </a:solidFill>
                <a:latin typeface="DM Sans" pitchFamily="34" charset="0"/>
                <a:ea typeface="DM Sans" pitchFamily="34" charset="-122"/>
                <a:cs typeface="DM Sans" pitchFamily="34" charset="-120"/>
              </a:rPr>
              <a:t>Organisation &amp; office</a:t>
            </a:r>
            <a:endParaRPr lang="en-US" sz="1250" dirty="0"/>
          </a:p>
        </p:txBody>
      </p:sp>
      <p:sp>
        <p:nvSpPr>
          <p:cNvPr id="37" name="Text 35"/>
          <p:cNvSpPr/>
          <p:nvPr/>
        </p:nvSpPr>
        <p:spPr>
          <a:xfrm>
            <a:off x="10338197" y="4164478"/>
            <a:ext cx="1091803" cy="231775"/>
          </a:xfrm>
          <a:prstGeom prst="rect">
            <a:avLst/>
          </a:prstGeom>
          <a:noFill/>
          <a:ln/>
        </p:spPr>
        <p:txBody>
          <a:bodyPr wrap="square" lIns="0" tIns="0" rIns="0" bIns="0" rtlCol="0" anchor="t">
            <a:normAutofit/>
          </a:bodyPr>
          <a:lstStyle/>
          <a:p>
            <a:pPr algn="l" indent="0" marL="0">
              <a:lnSpc>
                <a:spcPts val="1625"/>
              </a:lnSpc>
              <a:buNone/>
            </a:pPr>
            <a:r>
              <a:rPr lang="en-US" sz="1250" b="1" dirty="0">
                <a:solidFill>
                  <a:srgbClr val="FFFFFF"/>
                </a:solidFill>
                <a:latin typeface="DM Sans" pitchFamily="34" charset="0"/>
                <a:ea typeface="DM Sans" pitchFamily="34" charset="-122"/>
                <a:cs typeface="DM Sans" pitchFamily="34" charset="-120"/>
              </a:rPr>
              <a:t>6.1%</a:t>
            </a:r>
            <a:r>
              <a:rPr lang="en-US" sz="1250" dirty="0">
                <a:solidFill>
                  <a:srgbClr val="FFFFFF"/>
                </a:solidFill>
                <a:latin typeface="DM Sans" pitchFamily="34" charset="0"/>
                <a:ea typeface="DM Sans" pitchFamily="34" charset="-122"/>
                <a:cs typeface="DM Sans" pitchFamily="34" charset="-120"/>
              </a:rPr>
              <a:t>  </a:t>
            </a:r>
            <a:r>
              <a:rPr lang="en-US" sz="1250" dirty="0">
                <a:solidFill>
                  <a:srgbClr val="8092B0"/>
                </a:solidFill>
                <a:latin typeface="DM Sans" pitchFamily="34" charset="0"/>
                <a:ea typeface="DM Sans" pitchFamily="34" charset="-122"/>
                <a:cs typeface="DM Sans" pitchFamily="34" charset="-120"/>
              </a:rPr>
              <a:t>₹0.76 Cr</a:t>
            </a:r>
            <a:endParaRPr lang="en-US" sz="1250" dirty="0"/>
          </a:p>
        </p:txBody>
      </p:sp>
      <p:sp>
        <p:nvSpPr>
          <p:cNvPr id="38" name="Shape 36"/>
          <p:cNvSpPr/>
          <p:nvPr/>
        </p:nvSpPr>
        <p:spPr>
          <a:xfrm>
            <a:off x="6223000" y="4415303"/>
            <a:ext cx="5156200" cy="76200"/>
          </a:xfrm>
          <a:prstGeom prst="roundRect">
            <a:avLst>
              <a:gd name="adj" fmla="val 50000"/>
            </a:avLst>
          </a:prstGeom>
          <a:solidFill>
            <a:srgbClr val="1C2B4A"/>
          </a:solidFill>
          <a:ln/>
        </p:spPr>
      </p:sp>
      <p:sp>
        <p:nvSpPr>
          <p:cNvPr id="39" name="Shape 37"/>
          <p:cNvSpPr/>
          <p:nvPr/>
        </p:nvSpPr>
        <p:spPr>
          <a:xfrm>
            <a:off x="6223000" y="4415303"/>
            <a:ext cx="1953617" cy="76200"/>
          </a:xfrm>
          <a:prstGeom prst="rect">
            <a:avLst/>
          </a:prstGeom>
          <a:solidFill>
            <a:srgbClr val="3E62B8"/>
          </a:solidFill>
          <a:ln/>
        </p:spPr>
      </p:sp>
      <p:sp>
        <p:nvSpPr>
          <p:cNvPr id="40" name="Text 38"/>
          <p:cNvSpPr/>
          <p:nvPr/>
        </p:nvSpPr>
        <p:spPr>
          <a:xfrm>
            <a:off x="6223000" y="4605803"/>
            <a:ext cx="1852801" cy="23177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D6DEEC"/>
                </a:solidFill>
                <a:latin typeface="DM Sans" pitchFamily="34" charset="0"/>
                <a:ea typeface="DM Sans" pitchFamily="34" charset="-122"/>
                <a:cs typeface="DM Sans" pitchFamily="34" charset="-120"/>
              </a:rPr>
              <a:t>Compliance &amp; insurance</a:t>
            </a:r>
            <a:endParaRPr lang="en-US" sz="1250" dirty="0"/>
          </a:p>
        </p:txBody>
      </p:sp>
      <p:sp>
        <p:nvSpPr>
          <p:cNvPr id="41" name="Text 39"/>
          <p:cNvSpPr/>
          <p:nvPr/>
        </p:nvSpPr>
        <p:spPr>
          <a:xfrm>
            <a:off x="10284553" y="4605803"/>
            <a:ext cx="1145447" cy="231775"/>
          </a:xfrm>
          <a:prstGeom prst="rect">
            <a:avLst/>
          </a:prstGeom>
          <a:noFill/>
          <a:ln/>
        </p:spPr>
        <p:txBody>
          <a:bodyPr wrap="square" lIns="0" tIns="0" rIns="0" bIns="0" rtlCol="0" anchor="t">
            <a:normAutofit/>
          </a:bodyPr>
          <a:lstStyle/>
          <a:p>
            <a:pPr algn="l" indent="0" marL="0">
              <a:lnSpc>
                <a:spcPts val="1625"/>
              </a:lnSpc>
              <a:buNone/>
            </a:pPr>
            <a:r>
              <a:rPr lang="en-US" sz="1250" b="1" dirty="0">
                <a:solidFill>
                  <a:srgbClr val="FFFFFF"/>
                </a:solidFill>
                <a:latin typeface="DM Sans" pitchFamily="34" charset="0"/>
                <a:ea typeface="DM Sans" pitchFamily="34" charset="-122"/>
                <a:cs typeface="DM Sans" pitchFamily="34" charset="-120"/>
              </a:rPr>
              <a:t>3.0%</a:t>
            </a:r>
            <a:r>
              <a:rPr lang="en-US" sz="1250" dirty="0">
                <a:solidFill>
                  <a:srgbClr val="FFFFFF"/>
                </a:solidFill>
                <a:latin typeface="DM Sans" pitchFamily="34" charset="0"/>
                <a:ea typeface="DM Sans" pitchFamily="34" charset="-122"/>
                <a:cs typeface="DM Sans" pitchFamily="34" charset="-120"/>
              </a:rPr>
              <a:t>  </a:t>
            </a:r>
            <a:r>
              <a:rPr lang="en-US" sz="1250" dirty="0">
                <a:solidFill>
                  <a:srgbClr val="8092B0"/>
                </a:solidFill>
                <a:latin typeface="DM Sans" pitchFamily="34" charset="0"/>
                <a:ea typeface="DM Sans" pitchFamily="34" charset="-122"/>
                <a:cs typeface="DM Sans" pitchFamily="34" charset="-120"/>
              </a:rPr>
              <a:t>₹0.37 Cr</a:t>
            </a:r>
            <a:endParaRPr lang="en-US" sz="1250" dirty="0"/>
          </a:p>
        </p:txBody>
      </p:sp>
      <p:sp>
        <p:nvSpPr>
          <p:cNvPr id="42" name="Shape 40"/>
          <p:cNvSpPr/>
          <p:nvPr/>
        </p:nvSpPr>
        <p:spPr>
          <a:xfrm>
            <a:off x="6223000" y="4856628"/>
            <a:ext cx="5156200" cy="76200"/>
          </a:xfrm>
          <a:prstGeom prst="roundRect">
            <a:avLst>
              <a:gd name="adj" fmla="val 50000"/>
            </a:avLst>
          </a:prstGeom>
          <a:solidFill>
            <a:srgbClr val="1C2B4A"/>
          </a:solidFill>
          <a:ln/>
        </p:spPr>
      </p:sp>
      <p:sp>
        <p:nvSpPr>
          <p:cNvPr id="43" name="Shape 41"/>
          <p:cNvSpPr/>
          <p:nvPr/>
        </p:nvSpPr>
        <p:spPr>
          <a:xfrm>
            <a:off x="6223000" y="4856628"/>
            <a:ext cx="1189897" cy="76200"/>
          </a:xfrm>
          <a:prstGeom prst="rect">
            <a:avLst/>
          </a:prstGeom>
          <a:solidFill>
            <a:srgbClr val="3E62B8"/>
          </a:solidFill>
          <a:ln/>
        </p:spPr>
      </p:sp>
      <p:sp>
        <p:nvSpPr>
          <p:cNvPr id="44" name="Text 42"/>
          <p:cNvSpPr/>
          <p:nvPr/>
        </p:nvSpPr>
        <p:spPr>
          <a:xfrm>
            <a:off x="6223000" y="5047128"/>
            <a:ext cx="1573742" cy="23177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D6DEEC"/>
                </a:solidFill>
                <a:latin typeface="DM Sans" pitchFamily="34" charset="0"/>
                <a:ea typeface="DM Sans" pitchFamily="34" charset="-122"/>
                <a:cs typeface="DM Sans" pitchFamily="34" charset="-120"/>
              </a:rPr>
              <a:t>Contingency reserve</a:t>
            </a:r>
            <a:endParaRPr lang="en-US" sz="1250" dirty="0"/>
          </a:p>
        </p:txBody>
      </p:sp>
      <p:sp>
        <p:nvSpPr>
          <p:cNvPr id="45" name="Text 43"/>
          <p:cNvSpPr/>
          <p:nvPr/>
        </p:nvSpPr>
        <p:spPr>
          <a:xfrm>
            <a:off x="10283098" y="5047128"/>
            <a:ext cx="1146903" cy="231775"/>
          </a:xfrm>
          <a:prstGeom prst="rect">
            <a:avLst/>
          </a:prstGeom>
          <a:noFill/>
          <a:ln/>
        </p:spPr>
        <p:txBody>
          <a:bodyPr wrap="square" lIns="0" tIns="0" rIns="0" bIns="0" rtlCol="0" anchor="t">
            <a:normAutofit/>
          </a:bodyPr>
          <a:lstStyle/>
          <a:p>
            <a:pPr algn="l" indent="0" marL="0">
              <a:lnSpc>
                <a:spcPts val="1625"/>
              </a:lnSpc>
              <a:buNone/>
            </a:pPr>
            <a:r>
              <a:rPr lang="en-US" sz="1250" b="1" dirty="0">
                <a:solidFill>
                  <a:srgbClr val="FFFFFF"/>
                </a:solidFill>
                <a:latin typeface="DM Sans" pitchFamily="34" charset="0"/>
                <a:ea typeface="DM Sans" pitchFamily="34" charset="-122"/>
                <a:cs typeface="DM Sans" pitchFamily="34" charset="-120"/>
              </a:rPr>
              <a:t>10.7%</a:t>
            </a:r>
            <a:r>
              <a:rPr lang="en-US" sz="1250" dirty="0">
                <a:solidFill>
                  <a:srgbClr val="FFFFFF"/>
                </a:solidFill>
                <a:latin typeface="DM Sans" pitchFamily="34" charset="0"/>
                <a:ea typeface="DM Sans" pitchFamily="34" charset="-122"/>
                <a:cs typeface="DM Sans" pitchFamily="34" charset="-120"/>
              </a:rPr>
              <a:t>  </a:t>
            </a:r>
            <a:r>
              <a:rPr lang="en-US" sz="1250" dirty="0">
                <a:solidFill>
                  <a:srgbClr val="8092B0"/>
                </a:solidFill>
                <a:latin typeface="DM Sans" pitchFamily="34" charset="0"/>
                <a:ea typeface="DM Sans" pitchFamily="34" charset="-122"/>
                <a:cs typeface="DM Sans" pitchFamily="34" charset="-120"/>
              </a:rPr>
              <a:t>₹1.33 Cr</a:t>
            </a:r>
            <a:endParaRPr lang="en-US" sz="1250" dirty="0"/>
          </a:p>
        </p:txBody>
      </p:sp>
      <p:sp>
        <p:nvSpPr>
          <p:cNvPr id="46" name="Shape 44"/>
          <p:cNvSpPr/>
          <p:nvPr/>
        </p:nvSpPr>
        <p:spPr>
          <a:xfrm>
            <a:off x="6223000" y="5297953"/>
            <a:ext cx="5156200" cy="76200"/>
          </a:xfrm>
          <a:prstGeom prst="roundRect">
            <a:avLst>
              <a:gd name="adj" fmla="val 50000"/>
            </a:avLst>
          </a:prstGeom>
          <a:solidFill>
            <a:srgbClr val="1C2B4A"/>
          </a:solidFill>
          <a:ln/>
        </p:spPr>
      </p:sp>
      <p:sp>
        <p:nvSpPr>
          <p:cNvPr id="47" name="Shape 45"/>
          <p:cNvSpPr/>
          <p:nvPr/>
        </p:nvSpPr>
        <p:spPr>
          <a:xfrm>
            <a:off x="6223000" y="5297953"/>
            <a:ext cx="2578100" cy="76200"/>
          </a:xfrm>
          <a:prstGeom prst="rect">
            <a:avLst/>
          </a:prstGeom>
          <a:solidFill>
            <a:srgbClr val="5E6E8C"/>
          </a:solidFill>
          <a:ln/>
        </p:spPr>
      </p:sp>
      <p:sp>
        <p:nvSpPr>
          <p:cNvPr id="48" name="Text 46"/>
          <p:cNvSpPr/>
          <p:nvPr/>
        </p:nvSpPr>
        <p:spPr>
          <a:xfrm>
            <a:off x="812800" y="5702300"/>
            <a:ext cx="1088339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8092B0"/>
                </a:solidFill>
                <a:latin typeface="DM Sans" pitchFamily="34" charset="0"/>
                <a:ea typeface="DM Sans" pitchFamily="34" charset="-122"/>
                <a:cs typeface="DM Sans" pitchFamily="34" charset="-120"/>
              </a:rPr>
              <a:t>₹11.10 Cr operating burn + ₹1.33 Cr contingency + ₹5 lakh refundable SEBI-RIA deposit = ₹12.49 Cr. Bars are scaled to the largest line. Projected subscription revenue of ₹0.76 Cr is upside, not netted against the ask.</a:t>
            </a:r>
            <a:endParaRPr lang="en-US" sz="1250" dirty="0"/>
          </a:p>
        </p:txBody>
      </p:sp>
      <p:pic>
        <p:nvPicPr>
          <p:cNvPr id="49" name="Image 0" descr="Nxance">    </p:cNvPr>
          <p:cNvPicPr>
            <a:picLocks noChangeAspect="1"/>
          </p:cNvPicPr>
          <p:nvPr/>
        </p:nvPicPr>
        <p:blipFill>
          <a:blip r:embed="rId1"/>
          <a:srcRect l="0" r="0" t="-227" b="-227"/>
          <a:stretch/>
        </p:blipFill>
        <p:spPr>
          <a:xfrm>
            <a:off x="812800" y="6267450"/>
            <a:ext cx="698500" cy="215900"/>
          </a:xfrm>
          <a:prstGeom prst="rect">
            <a:avLst/>
          </a:prstGeom>
        </p:spPr>
      </p:pic>
      <p:sp>
        <p:nvSpPr>
          <p:cNvPr id="50" name="Text 47"/>
          <p:cNvSpPr/>
          <p:nvPr/>
        </p:nvSpPr>
        <p:spPr>
          <a:xfrm>
            <a:off x="1638300" y="62382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7D99"/>
                </a:solidFill>
                <a:latin typeface="DM Sans" pitchFamily="34" charset="0"/>
                <a:ea typeface="DM Sans" pitchFamily="34" charset="-122"/>
                <a:cs typeface="DM Sans" pitchFamily="34" charset="-120"/>
              </a:rPr>
              <a:t>Ohshn Intelligence LLP</a:t>
            </a:r>
            <a:endParaRPr lang="en-US" sz="1200" dirty="0"/>
          </a:p>
        </p:txBody>
      </p:sp>
      <p:sp>
        <p:nvSpPr>
          <p:cNvPr id="51" name="Text 48"/>
          <p:cNvSpPr/>
          <p:nvPr/>
        </p:nvSpPr>
        <p:spPr>
          <a:xfrm>
            <a:off x="10439400" y="623828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7D99"/>
                </a:solidFill>
                <a:latin typeface="DM Sans" pitchFamily="34" charset="0"/>
                <a:ea typeface="DM Sans" pitchFamily="34" charset="-122"/>
                <a:cs typeface="DM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FE0"/>
                </a:solidFill>
                <a:latin typeface="Lexend" pitchFamily="34" charset="0"/>
                <a:ea typeface="Lexend" pitchFamily="34" charset="-122"/>
                <a:cs typeface="Lexend" pitchFamily="34" charset="-120"/>
              </a:rPr>
              <a:t>FINANCIAL PLAN</a:t>
            </a:r>
            <a:endParaRPr lang="en-US" sz="1200" dirty="0"/>
          </a:p>
        </p:txBody>
      </p:sp>
      <p:sp>
        <p:nvSpPr>
          <p:cNvPr id="3" name="Text 1"/>
          <p:cNvSpPr/>
          <p:nvPr/>
        </p:nvSpPr>
        <p:spPr>
          <a:xfrm>
            <a:off x="812800" y="1165820"/>
            <a:ext cx="10203180" cy="401770"/>
          </a:xfrm>
          <a:prstGeom prst="rect">
            <a:avLst/>
          </a:prstGeom>
          <a:noFill/>
          <a:ln/>
        </p:spPr>
        <p:txBody>
          <a:bodyPr wrap="square" lIns="0" tIns="0" rIns="0" bIns="0" rtlCol="0" anchor="t">
            <a:normAutofit/>
          </a:bodyPr>
          <a:lstStyle/>
          <a:p>
            <a:pPr algn="l" indent="0" marL="0">
              <a:lnSpc>
                <a:spcPts val="2964"/>
              </a:lnSpc>
              <a:buNone/>
            </a:pPr>
            <a:r>
              <a:rPr lang="en-US" sz="2600" b="1" dirty="0">
                <a:solidFill>
                  <a:srgbClr val="0F1B33"/>
                </a:solidFill>
                <a:latin typeface="Geologica" pitchFamily="34" charset="0"/>
                <a:ea typeface="Geologica" pitchFamily="34" charset="-122"/>
                <a:cs typeface="Geologica" pitchFamily="34" charset="-120"/>
              </a:rPr>
              <a:t>Burn ramps with the build, not ahead of it.</a:t>
            </a:r>
            <a:endParaRPr lang="en-US" sz="2600" dirty="0"/>
          </a:p>
        </p:txBody>
      </p:sp>
      <p:sp>
        <p:nvSpPr>
          <p:cNvPr id="4" name="Text 2"/>
          <p:cNvSpPr/>
          <p:nvPr/>
        </p:nvSpPr>
        <p:spPr>
          <a:xfrm>
            <a:off x="812800" y="1681894"/>
            <a:ext cx="1020318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Monthly operating cash use, ₹ lakh, Month 1 to Month 18</a:t>
            </a:r>
            <a:endParaRPr lang="en-US" sz="1300" dirty="0"/>
          </a:p>
        </p:txBody>
      </p:sp>
      <p:pic>
        <p:nvPicPr>
          <p:cNvPr id="5" name="Image 0" descr="Monthly operating burn rising from 27.6 lakh rupees in month 1 to 76.9 lakh rupees in month 18">    </p:cNvPr>
          <p:cNvPicPr>
            <a:picLocks noChangeAspect="1"/>
          </p:cNvPicPr>
          <p:nvPr/>
        </p:nvPicPr>
        <p:blipFill>
          <a:blip r:embed="rId1"/>
          <a:srcRect l="0" r="0" t="0" b="0"/>
          <a:stretch/>
        </p:blipFill>
        <p:spPr>
          <a:xfrm>
            <a:off x="812800" y="2052712"/>
            <a:ext cx="10160000" cy="2540000"/>
          </a:xfrm>
          <a:prstGeom prst="rect">
            <a:avLst/>
          </a:prstGeom>
        </p:spPr>
      </p:pic>
      <p:sp>
        <p:nvSpPr>
          <p:cNvPr id="6" name="Shape 3"/>
          <p:cNvSpPr/>
          <p:nvPr/>
        </p:nvSpPr>
        <p:spPr>
          <a:xfrm>
            <a:off x="815975" y="4735587"/>
            <a:ext cx="2501900" cy="1003961"/>
          </a:xfrm>
          <a:prstGeom prst="roundRect">
            <a:avLst>
              <a:gd name="adj" fmla="val 8539"/>
            </a:avLst>
          </a:prstGeom>
          <a:solidFill>
            <a:srgbClr val="FFFFFF"/>
          </a:solidFill>
          <a:ln w="6350">
            <a:solidFill>
              <a:srgbClr val="DCE3F0"/>
            </a:solidFill>
            <a:prstDash val="solid"/>
          </a:ln>
        </p:spPr>
      </p:sp>
      <p:sp>
        <p:nvSpPr>
          <p:cNvPr id="7" name="Text 4"/>
          <p:cNvSpPr/>
          <p:nvPr/>
        </p:nvSpPr>
        <p:spPr>
          <a:xfrm>
            <a:off x="994833" y="4876341"/>
            <a:ext cx="2208509" cy="281120"/>
          </a:xfrm>
          <a:prstGeom prst="rect">
            <a:avLst/>
          </a:prstGeom>
          <a:noFill/>
          <a:ln/>
        </p:spPr>
        <p:txBody>
          <a:bodyPr wrap="square" lIns="0" tIns="0" rIns="0" bIns="0" rtlCol="0" anchor="t">
            <a:normAutofit/>
          </a:bodyPr>
          <a:lstStyle/>
          <a:p>
            <a:pPr algn="l" indent="0" marL="0">
              <a:lnSpc>
                <a:spcPts val="2014"/>
              </a:lnSpc>
              <a:buNone/>
            </a:pPr>
            <a:r>
              <a:rPr lang="en-US" sz="1900" b="1" dirty="0">
                <a:solidFill>
                  <a:srgbClr val="2F5FE0"/>
                </a:solidFill>
                <a:latin typeface="Geologica" pitchFamily="34" charset="0"/>
                <a:ea typeface="Geologica" pitchFamily="34" charset="-122"/>
                <a:cs typeface="Geologica" pitchFamily="34" charset="-120"/>
              </a:rPr>
              <a:t>₹27.6L</a:t>
            </a:r>
            <a:endParaRPr lang="en-US" sz="1900" dirty="0"/>
          </a:p>
        </p:txBody>
      </p:sp>
      <p:sp>
        <p:nvSpPr>
          <p:cNvPr id="8" name="Text 5"/>
          <p:cNvSpPr/>
          <p:nvPr/>
        </p:nvSpPr>
        <p:spPr>
          <a:xfrm>
            <a:off x="994833" y="5170165"/>
            <a:ext cx="2208509"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4A5568"/>
                </a:solidFill>
                <a:latin typeface="DM Sans" pitchFamily="34" charset="0"/>
                <a:ea typeface="DM Sans" pitchFamily="34" charset="-122"/>
                <a:cs typeface="DM Sans" pitchFamily="34" charset="-120"/>
              </a:rPr>
              <a:t>Month 1, before the team scales</a:t>
            </a:r>
            <a:endParaRPr lang="en-US" sz="1250" dirty="0"/>
          </a:p>
        </p:txBody>
      </p:sp>
      <p:sp>
        <p:nvSpPr>
          <p:cNvPr id="9" name="Shape 6"/>
          <p:cNvSpPr/>
          <p:nvPr/>
        </p:nvSpPr>
        <p:spPr>
          <a:xfrm>
            <a:off x="3502025" y="4735587"/>
            <a:ext cx="2501900" cy="1003961"/>
          </a:xfrm>
          <a:prstGeom prst="roundRect">
            <a:avLst>
              <a:gd name="adj" fmla="val 8539"/>
            </a:avLst>
          </a:prstGeom>
          <a:solidFill>
            <a:srgbClr val="FFFFFF"/>
          </a:solidFill>
          <a:ln w="6350">
            <a:solidFill>
              <a:srgbClr val="DCE3F0"/>
            </a:solidFill>
            <a:prstDash val="solid"/>
          </a:ln>
        </p:spPr>
      </p:sp>
      <p:sp>
        <p:nvSpPr>
          <p:cNvPr id="10" name="Text 7"/>
          <p:cNvSpPr/>
          <p:nvPr/>
        </p:nvSpPr>
        <p:spPr>
          <a:xfrm>
            <a:off x="3680883" y="4876341"/>
            <a:ext cx="2208509" cy="281120"/>
          </a:xfrm>
          <a:prstGeom prst="rect">
            <a:avLst/>
          </a:prstGeom>
          <a:noFill/>
          <a:ln/>
        </p:spPr>
        <p:txBody>
          <a:bodyPr wrap="square" lIns="0" tIns="0" rIns="0" bIns="0" rtlCol="0" anchor="t">
            <a:normAutofit/>
          </a:bodyPr>
          <a:lstStyle/>
          <a:p>
            <a:pPr algn="l" indent="0" marL="0">
              <a:lnSpc>
                <a:spcPts val="2014"/>
              </a:lnSpc>
              <a:buNone/>
            </a:pPr>
            <a:r>
              <a:rPr lang="en-US" sz="1900" b="1" dirty="0">
                <a:solidFill>
                  <a:srgbClr val="2F5FE0"/>
                </a:solidFill>
                <a:latin typeface="Geologica" pitchFamily="34" charset="0"/>
                <a:ea typeface="Geologica" pitchFamily="34" charset="-122"/>
                <a:cs typeface="Geologica" pitchFamily="34" charset="-120"/>
              </a:rPr>
              <a:t>₹61.97L</a:t>
            </a:r>
            <a:endParaRPr lang="en-US" sz="1900" dirty="0"/>
          </a:p>
        </p:txBody>
      </p:sp>
      <p:sp>
        <p:nvSpPr>
          <p:cNvPr id="11" name="Text 8"/>
          <p:cNvSpPr/>
          <p:nvPr/>
        </p:nvSpPr>
        <p:spPr>
          <a:xfrm>
            <a:off x="3680883" y="5170165"/>
            <a:ext cx="2208509"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4A5568"/>
                </a:solidFill>
                <a:latin typeface="DM Sans" pitchFamily="34" charset="0"/>
                <a:ea typeface="DM Sans" pitchFamily="34" charset="-122"/>
                <a:cs typeface="DM Sans" pitchFamily="34" charset="-120"/>
              </a:rPr>
              <a:t>average monthly burn over 18 months</a:t>
            </a:r>
            <a:endParaRPr lang="en-US" sz="1250" dirty="0"/>
          </a:p>
        </p:txBody>
      </p:sp>
      <p:sp>
        <p:nvSpPr>
          <p:cNvPr id="12" name="Shape 9"/>
          <p:cNvSpPr/>
          <p:nvPr/>
        </p:nvSpPr>
        <p:spPr>
          <a:xfrm>
            <a:off x="6188075" y="4735587"/>
            <a:ext cx="2501900" cy="1003961"/>
          </a:xfrm>
          <a:prstGeom prst="roundRect">
            <a:avLst>
              <a:gd name="adj" fmla="val 8539"/>
            </a:avLst>
          </a:prstGeom>
          <a:solidFill>
            <a:srgbClr val="FFFFFF"/>
          </a:solidFill>
          <a:ln w="6350">
            <a:solidFill>
              <a:srgbClr val="DCE3F0"/>
            </a:solidFill>
            <a:prstDash val="solid"/>
          </a:ln>
        </p:spPr>
      </p:sp>
      <p:sp>
        <p:nvSpPr>
          <p:cNvPr id="13" name="Text 10"/>
          <p:cNvSpPr/>
          <p:nvPr/>
        </p:nvSpPr>
        <p:spPr>
          <a:xfrm>
            <a:off x="6366933" y="4876341"/>
            <a:ext cx="2208509" cy="281120"/>
          </a:xfrm>
          <a:prstGeom prst="rect">
            <a:avLst/>
          </a:prstGeom>
          <a:noFill/>
          <a:ln/>
        </p:spPr>
        <p:txBody>
          <a:bodyPr wrap="square" lIns="0" tIns="0" rIns="0" bIns="0" rtlCol="0" anchor="t">
            <a:normAutofit/>
          </a:bodyPr>
          <a:lstStyle/>
          <a:p>
            <a:pPr algn="l" indent="0" marL="0">
              <a:lnSpc>
                <a:spcPts val="2014"/>
              </a:lnSpc>
              <a:buNone/>
            </a:pPr>
            <a:r>
              <a:rPr lang="en-US" sz="1900" b="1" dirty="0">
                <a:solidFill>
                  <a:srgbClr val="0F1B33"/>
                </a:solidFill>
                <a:latin typeface="Geologica" pitchFamily="34" charset="0"/>
                <a:ea typeface="Geologica" pitchFamily="34" charset="-122"/>
                <a:cs typeface="Geologica" pitchFamily="34" charset="-120"/>
              </a:rPr>
              <a:t>₹76.91L</a:t>
            </a:r>
            <a:endParaRPr lang="en-US" sz="1900" dirty="0"/>
          </a:p>
        </p:txBody>
      </p:sp>
      <p:sp>
        <p:nvSpPr>
          <p:cNvPr id="14" name="Text 11"/>
          <p:cNvSpPr/>
          <p:nvPr/>
        </p:nvSpPr>
        <p:spPr>
          <a:xfrm>
            <a:off x="6366933" y="5170165"/>
            <a:ext cx="2208509"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4A5568"/>
                </a:solidFill>
                <a:latin typeface="DM Sans" pitchFamily="34" charset="0"/>
                <a:ea typeface="DM Sans" pitchFamily="34" charset="-122"/>
                <a:cs typeface="DM Sans" pitchFamily="34" charset="-120"/>
              </a:rPr>
              <a:t>peak, in Month 18 at full headcount</a:t>
            </a:r>
            <a:endParaRPr lang="en-US" sz="1250" dirty="0"/>
          </a:p>
        </p:txBody>
      </p:sp>
      <p:sp>
        <p:nvSpPr>
          <p:cNvPr id="15" name="Shape 12"/>
          <p:cNvSpPr/>
          <p:nvPr/>
        </p:nvSpPr>
        <p:spPr>
          <a:xfrm>
            <a:off x="8874125" y="4735587"/>
            <a:ext cx="2501900" cy="1003961"/>
          </a:xfrm>
          <a:prstGeom prst="roundRect">
            <a:avLst>
              <a:gd name="adj" fmla="val 8539"/>
            </a:avLst>
          </a:prstGeom>
          <a:solidFill>
            <a:srgbClr val="FFFFFF"/>
          </a:solidFill>
          <a:ln w="6350">
            <a:solidFill>
              <a:srgbClr val="DCE3F0"/>
            </a:solidFill>
            <a:prstDash val="solid"/>
          </a:ln>
        </p:spPr>
      </p:sp>
      <p:sp>
        <p:nvSpPr>
          <p:cNvPr id="16" name="Text 13"/>
          <p:cNvSpPr/>
          <p:nvPr/>
        </p:nvSpPr>
        <p:spPr>
          <a:xfrm>
            <a:off x="9052984" y="4876341"/>
            <a:ext cx="2208509" cy="281120"/>
          </a:xfrm>
          <a:prstGeom prst="rect">
            <a:avLst/>
          </a:prstGeom>
          <a:noFill/>
          <a:ln/>
        </p:spPr>
        <p:txBody>
          <a:bodyPr wrap="square" lIns="0" tIns="0" rIns="0" bIns="0" rtlCol="0" anchor="t">
            <a:normAutofit/>
          </a:bodyPr>
          <a:lstStyle/>
          <a:p>
            <a:pPr algn="l" indent="0" marL="0">
              <a:lnSpc>
                <a:spcPts val="2014"/>
              </a:lnSpc>
              <a:buNone/>
            </a:pPr>
            <a:r>
              <a:rPr lang="en-US" sz="1900" b="1" dirty="0">
                <a:solidFill>
                  <a:srgbClr val="2F5FE0"/>
                </a:solidFill>
                <a:latin typeface="Geologica" pitchFamily="34" charset="0"/>
                <a:ea typeface="Geologica" pitchFamily="34" charset="-122"/>
                <a:cs typeface="Geologica" pitchFamily="34" charset="-120"/>
              </a:rPr>
              <a:t>₹11.10 Cr</a:t>
            </a:r>
            <a:endParaRPr lang="en-US" sz="1900" dirty="0"/>
          </a:p>
        </p:txBody>
      </p:sp>
      <p:sp>
        <p:nvSpPr>
          <p:cNvPr id="17" name="Text 14"/>
          <p:cNvSpPr/>
          <p:nvPr/>
        </p:nvSpPr>
        <p:spPr>
          <a:xfrm>
            <a:off x="9052984" y="5170165"/>
            <a:ext cx="2208509"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4A5568"/>
                </a:solidFill>
                <a:latin typeface="DM Sans" pitchFamily="34" charset="0"/>
                <a:ea typeface="DM Sans" pitchFamily="34" charset="-122"/>
                <a:cs typeface="DM Sans" pitchFamily="34" charset="-120"/>
              </a:rPr>
              <a:t>total 18-month operating requirement</a:t>
            </a:r>
            <a:endParaRPr lang="en-US" sz="1250" dirty="0"/>
          </a:p>
        </p:txBody>
      </p:sp>
      <p:pic>
        <p:nvPicPr>
          <p:cNvPr id="18" name="Image 1" descr="Nxance">    </p:cNvPr>
          <p:cNvPicPr>
            <a:picLocks noChangeAspect="1"/>
          </p:cNvPicPr>
          <p:nvPr/>
        </p:nvPicPr>
        <p:blipFill>
          <a:blip r:embed="rId2"/>
          <a:srcRect l="0" r="0" t="-227" b="-227"/>
          <a:stretch/>
        </p:blipFill>
        <p:spPr>
          <a:xfrm>
            <a:off x="812800" y="6267450"/>
            <a:ext cx="698500" cy="215900"/>
          </a:xfrm>
          <a:prstGeom prst="rect">
            <a:avLst/>
          </a:prstGeom>
        </p:spPr>
      </p:pic>
      <p:sp>
        <p:nvSpPr>
          <p:cNvPr id="19" name="Text 15"/>
          <p:cNvSpPr/>
          <p:nvPr/>
        </p:nvSpPr>
        <p:spPr>
          <a:xfrm>
            <a:off x="1638300" y="62382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5"/>
                </a:solidFill>
                <a:latin typeface="DM Sans" pitchFamily="34" charset="0"/>
                <a:ea typeface="DM Sans" pitchFamily="34" charset="-122"/>
                <a:cs typeface="DM Sans" pitchFamily="34" charset="-120"/>
              </a:rPr>
              <a:t>Ohshn Intelligence LLP</a:t>
            </a:r>
            <a:endParaRPr lang="en-US" sz="1200" dirty="0"/>
          </a:p>
        </p:txBody>
      </p:sp>
      <p:sp>
        <p:nvSpPr>
          <p:cNvPr id="20" name="Text 16"/>
          <p:cNvSpPr/>
          <p:nvPr/>
        </p:nvSpPr>
        <p:spPr>
          <a:xfrm>
            <a:off x="10439400" y="623828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3A5"/>
                </a:solidFill>
                <a:latin typeface="DM Sans" pitchFamily="34" charset="0"/>
                <a:ea typeface="DM Sans" pitchFamily="34" charset="-122"/>
                <a:cs typeface="DM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FE0"/>
                </a:solidFill>
                <a:latin typeface="Lexend" pitchFamily="34" charset="0"/>
                <a:ea typeface="Lexend" pitchFamily="34" charset="-122"/>
                <a:cs typeface="Lexend" pitchFamily="34" charset="-120"/>
              </a:rPr>
              <a:t>EXIT ROUTES</a:t>
            </a:r>
            <a:endParaRPr lang="en-US" sz="1200" dirty="0"/>
          </a:p>
        </p:txBody>
      </p:sp>
      <p:sp>
        <p:nvSpPr>
          <p:cNvPr id="3" name="Text 1"/>
          <p:cNvSpPr/>
          <p:nvPr/>
        </p:nvSpPr>
        <p:spPr>
          <a:xfrm>
            <a:off x="812800" y="1153120"/>
            <a:ext cx="10203180" cy="401770"/>
          </a:xfrm>
          <a:prstGeom prst="rect">
            <a:avLst/>
          </a:prstGeom>
          <a:noFill/>
          <a:ln/>
        </p:spPr>
        <p:txBody>
          <a:bodyPr wrap="square" lIns="0" tIns="0" rIns="0" bIns="0" rtlCol="0" anchor="t">
            <a:normAutofit/>
          </a:bodyPr>
          <a:lstStyle/>
          <a:p>
            <a:pPr algn="l" indent="0" marL="0">
              <a:lnSpc>
                <a:spcPts val="2964"/>
              </a:lnSpc>
              <a:buNone/>
            </a:pPr>
            <a:r>
              <a:rPr lang="en-US" sz="2600" b="1" dirty="0">
                <a:solidFill>
                  <a:srgbClr val="0F1B33"/>
                </a:solidFill>
                <a:latin typeface="Geologica" pitchFamily="34" charset="0"/>
                <a:ea typeface="Geologica" pitchFamily="34" charset="-122"/>
                <a:cs typeface="Geologica" pitchFamily="34" charset="-120"/>
              </a:rPr>
              <a:t>Four acquisition routes. One path to listing.</a:t>
            </a:r>
            <a:endParaRPr lang="en-US" sz="2600" dirty="0"/>
          </a:p>
        </p:txBody>
      </p:sp>
      <p:sp>
        <p:nvSpPr>
          <p:cNvPr id="4" name="Text 2"/>
          <p:cNvSpPr/>
          <p:nvPr/>
        </p:nvSpPr>
        <p:spPr>
          <a:xfrm>
            <a:off x="812800" y="1656494"/>
            <a:ext cx="10203180" cy="292365"/>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4A5568"/>
                </a:solidFill>
                <a:latin typeface="DM Sans" pitchFamily="34" charset="0"/>
                <a:ea typeface="DM Sans" pitchFamily="34" charset="-122"/>
                <a:cs typeface="DM Sans" pitchFamily="34" charset="-120"/>
              </a:rPr>
              <a:t>The engines can be licensed as readily as they are used — which keeps more than one route open.</a:t>
            </a:r>
            <a:endParaRPr lang="en-US" sz="1450" dirty="0"/>
          </a:p>
        </p:txBody>
      </p:sp>
      <p:sp>
        <p:nvSpPr>
          <p:cNvPr id="5" name="Shape 3"/>
          <p:cNvSpPr/>
          <p:nvPr/>
        </p:nvSpPr>
        <p:spPr>
          <a:xfrm>
            <a:off x="815975" y="2053630"/>
            <a:ext cx="5276850" cy="1462617"/>
          </a:xfrm>
          <a:prstGeom prst="roundRect">
            <a:avLst>
              <a:gd name="adj" fmla="val 6729"/>
            </a:avLst>
          </a:prstGeom>
          <a:solidFill>
            <a:srgbClr val="FFFFFF"/>
          </a:solidFill>
          <a:ln w="6350">
            <a:solidFill>
              <a:srgbClr val="DCE3F0"/>
            </a:solidFill>
            <a:prstDash val="solid"/>
          </a:ln>
        </p:spPr>
      </p:sp>
      <p:pic>
        <p:nvPicPr>
          <p:cNvPr id="6" name="Image 0" descr="Users">    </p:cNvPr>
          <p:cNvPicPr>
            <a:picLocks noChangeAspect="1"/>
          </p:cNvPicPr>
          <p:nvPr/>
        </p:nvPicPr>
        <p:blipFill>
          <a:blip r:embed="rId1"/>
          <a:srcRect l="0" r="0" t="0" b="0"/>
          <a:stretch/>
        </p:blipFill>
        <p:spPr>
          <a:xfrm>
            <a:off x="1020233" y="2232496"/>
            <a:ext cx="254000" cy="254000"/>
          </a:xfrm>
          <a:prstGeom prst="rect">
            <a:avLst/>
          </a:prstGeom>
        </p:spPr>
      </p:pic>
      <p:sp>
        <p:nvSpPr>
          <p:cNvPr id="7" name="Text 4"/>
          <p:cNvSpPr/>
          <p:nvPr/>
        </p:nvSpPr>
        <p:spPr>
          <a:xfrm>
            <a:off x="1020233" y="2562696"/>
            <a:ext cx="501438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0F1B33"/>
                </a:solidFill>
                <a:latin typeface="Lexend" pitchFamily="34" charset="0"/>
                <a:ea typeface="Lexend" pitchFamily="34" charset="-122"/>
                <a:cs typeface="Lexend" pitchFamily="34" charset="-120"/>
              </a:rPr>
              <a:t>Strategic acquisition</a:t>
            </a:r>
            <a:endParaRPr lang="en-US" sz="1500" dirty="0"/>
          </a:p>
        </p:txBody>
      </p:sp>
      <p:sp>
        <p:nvSpPr>
          <p:cNvPr id="8" name="Text 5"/>
          <p:cNvSpPr/>
          <p:nvPr/>
        </p:nvSpPr>
        <p:spPr>
          <a:xfrm>
            <a:off x="1020233" y="2877021"/>
            <a:ext cx="5014383"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DM Sans" pitchFamily="34" charset="0"/>
                <a:ea typeface="DM Sans" pitchFamily="34" charset="-122"/>
                <a:cs typeface="DM Sans" pitchFamily="34" charset="-120"/>
              </a:rPr>
              <a:t>Brokers, AMCs and banks already own the customer relationship that Nxance makes stickier.</a:t>
            </a:r>
            <a:endParaRPr lang="en-US" sz="1250" dirty="0"/>
          </a:p>
        </p:txBody>
      </p:sp>
      <p:sp>
        <p:nvSpPr>
          <p:cNvPr id="9" name="Shape 6"/>
          <p:cNvSpPr/>
          <p:nvPr/>
        </p:nvSpPr>
        <p:spPr>
          <a:xfrm>
            <a:off x="6099175" y="2053630"/>
            <a:ext cx="5276850" cy="1462617"/>
          </a:xfrm>
          <a:prstGeom prst="roundRect">
            <a:avLst>
              <a:gd name="adj" fmla="val 6729"/>
            </a:avLst>
          </a:prstGeom>
          <a:solidFill>
            <a:srgbClr val="FFFFFF"/>
          </a:solidFill>
          <a:ln w="6350">
            <a:solidFill>
              <a:srgbClr val="DCE3F0"/>
            </a:solidFill>
            <a:prstDash val="solid"/>
          </a:ln>
        </p:spPr>
      </p:sp>
      <p:pic>
        <p:nvPicPr>
          <p:cNvPr id="10" name="Image 1" descr="Chart">    </p:cNvPr>
          <p:cNvPicPr>
            <a:picLocks noChangeAspect="1"/>
          </p:cNvPicPr>
          <p:nvPr/>
        </p:nvPicPr>
        <p:blipFill>
          <a:blip r:embed="rId2"/>
          <a:srcRect l="0" r="0" t="0" b="0"/>
          <a:stretch/>
        </p:blipFill>
        <p:spPr>
          <a:xfrm>
            <a:off x="6303433" y="2232496"/>
            <a:ext cx="254000" cy="254000"/>
          </a:xfrm>
          <a:prstGeom prst="rect">
            <a:avLst/>
          </a:prstGeom>
        </p:spPr>
      </p:pic>
      <p:sp>
        <p:nvSpPr>
          <p:cNvPr id="11" name="Text 7"/>
          <p:cNvSpPr/>
          <p:nvPr/>
        </p:nvSpPr>
        <p:spPr>
          <a:xfrm>
            <a:off x="6303433" y="2562696"/>
            <a:ext cx="501438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0F1B33"/>
                </a:solidFill>
                <a:latin typeface="Lexend" pitchFamily="34" charset="0"/>
                <a:ea typeface="Lexend" pitchFamily="34" charset="-122"/>
                <a:cs typeface="Lexend" pitchFamily="34" charset="-120"/>
              </a:rPr>
              <a:t>Wealthtech consolidation</a:t>
            </a:r>
            <a:endParaRPr lang="en-US" sz="1500" dirty="0"/>
          </a:p>
        </p:txBody>
      </p:sp>
      <p:sp>
        <p:nvSpPr>
          <p:cNvPr id="12" name="Text 8"/>
          <p:cNvSpPr/>
          <p:nvPr/>
        </p:nvSpPr>
        <p:spPr>
          <a:xfrm>
            <a:off x="6303433" y="2877021"/>
            <a:ext cx="5014383"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DM Sans" pitchFamily="34" charset="0"/>
                <a:ea typeface="DM Sans" pitchFamily="34" charset="-122"/>
                <a:cs typeface="DM Sans" pitchFamily="34" charset="-120"/>
              </a:rPr>
              <a:t>An established advisory or wealthtech platform acquiring the engines and the user base.</a:t>
            </a:r>
            <a:endParaRPr lang="en-US" sz="1250" dirty="0"/>
          </a:p>
        </p:txBody>
      </p:sp>
      <p:sp>
        <p:nvSpPr>
          <p:cNvPr id="13" name="Shape 9"/>
          <p:cNvSpPr/>
          <p:nvPr/>
        </p:nvSpPr>
        <p:spPr>
          <a:xfrm>
            <a:off x="815975" y="3522600"/>
            <a:ext cx="5276850" cy="1462617"/>
          </a:xfrm>
          <a:prstGeom prst="roundRect">
            <a:avLst>
              <a:gd name="adj" fmla="val 6729"/>
            </a:avLst>
          </a:prstGeom>
          <a:solidFill>
            <a:srgbClr val="FFFFFF"/>
          </a:solidFill>
          <a:ln w="6350">
            <a:solidFill>
              <a:srgbClr val="DCE3F0"/>
            </a:solidFill>
            <a:prstDash val="solid"/>
          </a:ln>
        </p:spPr>
      </p:sp>
      <p:pic>
        <p:nvPicPr>
          <p:cNvPr id="14" name="Image 2" descr="Database">    </p:cNvPr>
          <p:cNvPicPr>
            <a:picLocks noChangeAspect="1"/>
          </p:cNvPicPr>
          <p:nvPr/>
        </p:nvPicPr>
        <p:blipFill>
          <a:blip r:embed="rId3"/>
          <a:srcRect l="0" r="0" t="0" b="0"/>
          <a:stretch/>
        </p:blipFill>
        <p:spPr>
          <a:xfrm>
            <a:off x="1020233" y="3701455"/>
            <a:ext cx="254000" cy="254000"/>
          </a:xfrm>
          <a:prstGeom prst="rect">
            <a:avLst/>
          </a:prstGeom>
        </p:spPr>
      </p:pic>
      <p:sp>
        <p:nvSpPr>
          <p:cNvPr id="15" name="Text 10"/>
          <p:cNvSpPr/>
          <p:nvPr/>
        </p:nvSpPr>
        <p:spPr>
          <a:xfrm>
            <a:off x="1020233" y="4031655"/>
            <a:ext cx="501438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0F1B33"/>
                </a:solidFill>
                <a:latin typeface="Lexend" pitchFamily="34" charset="0"/>
                <a:ea typeface="Lexend" pitchFamily="34" charset="-122"/>
                <a:cs typeface="Lexend" pitchFamily="34" charset="-120"/>
              </a:rPr>
              <a:t>Infrastructure buyer</a:t>
            </a:r>
            <a:endParaRPr lang="en-US" sz="1500" dirty="0"/>
          </a:p>
        </p:txBody>
      </p:sp>
      <p:sp>
        <p:nvSpPr>
          <p:cNvPr id="16" name="Text 11"/>
          <p:cNvSpPr/>
          <p:nvPr/>
        </p:nvSpPr>
        <p:spPr>
          <a:xfrm>
            <a:off x="1020233" y="4345980"/>
            <a:ext cx="5014383"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DM Sans" pitchFamily="34" charset="0"/>
                <a:ea typeface="DM Sans" pitchFamily="34" charset="-122"/>
                <a:cs typeface="DM Sans" pitchFamily="34" charset="-120"/>
              </a:rPr>
              <a:t>An AMC, insurer or bank taking the engines as the intelligence layer behind its own product.</a:t>
            </a:r>
            <a:endParaRPr lang="en-US" sz="1250" dirty="0"/>
          </a:p>
        </p:txBody>
      </p:sp>
      <p:sp>
        <p:nvSpPr>
          <p:cNvPr id="17" name="Shape 12"/>
          <p:cNvSpPr/>
          <p:nvPr/>
        </p:nvSpPr>
        <p:spPr>
          <a:xfrm>
            <a:off x="6099175" y="3522600"/>
            <a:ext cx="5276850" cy="1462617"/>
          </a:xfrm>
          <a:prstGeom prst="roundRect">
            <a:avLst>
              <a:gd name="adj" fmla="val 6729"/>
            </a:avLst>
          </a:prstGeom>
          <a:solidFill>
            <a:srgbClr val="FFFFFF"/>
          </a:solidFill>
          <a:ln w="6350">
            <a:solidFill>
              <a:srgbClr val="DCE3F0"/>
            </a:solidFill>
            <a:prstDash val="solid"/>
          </a:ln>
        </p:spPr>
      </p:sp>
      <p:pic>
        <p:nvPicPr>
          <p:cNvPr id="18" name="Image 3" descr="Activity">    </p:cNvPr>
          <p:cNvPicPr>
            <a:picLocks noChangeAspect="1"/>
          </p:cNvPicPr>
          <p:nvPr/>
        </p:nvPicPr>
        <p:blipFill>
          <a:blip r:embed="rId4"/>
          <a:srcRect l="0" r="0" t="0" b="0"/>
          <a:stretch/>
        </p:blipFill>
        <p:spPr>
          <a:xfrm>
            <a:off x="6303433" y="3701455"/>
            <a:ext cx="254000" cy="254000"/>
          </a:xfrm>
          <a:prstGeom prst="rect">
            <a:avLst/>
          </a:prstGeom>
        </p:spPr>
      </p:pic>
      <p:sp>
        <p:nvSpPr>
          <p:cNvPr id="19" name="Text 13"/>
          <p:cNvSpPr/>
          <p:nvPr/>
        </p:nvSpPr>
        <p:spPr>
          <a:xfrm>
            <a:off x="6303433" y="4031655"/>
            <a:ext cx="501438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0F1B33"/>
                </a:solidFill>
                <a:latin typeface="Lexend" pitchFamily="34" charset="0"/>
                <a:ea typeface="Lexend" pitchFamily="34" charset="-122"/>
                <a:cs typeface="Lexend" pitchFamily="34" charset="-120"/>
              </a:rPr>
              <a:t>Secondary sale</a:t>
            </a:r>
            <a:endParaRPr lang="en-US" sz="1500" dirty="0"/>
          </a:p>
        </p:txBody>
      </p:sp>
      <p:sp>
        <p:nvSpPr>
          <p:cNvPr id="20" name="Text 14"/>
          <p:cNvSpPr/>
          <p:nvPr/>
        </p:nvSpPr>
        <p:spPr>
          <a:xfrm>
            <a:off x="6303433" y="4345980"/>
            <a:ext cx="5014383"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DM Sans" pitchFamily="34" charset="0"/>
                <a:ea typeface="DM Sans" pitchFamily="34" charset="-122"/>
                <a:cs typeface="DM Sans" pitchFamily="34" charset="-120"/>
              </a:rPr>
              <a:t>Early investors taking partial or full liquidity in a later growth round.</a:t>
            </a:r>
            <a:endParaRPr lang="en-US" sz="1250" dirty="0"/>
          </a:p>
        </p:txBody>
      </p:sp>
      <p:sp>
        <p:nvSpPr>
          <p:cNvPr id="21" name="Shape 15"/>
          <p:cNvSpPr/>
          <p:nvPr/>
        </p:nvSpPr>
        <p:spPr>
          <a:xfrm>
            <a:off x="812800" y="5115396"/>
            <a:ext cx="10566400" cy="584200"/>
          </a:xfrm>
          <a:prstGeom prst="roundRect">
            <a:avLst>
              <a:gd name="adj" fmla="val 17391"/>
            </a:avLst>
          </a:prstGeom>
          <a:solidFill>
            <a:srgbClr val="0F1B33"/>
          </a:solidFill>
          <a:ln/>
        </p:spPr>
      </p:sp>
      <p:pic>
        <p:nvPicPr>
          <p:cNvPr id="22" name="Image 4" descr="Globe">    </p:cNvPr>
          <p:cNvPicPr>
            <a:picLocks noChangeAspect="1"/>
          </p:cNvPicPr>
          <p:nvPr/>
        </p:nvPicPr>
        <p:blipFill>
          <a:blip r:embed="rId5"/>
          <a:srcRect l="0" r="0" t="0" b="0"/>
          <a:stretch/>
        </p:blipFill>
        <p:spPr>
          <a:xfrm>
            <a:off x="1016000" y="5280496"/>
            <a:ext cx="254000" cy="254000"/>
          </a:xfrm>
          <a:prstGeom prst="rect">
            <a:avLst/>
          </a:prstGeom>
        </p:spPr>
      </p:pic>
      <p:sp>
        <p:nvSpPr>
          <p:cNvPr id="23" name="Text 16"/>
          <p:cNvSpPr/>
          <p:nvPr/>
        </p:nvSpPr>
        <p:spPr>
          <a:xfrm>
            <a:off x="1435100" y="5288434"/>
            <a:ext cx="248539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Lexend" pitchFamily="34" charset="0"/>
                <a:ea typeface="Lexend" pitchFamily="34" charset="-122"/>
                <a:cs typeface="Lexend" pitchFamily="34" charset="-120"/>
              </a:rPr>
              <a:t>The long path: IPO</a:t>
            </a:r>
            <a:endParaRPr lang="en-US" sz="1500" dirty="0"/>
          </a:p>
        </p:txBody>
      </p:sp>
      <p:sp>
        <p:nvSpPr>
          <p:cNvPr id="24" name="Text 17"/>
          <p:cNvSpPr/>
          <p:nvPr/>
        </p:nvSpPr>
        <p:spPr>
          <a:xfrm>
            <a:off x="4013200" y="5292403"/>
            <a:ext cx="7377684" cy="255588"/>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B9C4DA"/>
                </a:solidFill>
                <a:latin typeface="DM Sans" pitchFamily="34" charset="0"/>
                <a:ea typeface="DM Sans" pitchFamily="34" charset="-122"/>
                <a:cs typeface="DM Sans" pitchFamily="34" charset="-120"/>
              </a:rPr>
              <a:t>SEBI-RIA registration, then a scaled advisory book, then a public listing.</a:t>
            </a:r>
            <a:endParaRPr lang="en-US" sz="1250" dirty="0"/>
          </a:p>
        </p:txBody>
      </p:sp>
      <p:pic>
        <p:nvPicPr>
          <p:cNvPr id="25" name="Image 5" descr="Nxance">    </p:cNvPr>
          <p:cNvPicPr>
            <a:picLocks noChangeAspect="1"/>
          </p:cNvPicPr>
          <p:nvPr/>
        </p:nvPicPr>
        <p:blipFill>
          <a:blip r:embed="rId6"/>
          <a:srcRect l="0" r="0" t="-227" b="-227"/>
          <a:stretch/>
        </p:blipFill>
        <p:spPr>
          <a:xfrm>
            <a:off x="812800" y="6267450"/>
            <a:ext cx="698500" cy="215900"/>
          </a:xfrm>
          <a:prstGeom prst="rect">
            <a:avLst/>
          </a:prstGeom>
        </p:spPr>
      </p:pic>
      <p:sp>
        <p:nvSpPr>
          <p:cNvPr id="26" name="Text 18"/>
          <p:cNvSpPr/>
          <p:nvPr/>
        </p:nvSpPr>
        <p:spPr>
          <a:xfrm>
            <a:off x="1638300" y="62382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5"/>
                </a:solidFill>
                <a:latin typeface="DM Sans" pitchFamily="34" charset="0"/>
                <a:ea typeface="DM Sans" pitchFamily="34" charset="-122"/>
                <a:cs typeface="DM Sans" pitchFamily="34" charset="-120"/>
              </a:rPr>
              <a:t>Ohshn Intelligence LLP</a:t>
            </a:r>
            <a:endParaRPr lang="en-US" sz="1200" dirty="0"/>
          </a:p>
        </p:txBody>
      </p:sp>
      <p:sp>
        <p:nvSpPr>
          <p:cNvPr id="27" name="Text 19"/>
          <p:cNvSpPr/>
          <p:nvPr/>
        </p:nvSpPr>
        <p:spPr>
          <a:xfrm>
            <a:off x="10439400" y="623828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3A5"/>
                </a:solidFill>
                <a:latin typeface="DM Sans" pitchFamily="34" charset="0"/>
                <a:ea typeface="DM Sans" pitchFamily="34" charset="-122"/>
                <a:cs typeface="DM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B33"/>
        </a:solidFill>
      </p:bgPr>
    </p:bg>
    <p:spTree>
      <p:nvGrpSpPr>
        <p:cNvPr id="1" name=""/>
        <p:cNvGrpSpPr/>
        <p:nvPr/>
      </p:nvGrpSpPr>
      <p:grpSpPr>
        <a:xfrm>
          <a:off x="0" y="0"/>
          <a:ext cx="0" cy="0"/>
          <a:chOff x="0" y="0"/>
          <a:chExt cx="0" cy="0"/>
        </a:xfrm>
      </p:grpSpPr>
      <p:pic>
        <p:nvPicPr>
          <p:cNvPr id="2" name="Image 0" descr="Nxance logo">    </p:cNvPr>
          <p:cNvPicPr>
            <a:picLocks noChangeAspect="1"/>
          </p:cNvPicPr>
          <p:nvPr/>
        </p:nvPicPr>
        <p:blipFill>
          <a:blip r:embed="rId1"/>
          <a:srcRect l="-85" r="-85" t="0" b="0"/>
          <a:stretch/>
        </p:blipFill>
        <p:spPr>
          <a:xfrm>
            <a:off x="5165725" y="1854336"/>
            <a:ext cx="1860550" cy="571500"/>
          </a:xfrm>
          <a:prstGeom prst="rect">
            <a:avLst/>
          </a:prstGeom>
        </p:spPr>
      </p:pic>
      <p:sp>
        <p:nvSpPr>
          <p:cNvPr id="3" name="Text 0"/>
          <p:cNvSpPr/>
          <p:nvPr/>
        </p:nvSpPr>
        <p:spPr>
          <a:xfrm>
            <a:off x="5517753" y="2679836"/>
            <a:ext cx="12072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A8FF"/>
                </a:solidFill>
                <a:latin typeface="Lexend" pitchFamily="34" charset="0"/>
                <a:ea typeface="Lexend" pitchFamily="34" charset="-122"/>
                <a:cs typeface="Lexend" pitchFamily="34" charset="-120"/>
              </a:rPr>
              <a:t>THE VISION</a:t>
            </a:r>
            <a:endParaRPr lang="en-US" sz="1200" dirty="0"/>
          </a:p>
        </p:txBody>
      </p:sp>
      <p:sp>
        <p:nvSpPr>
          <p:cNvPr id="4" name="Text 1"/>
          <p:cNvSpPr/>
          <p:nvPr/>
        </p:nvSpPr>
        <p:spPr>
          <a:xfrm>
            <a:off x="863600" y="3147157"/>
            <a:ext cx="10464800" cy="561049"/>
          </a:xfrm>
          <a:prstGeom prst="rect">
            <a:avLst/>
          </a:prstGeom>
          <a:noFill/>
          <a:ln/>
        </p:spPr>
        <p:txBody>
          <a:bodyPr wrap="square" lIns="0" tIns="0" rIns="0" bIns="0" rtlCol="0" anchor="t">
            <a:normAutofit/>
          </a:bodyPr>
          <a:lstStyle/>
          <a:p>
            <a:pPr algn="ctr" indent="0" marL="0">
              <a:lnSpc>
                <a:spcPts val="4218"/>
              </a:lnSpc>
              <a:buNone/>
            </a:pPr>
            <a:r>
              <a:rPr lang="en-US" sz="3700" b="1" dirty="0">
                <a:solidFill>
                  <a:srgbClr val="FFFFFF"/>
                </a:solidFill>
                <a:latin typeface="Geologica" pitchFamily="34" charset="0"/>
                <a:ea typeface="Geologica" pitchFamily="34" charset="-122"/>
                <a:cs typeface="Geologica" pitchFamily="34" charset="-120"/>
              </a:rPr>
              <a:t>Every rupee, properly understood.</a:t>
            </a:r>
            <a:endParaRPr lang="en-US" sz="3700" dirty="0"/>
          </a:p>
        </p:txBody>
      </p:sp>
      <p:sp>
        <p:nvSpPr>
          <p:cNvPr id="5" name="Text 2"/>
          <p:cNvSpPr/>
          <p:nvPr/>
        </p:nvSpPr>
        <p:spPr>
          <a:xfrm>
            <a:off x="1844675" y="3936802"/>
            <a:ext cx="8502650" cy="615950"/>
          </a:xfrm>
          <a:prstGeom prst="rect">
            <a:avLst/>
          </a:prstGeom>
          <a:noFill/>
          <a:ln/>
        </p:spPr>
        <p:txBody>
          <a:bodyPr wrap="square" lIns="0" tIns="0" rIns="0" bIns="0" rtlCol="0" anchor="t">
            <a:normAutofit/>
          </a:bodyPr>
          <a:lstStyle/>
          <a:p>
            <a:pPr algn="ctr" indent="0" marL="0">
              <a:lnSpc>
                <a:spcPts val="2325"/>
              </a:lnSpc>
              <a:buNone/>
            </a:pPr>
            <a:r>
              <a:rPr lang="en-US" sz="1550" dirty="0">
                <a:solidFill>
                  <a:srgbClr val="B9C4DA"/>
                </a:solidFill>
                <a:latin typeface="DM Sans" pitchFamily="34" charset="0"/>
                <a:ea typeface="DM Sans" pitchFamily="34" charset="-122"/>
                <a:cs typeface="DM Sans" pitchFamily="34" charset="-120"/>
              </a:rPr>
              <a:t>Become the intelligence layer behind India's financialising wealth — the one place any investor, from first SIP to HNI, goes to find out whether their money is actually working.</a:t>
            </a:r>
            <a:endParaRPr lang="en-US" sz="1550" dirty="0"/>
          </a:p>
        </p:txBody>
      </p:sp>
      <p:sp>
        <p:nvSpPr>
          <p:cNvPr id="6" name="Text 3"/>
          <p:cNvSpPr/>
          <p:nvPr/>
        </p:nvSpPr>
        <p:spPr>
          <a:xfrm>
            <a:off x="3982045" y="4781352"/>
            <a:ext cx="4354679" cy="247650"/>
          </a:xfrm>
          <a:prstGeom prst="rect">
            <a:avLst/>
          </a:prstGeom>
          <a:noFill/>
          <a:ln/>
        </p:spPr>
        <p:txBody>
          <a:bodyPr wrap="square" lIns="0" tIns="0" rIns="0" bIns="0" rtlCol="0" anchor="t">
            <a:normAutofit/>
          </a:bodyPr>
          <a:lstStyle/>
          <a:p>
            <a:pPr algn="l" indent="0" marL="0">
              <a:lnSpc>
                <a:spcPts val="1750"/>
              </a:lnSpc>
              <a:buNone/>
            </a:pPr>
            <a:r>
              <a:rPr lang="en-US" sz="1250" spc="150" kern="0" dirty="0">
                <a:solidFill>
                  <a:srgbClr val="6E7D99"/>
                </a:solidFill>
                <a:latin typeface="Lexend" pitchFamily="34" charset="0"/>
                <a:ea typeface="Lexend" pitchFamily="34" charset="-122"/>
                <a:cs typeface="Lexend" pitchFamily="34" charset="-120"/>
              </a:rPr>
              <a:t>NXANCE.COM  ·  OHSHN INTELLIGENCE LLP</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Nxance Investor Deck</dc:title>
  <dc:subject>PptxGenJS Presentation</dc:subject>
  <dc:creator>PptxGenJS</dc:creator>
  <cp:lastModifiedBy>PptxGenJS</cp:lastModifiedBy>
  <cp:revision>1</cp:revision>
  <dcterms:created xsi:type="dcterms:W3CDTF">2026-09-20T08:32:59Z</dcterms:created>
  <dcterms:modified xsi:type="dcterms:W3CDTF">2026-09-20T08:32:59Z</dcterms:modified>
</cp:coreProperties>
</file>