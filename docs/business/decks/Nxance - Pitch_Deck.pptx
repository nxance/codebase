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12192000"/>
  <p:embeddedFontLst>
    <p:embeddedFont>
      <p:font typeface="Helvetica Neu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hADyF0ZJJ+an9FyHlhpSsSP4mr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49D45A-1F9D-46DA-9D43-499C33ADBB7D}">
  <a:tblStyle styleId="{CF49D45A-1F9D-46DA-9D43-499C33ADBB7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A"/>
          </a:solidFill>
        </a:fill>
      </a:tcStyle>
    </a:wholeTbl>
    <a:band1H>
      <a:tcTxStyle/>
      <a:tcStyle>
        <a:fill>
          <a:solidFill>
            <a:srgbClr val="CBE2F5"/>
          </a:solidFill>
        </a:fill>
      </a:tcStyle>
    </a:band1H>
    <a:band2H>
      <a:tcTxStyle/>
    </a:band2H>
    <a:band1V>
      <a:tcTxStyle/>
      <a:tcStyle>
        <a:fill>
          <a:solidFill>
            <a:srgbClr val="CBE2F5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1CADE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1CADE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CADE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CADE4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HelveticaNeue-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HelveticaNeue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(₹L)</c:v>
                </c:pt>
              </c:strCache>
            </c:strRef>
          </c:tx>
          <c:spPr>
            <a:solidFill>
              <a:srgbClr val="3358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22</c:v>
                </c:pt>
                <c:pt idx="1">
                  <c:v>27</c:v>
                </c:pt>
                <c:pt idx="2">
                  <c:v>31</c:v>
                </c:pt>
                <c:pt idx="3">
                  <c:v>35</c:v>
                </c:pt>
                <c:pt idx="4">
                  <c:v>40</c:v>
                </c:pt>
                <c:pt idx="5">
                  <c:v>45</c:v>
                </c:pt>
                <c:pt idx="6">
                  <c:v>49</c:v>
                </c:pt>
                <c:pt idx="7">
                  <c:v>53</c:v>
                </c:pt>
                <c:pt idx="8">
                  <c:v>57</c:v>
                </c:pt>
                <c:pt idx="9">
                  <c:v>60</c:v>
                </c:pt>
                <c:pt idx="10">
                  <c:v>63</c:v>
                </c:pt>
                <c:pt idx="11">
                  <c:v>66</c:v>
                </c:pt>
                <c:pt idx="12">
                  <c:v>69</c:v>
                </c:pt>
                <c:pt idx="13">
                  <c:v>71</c:v>
                </c:pt>
                <c:pt idx="14">
                  <c:v>73</c:v>
                </c:pt>
                <c:pt idx="15">
                  <c:v>75</c:v>
                </c:pt>
                <c:pt idx="16">
                  <c:v>76</c:v>
                </c:pt>
                <c:pt idx="17">
                  <c:v>76.91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1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7686"/>
                    </a:solidFill>
                    <a:latin typeface="Arial"/>
                  </a:rPr>
                  <a:t>Monthly (₹L)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1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09d2db3e1b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09d2db3e1b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409d2db3e1b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09d2db3e1b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409d2db3e1b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409d2db3e1b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09d2db3e1b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09d2db3e1b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409d2db3e1b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09d2db3e1b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409d2db3e1b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409d2db3e1b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409d2db3e1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409d2db3e1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409d2db3e1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409d2db3e1b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409d2db3e1b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409d2db3e1b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409d2db3e1b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409d2db3e1b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409d2db3e1b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409d2db3e1b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409d2db3e1b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409d2db3e1b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5.jpg"/><Relationship Id="rId6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1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1"/>
          <p:cNvCxnSpPr/>
          <p:nvPr/>
        </p:nvCxnSpPr>
        <p:spPr>
          <a:xfrm>
            <a:off x="3538728" y="2331720"/>
            <a:ext cx="5120640" cy="0"/>
          </a:xfrm>
          <a:prstGeom prst="straightConnector1">
            <a:avLst/>
          </a:prstGeom>
          <a:noFill/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>
            <a:off x="3538728" y="2468880"/>
            <a:ext cx="5120640" cy="0"/>
          </a:xfrm>
          <a:prstGeom prst="straightConnector1">
            <a:avLst/>
          </a:prstGeom>
          <a:noFill/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nxance/logo_transparent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0008" y="2880360"/>
            <a:ext cx="2011680" cy="72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Investment intelligence, engineered for precision.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Ohshn Intelligence LLP   ·   Investor Deck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WHO WE 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640080" y="868680"/>
            <a:ext cx="10881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Nxance tells every Indian investor if their portfolio actually works — and exactly how to fix it.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640080" y="2834640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2"/>
          <p:cNvSpPr txBox="1"/>
          <p:nvPr/>
        </p:nvSpPr>
        <p:spPr>
          <a:xfrm>
            <a:off x="640080" y="31546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640080" y="35204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Every rupee, properly understood.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640080" y="868680"/>
            <a:ext cx="10881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Retail India invests blind, loses quietly, and has almost nowhere to turn for real advice.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40080" y="2606040"/>
            <a:ext cx="3456432" cy="214884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 txBox="1"/>
          <p:nvPr/>
        </p:nvSpPr>
        <p:spPr>
          <a:xfrm>
            <a:off x="914400" y="288036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21.6 Cr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914400" y="3474720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demat accounts opened in India — most held by investors with no professional guidance on what's inside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914400" y="43708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Source: SEBI Monthly Bulletin, Depository Statistics, Dec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352544" y="2606040"/>
            <a:ext cx="3456432" cy="214884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4626864" y="288036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9 in 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4626864" y="3474720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individual F&amp;O traders lost money in FY25 — a combined ₹1.06 lakh crore. Portfolios fail silently, for years, before anyone notices.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4626864" y="43708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Source: SEBI, "Analysis of Profit &amp; Loss of Individual Traders in Equity F&amp;O", Jul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065008" y="2606040"/>
            <a:ext cx="3456432" cy="214884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8339328" y="288036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&lt; 1,000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8339328" y="3474720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SEBI-registered investment advisers serve 20+ crore investors — roughly 1 regulated adviser per 2 million people.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8339328" y="43708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Source: The Ken, "SEBI-registered advisors are an endangered species",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84E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One app. Three engines.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Health Check, Construction, NxanceLM — AI that explains why.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1325880" y="24688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 Check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4206240" y="2441448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CCE4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4CCE4"/>
                </a:solidFill>
                <a:latin typeface="Calibri"/>
                <a:ea typeface="Calibri"/>
                <a:cs typeface="Calibri"/>
                <a:sym typeface="Calibri"/>
              </a:rPr>
              <a:t>connects a user's existing holdings and runs 26 quantitative sub-engines: return performance (XIRR), risk (VaR, CVaR, Sharpe, Sortino, drawdown), diversification overlap (Jaccard similarity), hidden cost analysis, goal-alignment probability (Monte Carlo simulation across 10,000 market paths), macro regime sensitivity (Hidden Markov Models), news sentiment (FinBERT), and fraud/governance screening — producing a 0-100 health score with every issue explained and quantified in rupees.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1325880" y="3520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206240" y="3493008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CCE4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4CCE4"/>
                </a:solidFill>
                <a:latin typeface="Calibri"/>
                <a:ea typeface="Calibri"/>
                <a:cs typeface="Calibri"/>
                <a:sym typeface="Calibri"/>
              </a:rPr>
              <a:t>26 sub-engines that build a new, optimized portfolio from a user's goals and risk profile using Mean-Variance Optimization (Black-Litterman + Ledoit-Wolf).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1325880" y="45720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Nxance LM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4206240" y="4544568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CCE4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4CCE4"/>
                </a:solidFill>
              </a:rPr>
              <a:t>An AI-powered explanation layer, plus a live market Terminal (Market, News, Macro, Currency sections). Health Check and Construction run their own independent, quantitative analysis end-to-end — Nxance LM then takes those verified results and explains them in plain English/Hindi, answers finance questions, and generates every report explanation the user sees. The Terminal is a separate, always-on feature showing live market data across each section, with an "Nxance Explain" toggle to overlay plain-language context on demand. </a:t>
            </a:r>
            <a:endParaRPr sz="1250">
              <a:solidFill>
                <a:srgbClr val="C4CCE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502925" y="5661078"/>
            <a:ext cx="11183700" cy="570900"/>
          </a:xfrm>
          <a:prstGeom prst="rect">
            <a:avLst/>
          </a:prstGeom>
          <a:solidFill>
            <a:srgbClr val="F1F4F7"/>
          </a:solidFill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Measurable value: an instant, honest diagnosis where investors previously had none. Health Check and Construction run on 26 specialized sub-engines, and Every output includes supporting data, methodology and stated limitations—not just a black-box score.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What the Health Check, Portfolio Builder, and NxanceLM actually look like.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640080" y="260604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500"/>
              <a:buFont typeface="Cambria"/>
              <a:buNone/>
            </a:pPr>
            <a:r>
              <a:rPr lang="en-US" sz="1500">
                <a:solidFill>
                  <a:srgbClr val="9AA1B0"/>
                </a:solidFill>
                <a:latin typeface="Cambria"/>
                <a:ea typeface="Cambria"/>
                <a:cs typeface="Cambria"/>
                <a:sym typeface="Cambria"/>
              </a:rPr>
              <a:t>Portfolio Builder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640080" y="36393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Portfolio Builder — goal-based AI construction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6172200" y="260604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500"/>
              <a:buFont typeface="Cambria"/>
              <a:buNone/>
            </a:pPr>
            <a:r>
              <a:rPr lang="en-US" sz="1500">
                <a:solidFill>
                  <a:srgbClr val="9AA1B0"/>
                </a:solidFill>
                <a:latin typeface="Cambria"/>
                <a:ea typeface="Cambria"/>
                <a:cs typeface="Cambria"/>
                <a:sym typeface="Cambria"/>
              </a:rPr>
              <a:t>Dashboard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172200" y="36393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Dashboard — net worth, allocation, AI sentiment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640080" y="457200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500"/>
              <a:buFont typeface="Cambria"/>
              <a:buNone/>
            </a:pPr>
            <a:r>
              <a:rPr lang="en-US" sz="1500">
                <a:solidFill>
                  <a:srgbClr val="9AA1B0"/>
                </a:solidFill>
                <a:latin typeface="Cambria"/>
                <a:ea typeface="Cambria"/>
                <a:cs typeface="Cambria"/>
                <a:sym typeface="Cambria"/>
              </a:rPr>
              <a:t>Health Check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640080" y="560527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Health Check — upload &amp; diagnose existing holdings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6172200" y="457200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500"/>
              <a:buFont typeface="Cambria"/>
              <a:buNone/>
            </a:pPr>
            <a:r>
              <a:rPr lang="en-US" sz="1500">
                <a:solidFill>
                  <a:srgbClr val="9AA1B0"/>
                </a:solidFill>
                <a:latin typeface="Cambria"/>
                <a:ea typeface="Cambria"/>
                <a:cs typeface="Cambria"/>
                <a:sym typeface="Cambria"/>
              </a:rPr>
              <a:t>Nxance AI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6172200" y="560527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Nxance AI — conversational, explainable analysis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_construction_report.jpg"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057400"/>
            <a:ext cx="5212080" cy="1508760"/>
          </a:xfrm>
          <a:prstGeom prst="rect">
            <a:avLst/>
          </a:prstGeom>
          <a:noFill/>
          <a:ln cap="flat" cmpd="sng" w="12700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1_dashboard.jpg"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057400"/>
            <a:ext cx="5212080" cy="1508760"/>
          </a:xfrm>
          <a:prstGeom prst="rect">
            <a:avLst/>
          </a:prstGeom>
          <a:noFill/>
          <a:ln cap="flat" cmpd="sng" w="12700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2_health_check.jpg" id="98" name="Google Shape;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4023360"/>
            <a:ext cx="5212080" cy="1508760"/>
          </a:xfrm>
          <a:prstGeom prst="rect">
            <a:avLst/>
          </a:prstGeom>
          <a:noFill/>
          <a:ln cap="flat" cmpd="sng" w="12700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4_nxance_lm.jpg" id="99" name="Google Shape;9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4023360"/>
            <a:ext cx="5212080" cy="1508760"/>
          </a:xfrm>
          <a:prstGeom prst="rect">
            <a:avLst/>
          </a:prstGeom>
          <a:noFill/>
          <a:ln cap="flat" cmpd="sng" w="12700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09d2db3e1b_0_138"/>
          <p:cNvSpPr txBox="1"/>
          <p:nvPr/>
        </p:nvSpPr>
        <p:spPr>
          <a:xfrm>
            <a:off x="298325" y="233125"/>
            <a:ext cx="8615100" cy="15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9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rPr>
              <a:t>TECHNOLOGY &amp; AI ARCHITECTURE</a:t>
            </a:r>
            <a:endParaRPr sz="1200">
              <a:solidFill>
                <a:srgbClr val="1CADE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5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Explainable AI on a lean, modern stack — built for traceable numbers, not invented ones.</a:t>
            </a:r>
            <a:endParaRPr sz="23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300"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End-to-end architecture &amp; data flow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409d2db3e1b_0_138"/>
          <p:cNvSpPr txBox="1"/>
          <p:nvPr/>
        </p:nvSpPr>
        <p:spPr>
          <a:xfrm>
            <a:off x="298329" y="1998955"/>
            <a:ext cx="6705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06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Portfolio Builder — goal-based intake feeds the AI construction engine (goal, risk profile, constraints).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06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Dashboard — aggregates net worth, allocation and AI sentiment for a live, continuous read of the portfolio.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06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Health Check — users upload holdings (PDF, CSV or Excel), which the engine parses and diagnoses.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06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Nxance LM— a conversational layer sits on top, so every screen can be interrogated in plain language.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409d2db3e1b_0_138"/>
          <p:cNvSpPr txBox="1"/>
          <p:nvPr/>
        </p:nvSpPr>
        <p:spPr>
          <a:xfrm>
            <a:off x="204900" y="3331100"/>
            <a:ext cx="117546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Runs on a FastAPI + Supabase + Railway stack — built for a lean, subscription B2C SaaS product.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t/>
            </a:r>
            <a:endParaRPr sz="6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Where AI does the work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NXANCE LM pairs an integrated AI explanation layer with a fully functional, always-on Live Market Terminal — together in a single interface.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does not merely aggregate data feeds. Health Check and Construction run their own independent, deterministic diagnostics and optimization — 26+ specialized sub-engines each, 52+ in total — computing every number directly from the user's data and live market inputs. The AI layer then takes those computed, verified results and turns them into deep, plain-language explanations in English or Hindi — backed by an audited evidence trail instead of opaque, "black-box" scores.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Conversely, when you need pure market analysis, the Terminal functions as a complete standalone workspace: click into any section — Market, News, Macro, or Currency — to instantly unlock a full-scale institutional platform where you track, analyze, and view raw, real-time data feeds. The specialized sub-engines run silently in the background, so you can click the "Nxance Explain" toggle at any time to instantly overlay plain-language logic and an explicit evidence trail directly onto the live charts.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7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409d2db3e1b_0_138"/>
          <p:cNvSpPr/>
          <p:nvPr/>
        </p:nvSpPr>
        <p:spPr>
          <a:xfrm>
            <a:off x="298319" y="6021486"/>
            <a:ext cx="4402455" cy="560704"/>
          </a:xfrm>
          <a:custGeom>
            <a:rect b="b" l="l" r="r" t="t"/>
            <a:pathLst>
              <a:path extrusionOk="0" h="560704" w="4402455">
                <a:moveTo>
                  <a:pt x="0" y="67211"/>
                </a:moveTo>
                <a:lnTo>
                  <a:pt x="5281" y="41050"/>
                </a:lnTo>
                <a:lnTo>
                  <a:pt x="19685" y="19685"/>
                </a:lnTo>
                <a:lnTo>
                  <a:pt x="41050" y="5281"/>
                </a:lnTo>
                <a:lnTo>
                  <a:pt x="67211" y="0"/>
                </a:lnTo>
                <a:lnTo>
                  <a:pt x="4334987" y="0"/>
                </a:lnTo>
                <a:lnTo>
                  <a:pt x="4372277" y="11292"/>
                </a:lnTo>
                <a:lnTo>
                  <a:pt x="4397083" y="41491"/>
                </a:lnTo>
                <a:lnTo>
                  <a:pt x="4402199" y="67211"/>
                </a:lnTo>
                <a:lnTo>
                  <a:pt x="4402199" y="492887"/>
                </a:lnTo>
                <a:lnTo>
                  <a:pt x="4396918" y="519049"/>
                </a:lnTo>
                <a:lnTo>
                  <a:pt x="4382513" y="540414"/>
                </a:lnTo>
                <a:lnTo>
                  <a:pt x="4361149" y="554818"/>
                </a:lnTo>
                <a:lnTo>
                  <a:pt x="4334987" y="560099"/>
                </a:lnTo>
                <a:lnTo>
                  <a:pt x="67211" y="560099"/>
                </a:lnTo>
                <a:lnTo>
                  <a:pt x="41050" y="554818"/>
                </a:lnTo>
                <a:lnTo>
                  <a:pt x="19685" y="540414"/>
                </a:lnTo>
                <a:lnTo>
                  <a:pt x="5281" y="519049"/>
                </a:lnTo>
                <a:lnTo>
                  <a:pt x="0" y="492887"/>
                </a:lnTo>
                <a:lnTo>
                  <a:pt x="0" y="67211"/>
                </a:lnTo>
                <a:close/>
              </a:path>
            </a:pathLst>
          </a:custGeom>
          <a:noFill/>
          <a:ln cap="flat" cmpd="sng" w="9525">
            <a:solidFill>
              <a:srgbClr val="E4E9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409d2db3e1b_0_138"/>
          <p:cNvSpPr txBox="1"/>
          <p:nvPr/>
        </p:nvSpPr>
        <p:spPr>
          <a:xfrm>
            <a:off x="1333337" y="6108311"/>
            <a:ext cx="2331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Portfolio Builder · Health Check · Dashboard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i="1" lang="en-US" sz="7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26+ analytical engines</a:t>
            </a:r>
            <a:endParaRPr sz="7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409d2db3e1b_0_138"/>
          <p:cNvSpPr/>
          <p:nvPr/>
        </p:nvSpPr>
        <p:spPr>
          <a:xfrm>
            <a:off x="4790592" y="6021486"/>
            <a:ext cx="3852545" cy="560704"/>
          </a:xfrm>
          <a:custGeom>
            <a:rect b="b" l="l" r="r" t="t"/>
            <a:pathLst>
              <a:path extrusionOk="0" h="560704" w="3852545">
                <a:moveTo>
                  <a:pt x="3784787" y="560099"/>
                </a:moveTo>
                <a:lnTo>
                  <a:pt x="67211" y="560099"/>
                </a:lnTo>
                <a:lnTo>
                  <a:pt x="41049" y="554818"/>
                </a:lnTo>
                <a:lnTo>
                  <a:pt x="19685" y="540414"/>
                </a:lnTo>
                <a:lnTo>
                  <a:pt x="5281" y="519049"/>
                </a:lnTo>
                <a:lnTo>
                  <a:pt x="0" y="492887"/>
                </a:lnTo>
                <a:lnTo>
                  <a:pt x="0" y="67211"/>
                </a:lnTo>
                <a:lnTo>
                  <a:pt x="5281" y="41050"/>
                </a:lnTo>
                <a:lnTo>
                  <a:pt x="19685" y="19685"/>
                </a:lnTo>
                <a:lnTo>
                  <a:pt x="41049" y="5281"/>
                </a:lnTo>
                <a:lnTo>
                  <a:pt x="67211" y="0"/>
                </a:lnTo>
                <a:lnTo>
                  <a:pt x="3784787" y="0"/>
                </a:lnTo>
                <a:lnTo>
                  <a:pt x="3822077" y="11292"/>
                </a:lnTo>
                <a:lnTo>
                  <a:pt x="3846883" y="41491"/>
                </a:lnTo>
                <a:lnTo>
                  <a:pt x="3852000" y="67211"/>
                </a:lnTo>
                <a:lnTo>
                  <a:pt x="3852000" y="492887"/>
                </a:lnTo>
                <a:lnTo>
                  <a:pt x="3846718" y="519049"/>
                </a:lnTo>
                <a:lnTo>
                  <a:pt x="3832313" y="540414"/>
                </a:lnTo>
                <a:lnTo>
                  <a:pt x="3810949" y="554818"/>
                </a:lnTo>
                <a:lnTo>
                  <a:pt x="3784787" y="560099"/>
                </a:lnTo>
                <a:close/>
              </a:path>
            </a:pathLst>
          </a:custGeom>
          <a:solidFill>
            <a:srgbClr val="0F1E3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409d2db3e1b_0_138"/>
          <p:cNvSpPr txBox="1"/>
          <p:nvPr/>
        </p:nvSpPr>
        <p:spPr>
          <a:xfrm>
            <a:off x="5760207" y="6108311"/>
            <a:ext cx="19134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NxanceLM — 18+ explainable engines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i="1" lang="en-US" sz="75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FastAPI · Supabase · Railway</a:t>
            </a:r>
            <a:endParaRPr sz="7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409d2db3e1b_0_138"/>
          <p:cNvSpPr/>
          <p:nvPr/>
        </p:nvSpPr>
        <p:spPr>
          <a:xfrm>
            <a:off x="8732579" y="6021486"/>
            <a:ext cx="2751454" cy="560704"/>
          </a:xfrm>
          <a:custGeom>
            <a:rect b="b" l="l" r="r" t="t"/>
            <a:pathLst>
              <a:path extrusionOk="0" h="560704" w="2751454">
                <a:moveTo>
                  <a:pt x="0" y="67211"/>
                </a:moveTo>
                <a:lnTo>
                  <a:pt x="5281" y="41050"/>
                </a:lnTo>
                <a:lnTo>
                  <a:pt x="19685" y="19685"/>
                </a:lnTo>
                <a:lnTo>
                  <a:pt x="41049" y="5281"/>
                </a:lnTo>
                <a:lnTo>
                  <a:pt x="67211" y="0"/>
                </a:lnTo>
                <a:lnTo>
                  <a:pt x="2684088" y="0"/>
                </a:lnTo>
                <a:lnTo>
                  <a:pt x="2721377" y="11292"/>
                </a:lnTo>
                <a:lnTo>
                  <a:pt x="2746183" y="41491"/>
                </a:lnTo>
                <a:lnTo>
                  <a:pt x="2751299" y="67211"/>
                </a:lnTo>
                <a:lnTo>
                  <a:pt x="2751299" y="492887"/>
                </a:lnTo>
                <a:lnTo>
                  <a:pt x="2746018" y="519049"/>
                </a:lnTo>
                <a:lnTo>
                  <a:pt x="2731614" y="540414"/>
                </a:lnTo>
                <a:lnTo>
                  <a:pt x="2710250" y="554818"/>
                </a:lnTo>
                <a:lnTo>
                  <a:pt x="2684088" y="560099"/>
                </a:lnTo>
                <a:lnTo>
                  <a:pt x="67211" y="560099"/>
                </a:lnTo>
                <a:lnTo>
                  <a:pt x="41049" y="554818"/>
                </a:lnTo>
                <a:lnTo>
                  <a:pt x="19685" y="540414"/>
                </a:lnTo>
                <a:lnTo>
                  <a:pt x="5281" y="519049"/>
                </a:lnTo>
                <a:lnTo>
                  <a:pt x="0" y="492887"/>
                </a:lnTo>
                <a:lnTo>
                  <a:pt x="0" y="67211"/>
                </a:lnTo>
                <a:close/>
              </a:path>
            </a:pathLst>
          </a:custGeom>
          <a:noFill/>
          <a:ln cap="flat" cmpd="sng" w="9525">
            <a:solidFill>
              <a:srgbClr val="F1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409d2db3e1b_0_138"/>
          <p:cNvSpPr txBox="1"/>
          <p:nvPr/>
        </p:nvSpPr>
        <p:spPr>
          <a:xfrm>
            <a:off x="9108672" y="6211621"/>
            <a:ext cx="1999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Traceable recommendation + reasoning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409d2db3e1b_0_138"/>
          <p:cNvSpPr txBox="1"/>
          <p:nvPr/>
        </p:nvSpPr>
        <p:spPr>
          <a:xfrm>
            <a:off x="204895" y="6719391"/>
            <a:ext cx="148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9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409d2db3e1b_0_138"/>
          <p:cNvSpPr txBox="1"/>
          <p:nvPr/>
        </p:nvSpPr>
        <p:spPr>
          <a:xfrm>
            <a:off x="11484030" y="6443105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EARLY VALIDATION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640080" y="868680"/>
            <a:ext cx="10881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It started with one question: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"Is my portfolio working?"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40080" y="2651760"/>
            <a:ext cx="3456432" cy="164592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914400" y="292608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914400" y="3520440"/>
            <a:ext cx="2907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investor conversations to pressure-test the 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352544" y="2651760"/>
            <a:ext cx="3456432" cy="164592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4626864" y="292608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4626864" y="3520440"/>
            <a:ext cx="2907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said they would pay for a real, honest answer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065008" y="2651760"/>
            <a:ext cx="3456432" cy="164592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8339328" y="292608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50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8339328" y="3520440"/>
            <a:ext cx="2907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early users tested our working Construction engine prototype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640080" y="4617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mbria"/>
              <a:buNone/>
            </a:pPr>
            <a:r>
              <a:rPr i="1" lang="en-US" sz="16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So we built the engines — and are now taking the validated demo to a launch-ready product.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09d2db3e1b_0_114"/>
          <p:cNvSpPr txBox="1"/>
          <p:nvPr/>
        </p:nvSpPr>
        <p:spPr>
          <a:xfrm>
            <a:off x="337125" y="210176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rPr>
              <a:t>Key Metrics &amp; Validation</a:t>
            </a:r>
            <a:endParaRPr b="1" sz="1200">
              <a:solidFill>
                <a:srgbClr val="1CADE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409d2db3e1b_0_114"/>
          <p:cNvSpPr txBox="1"/>
          <p:nvPr/>
        </p:nvSpPr>
        <p:spPr>
          <a:xfrm>
            <a:off x="337125" y="996600"/>
            <a:ext cx="11627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37" lvl="0" marL="9143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 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PROOF SO FAR, AND WHAT WE TRACK NEXT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CADE4"/>
              </a:buClr>
              <a:buSzPts val="2200"/>
              <a:buFont typeface="Calibri"/>
              <a:buChar char=" "/>
            </a:pPr>
            <a:r>
              <a:rPr b="1" lang="en-US" sz="2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Every phase has a named KPI gate before the next budget releases.</a:t>
            </a:r>
            <a:endParaRPr sz="2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409d2db3e1b_0_114"/>
          <p:cNvSpPr txBox="1"/>
          <p:nvPr/>
        </p:nvSpPr>
        <p:spPr>
          <a:xfrm>
            <a:off x="457200" y="63550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409d2db3e1b_0_114"/>
          <p:cNvSpPr txBox="1"/>
          <p:nvPr/>
        </p:nvSpPr>
        <p:spPr>
          <a:xfrm>
            <a:off x="457200" y="2331720"/>
            <a:ext cx="539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VALIDATED SO FAR</a:t>
            </a:r>
            <a:endParaRPr sz="1500"/>
          </a:p>
        </p:txBody>
      </p:sp>
      <p:sp>
        <p:nvSpPr>
          <p:cNvPr id="144" name="Google Shape;144;g409d2db3e1b_0_114"/>
          <p:cNvSpPr txBox="1"/>
          <p:nvPr/>
        </p:nvSpPr>
        <p:spPr>
          <a:xfrm>
            <a:off x="457200" y="2697480"/>
            <a:ext cx="5394900" cy="15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12 investor/user conversations pressure-tested the core problem</a:t>
            </a:r>
            <a:endParaRPr sz="125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8 of those 12 said they would pay for a real, honest answer</a:t>
            </a:r>
            <a:endParaRPr sz="125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50 early users walked through a working engine demo end-to-end</a:t>
            </a:r>
            <a:endParaRPr sz="125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500 users signed up on the pre-launch waitlist</a:t>
            </a:r>
            <a:endParaRPr sz="125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Full clickable frontend prototype built across all 3 engines</a:t>
            </a:r>
            <a:endParaRPr sz="1250"/>
          </a:p>
        </p:txBody>
      </p:sp>
      <p:sp>
        <p:nvSpPr>
          <p:cNvPr id="145" name="Google Shape;145;g409d2db3e1b_0_114"/>
          <p:cNvSpPr txBox="1"/>
          <p:nvPr/>
        </p:nvSpPr>
        <p:spPr>
          <a:xfrm>
            <a:off x="6126480" y="2331720"/>
            <a:ext cx="539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KPI GATES BY PHASE (NEXT 18 MONTHS)</a:t>
            </a:r>
            <a:endParaRPr sz="1500"/>
          </a:p>
        </p:txBody>
      </p:sp>
      <p:graphicFrame>
        <p:nvGraphicFramePr>
          <p:cNvPr id="146" name="Google Shape;146;g409d2db3e1b_0_114"/>
          <p:cNvGraphicFramePr/>
          <p:nvPr/>
        </p:nvGraphicFramePr>
        <p:xfrm>
          <a:off x="6126480" y="2697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{CF49D45A-1F9D-46DA-9D43-499C33ADBB7D}</a:tableStyleId>
              </a:tblPr>
              <a:tblGrid>
                <a:gridCol w="2331725"/>
                <a:gridCol w="30632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</a:t>
                      </a:r>
                      <a:endParaRPr sz="1300"/>
                    </a:p>
                  </a:txBody>
                  <a:tcPr marT="36575" marB="36575" marR="73150" marL="7315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Validation Metric</a:t>
                      </a:r>
                      <a:endParaRPr sz="1300"/>
                    </a:p>
                  </a:txBody>
                  <a:tcPr marT="36575" marB="36575" marR="73150" marL="73150" anchor="ctr">
                    <a:solidFill>
                      <a:srgbClr val="1B2A4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Foundation (M1–3)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interviews; 30–50 active testers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Alpha (M4–6)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100+ completed analyses; 40% repeat usage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Closed Beta (M7–9)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300–500 users; 25–50 paying users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V1 (M10–12)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1,000+ users; early recurring revenue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Simulation Alpha (M13–15)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design partners; validated scenario library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Institutional Scale (M16–18)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institutional pilots; 5,000 users target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g409d2db3e1b_0_114"/>
          <p:cNvSpPr txBox="1"/>
          <p:nvPr/>
        </p:nvSpPr>
        <p:spPr>
          <a:xfrm>
            <a:off x="11185855" y="635508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MARKET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640080" y="868680"/>
            <a:ext cx="10881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India's wealth is financialising fast — and the intelligence layer hasn't kept up.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40080" y="2606040"/>
            <a:ext cx="3456432" cy="214884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914400" y="288036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$1.1T → $2.3T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914400" y="3474720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India wealth management AUM, FY24 → FY29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914400" y="43708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Source: Deloitte India, "Financial Wealth Management Services in India", Jan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352544" y="2606040"/>
            <a:ext cx="3456432" cy="214884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4626864" y="288036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21.6 Cr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4626864" y="3474720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demat accounts in India, growing by ~1 lakh a 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4626864" y="43708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Source: SEBI Chairperson, India International Trade Fair remarks, Nov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065008" y="2606040"/>
            <a:ext cx="3456432" cy="214884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8339328" y="288036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₹26,400 Cr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8339328" y="3474720"/>
            <a:ext cx="29077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monthly SIP inflows into mutual funds, up from ₹3,100 Cr in 2016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8339328" y="437083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Source: AMFI, Monthly SIP Contribution 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MARKET SIZE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TAM / SAM / SOM, and who is already paying for this kind of intelligence.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40080" y="2148840"/>
            <a:ext cx="3456432" cy="182880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914400" y="231343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914400" y="269748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$2.3T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914400" y="3291840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Total India wealth management AUM opportunity by FY29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914400" y="359359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Deloitte India, Jan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352544" y="2148840"/>
            <a:ext cx="3456432" cy="182880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 txBox="1"/>
          <p:nvPr/>
        </p:nvSpPr>
        <p:spPr>
          <a:xfrm>
            <a:off x="4626864" y="231343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4626864" y="269748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21.6 Cr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4626864" y="3291840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Demat account holders investing largely without a regulated adviser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4626864" y="359359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SEBI Depository Statistics, Dec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065008" y="2148840"/>
            <a:ext cx="3456432" cy="1828800"/>
          </a:xfrm>
          <a:prstGeom prst="rect">
            <a:avLst/>
          </a:prstGeom>
          <a:solidFill>
            <a:srgbClr val="1A2C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8339328" y="231343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84EF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8339328" y="269748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4.52 Cr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8339328" y="3291840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Active trading accounts today — our reachable base for a paid subscription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8339328" y="3593592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NSE broker data via Angel One, Oct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40080" y="4297680"/>
            <a:ext cx="10881360" cy="150876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At just 0.5% conversion of active trading accounts to a ₹499–999/month subscription, the reachable revenue opportunity already exceeds ₹100 Cr ARR. </a:t>
            </a:r>
            <a:r>
              <a:rPr lang="en-US" sz="13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Retail India is already paying for adjacent intelligence: INDmoney's tracking &amp; AI advisory serves 10M+ users, Dezerv's portfolio health check has 6 lakh+ investors, and Wright Research's AI-driven advisory serves 1.5 lakh investors.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Sources: INDmoney (App Store, 2026) · Dezerv (App Store, 2026) · Wright Research (App Store, 2026)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09d2db3e1b_0_61"/>
          <p:cNvSpPr txBox="1"/>
          <p:nvPr/>
        </p:nvSpPr>
        <p:spPr>
          <a:xfrm>
            <a:off x="457200" y="853973"/>
            <a:ext cx="112746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 WE SERVE, AND HOW BIG THE OPPORTUNITY IS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Every investor from first SIP to HNI — in a market already large and financialising fast.</a:t>
            </a:r>
            <a:endParaRPr sz="2600"/>
          </a:p>
        </p:txBody>
      </p:sp>
      <p:sp>
        <p:nvSpPr>
          <p:cNvPr id="202" name="Google Shape;202;g409d2db3e1b_0_61"/>
          <p:cNvSpPr txBox="1"/>
          <p:nvPr/>
        </p:nvSpPr>
        <p:spPr>
          <a:xfrm>
            <a:off x="457200" y="233172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CUSTOMER SEGMENTS</a:t>
            </a:r>
            <a:endParaRPr/>
          </a:p>
        </p:txBody>
      </p:sp>
      <p:sp>
        <p:nvSpPr>
          <p:cNvPr id="203" name="Google Shape;203;g409d2db3e1b_0_61"/>
          <p:cNvSpPr txBox="1"/>
          <p:nvPr/>
        </p:nvSpPr>
        <p:spPr>
          <a:xfrm>
            <a:off x="457200" y="2697480"/>
            <a:ext cx="5120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Self-directed retail investors</a:t>
            </a:r>
            <a:endParaRPr sz="1450"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First-time and existing demat holders investing without any professional guidance — the primary segment.</a:t>
            </a:r>
            <a:endParaRPr sz="1250"/>
          </a:p>
        </p:txBody>
      </p:sp>
      <p:sp>
        <p:nvSpPr>
          <p:cNvPr id="204" name="Google Shape;204;g409d2db3e1b_0_61"/>
          <p:cNvSpPr txBox="1"/>
          <p:nvPr/>
        </p:nvSpPr>
        <p:spPr>
          <a:xfrm>
            <a:off x="457200" y="3447288"/>
            <a:ext cx="5120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traders</a:t>
            </a:r>
            <a:endParaRPr sz="1450"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Equity &amp; F&amp;O traders who need an honest, unbiased read on why a portfolio is or isn't working.</a:t>
            </a:r>
            <a:endParaRPr sz="1250"/>
          </a:p>
        </p:txBody>
      </p:sp>
      <p:sp>
        <p:nvSpPr>
          <p:cNvPr id="205" name="Google Shape;205;g409d2db3e1b_0_61"/>
          <p:cNvSpPr txBox="1"/>
          <p:nvPr/>
        </p:nvSpPr>
        <p:spPr>
          <a:xfrm>
            <a:off x="457200" y="4197096"/>
            <a:ext cx="5120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HNI / affluent investors</a:t>
            </a:r>
            <a:endParaRPr sz="1450"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Want deeper, explainable analysis beyond a generic robo-advisor score.</a:t>
            </a:r>
            <a:endParaRPr sz="1250"/>
          </a:p>
        </p:txBody>
      </p:sp>
      <p:sp>
        <p:nvSpPr>
          <p:cNvPr id="206" name="Google Shape;206;g409d2db3e1b_0_61"/>
          <p:cNvSpPr txBox="1"/>
          <p:nvPr/>
        </p:nvSpPr>
        <p:spPr>
          <a:xfrm>
            <a:off x="457200" y="4946904"/>
            <a:ext cx="5120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B2B (future)</a:t>
            </a:r>
            <a:endParaRPr sz="1450"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RIAs, boutique wealth firms and distributors licensing the underlying engines.</a:t>
            </a:r>
            <a:endParaRPr sz="1250"/>
          </a:p>
        </p:txBody>
      </p:sp>
      <p:sp>
        <p:nvSpPr>
          <p:cNvPr id="207" name="Google Shape;207;g409d2db3e1b_0_61"/>
          <p:cNvSpPr txBox="1"/>
          <p:nvPr/>
        </p:nvSpPr>
        <p:spPr>
          <a:xfrm>
            <a:off x="5989320" y="233172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MARKET SIZE</a:t>
            </a:r>
            <a:endParaRPr/>
          </a:p>
        </p:txBody>
      </p:sp>
      <p:sp>
        <p:nvSpPr>
          <p:cNvPr id="208" name="Google Shape;208;g409d2db3e1b_0_61"/>
          <p:cNvSpPr/>
          <p:nvPr/>
        </p:nvSpPr>
        <p:spPr>
          <a:xfrm>
            <a:off x="5989320" y="2697480"/>
            <a:ext cx="1691700" cy="1417200"/>
          </a:xfrm>
          <a:prstGeom prst="rect">
            <a:avLst/>
          </a:prstGeom>
          <a:solidFill>
            <a:srgbClr val="F1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409d2db3e1b_0_61"/>
          <p:cNvSpPr txBox="1"/>
          <p:nvPr/>
        </p:nvSpPr>
        <p:spPr>
          <a:xfrm>
            <a:off x="6099048" y="2761488"/>
            <a:ext cx="147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/>
          </a:p>
        </p:txBody>
      </p:sp>
      <p:sp>
        <p:nvSpPr>
          <p:cNvPr id="210" name="Google Shape;210;g409d2db3e1b_0_61"/>
          <p:cNvSpPr txBox="1"/>
          <p:nvPr/>
        </p:nvSpPr>
        <p:spPr>
          <a:xfrm>
            <a:off x="6099048" y="2999232"/>
            <a:ext cx="147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$2.3T</a:t>
            </a:r>
            <a:endParaRPr/>
          </a:p>
        </p:txBody>
      </p:sp>
      <p:sp>
        <p:nvSpPr>
          <p:cNvPr id="211" name="Google Shape;211;g409d2db3e1b_0_61"/>
          <p:cNvSpPr txBox="1"/>
          <p:nvPr/>
        </p:nvSpPr>
        <p:spPr>
          <a:xfrm>
            <a:off x="6099048" y="3429000"/>
            <a:ext cx="1472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India wealth-management AUM opportunity by FY29</a:t>
            </a:r>
            <a:endParaRPr sz="1000"/>
          </a:p>
        </p:txBody>
      </p:sp>
      <p:sp>
        <p:nvSpPr>
          <p:cNvPr id="212" name="Google Shape;212;g409d2db3e1b_0_61"/>
          <p:cNvSpPr/>
          <p:nvPr/>
        </p:nvSpPr>
        <p:spPr>
          <a:xfrm>
            <a:off x="7818120" y="2697480"/>
            <a:ext cx="1691700" cy="1417200"/>
          </a:xfrm>
          <a:prstGeom prst="rect">
            <a:avLst/>
          </a:prstGeom>
          <a:solidFill>
            <a:srgbClr val="F1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409d2db3e1b_0_61"/>
          <p:cNvSpPr txBox="1"/>
          <p:nvPr/>
        </p:nvSpPr>
        <p:spPr>
          <a:xfrm>
            <a:off x="7927848" y="2761488"/>
            <a:ext cx="147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/>
          </a:p>
        </p:txBody>
      </p:sp>
      <p:sp>
        <p:nvSpPr>
          <p:cNvPr id="214" name="Google Shape;214;g409d2db3e1b_0_61"/>
          <p:cNvSpPr txBox="1"/>
          <p:nvPr/>
        </p:nvSpPr>
        <p:spPr>
          <a:xfrm>
            <a:off x="7927848" y="2999232"/>
            <a:ext cx="147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21.6 Cr</a:t>
            </a:r>
            <a:endParaRPr/>
          </a:p>
        </p:txBody>
      </p:sp>
      <p:sp>
        <p:nvSpPr>
          <p:cNvPr id="215" name="Google Shape;215;g409d2db3e1b_0_61"/>
          <p:cNvSpPr txBox="1"/>
          <p:nvPr/>
        </p:nvSpPr>
        <p:spPr>
          <a:xfrm>
            <a:off x="7927848" y="3429000"/>
            <a:ext cx="147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Demat account holders investing largely without a regulated adviser</a:t>
            </a:r>
            <a:endParaRPr sz="1000"/>
          </a:p>
        </p:txBody>
      </p:sp>
      <p:sp>
        <p:nvSpPr>
          <p:cNvPr id="216" name="Google Shape;216;g409d2db3e1b_0_61"/>
          <p:cNvSpPr/>
          <p:nvPr/>
        </p:nvSpPr>
        <p:spPr>
          <a:xfrm>
            <a:off x="9646920" y="2697480"/>
            <a:ext cx="1691700" cy="1417200"/>
          </a:xfrm>
          <a:prstGeom prst="rect">
            <a:avLst/>
          </a:prstGeom>
          <a:solidFill>
            <a:srgbClr val="F1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409d2db3e1b_0_61"/>
          <p:cNvSpPr txBox="1"/>
          <p:nvPr/>
        </p:nvSpPr>
        <p:spPr>
          <a:xfrm>
            <a:off x="9756648" y="2761488"/>
            <a:ext cx="147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endParaRPr/>
          </a:p>
        </p:txBody>
      </p:sp>
      <p:sp>
        <p:nvSpPr>
          <p:cNvPr id="218" name="Google Shape;218;g409d2db3e1b_0_61"/>
          <p:cNvSpPr txBox="1"/>
          <p:nvPr/>
        </p:nvSpPr>
        <p:spPr>
          <a:xfrm>
            <a:off x="9756648" y="2999232"/>
            <a:ext cx="147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4.52 Cr</a:t>
            </a:r>
            <a:endParaRPr/>
          </a:p>
        </p:txBody>
      </p:sp>
      <p:sp>
        <p:nvSpPr>
          <p:cNvPr id="219" name="Google Shape;219;g409d2db3e1b_0_61"/>
          <p:cNvSpPr txBox="1"/>
          <p:nvPr/>
        </p:nvSpPr>
        <p:spPr>
          <a:xfrm>
            <a:off x="9756648" y="3429000"/>
            <a:ext cx="147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trading accounts — our reachable base for a paid subscription</a:t>
            </a:r>
            <a:endParaRPr sz="1000"/>
          </a:p>
        </p:txBody>
      </p:sp>
      <p:sp>
        <p:nvSpPr>
          <p:cNvPr id="220" name="Google Shape;220;g409d2db3e1b_0_61"/>
          <p:cNvSpPr txBox="1"/>
          <p:nvPr/>
        </p:nvSpPr>
        <p:spPr>
          <a:xfrm>
            <a:off x="5989320" y="4343400"/>
            <a:ext cx="512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At just 0.5% conversion of active trading accounts to a ₹499–999/month subscription, the reachable revenue opportunity already exceeds ₹100 Cr ARR.</a:t>
            </a:r>
            <a:endParaRPr sz="1200"/>
          </a:p>
        </p:txBody>
      </p:sp>
      <p:sp>
        <p:nvSpPr>
          <p:cNvPr id="221" name="Google Shape;221;g409d2db3e1b_0_61"/>
          <p:cNvSpPr txBox="1"/>
          <p:nvPr/>
        </p:nvSpPr>
        <p:spPr>
          <a:xfrm>
            <a:off x="457200" y="5806440"/>
            <a:ext cx="1127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u="none" cap="none" strike="noStrike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Retail India is already paying for adjacent intelligence: INDmoney's tracking &amp; AI advisory serves 10M+ users, Dezerv's portfolio health check has 6 lakh+ investors, and Wright Research's AI-driven advisory serves 1.5 lakh investors.</a:t>
            </a:r>
            <a:endParaRPr/>
          </a:p>
        </p:txBody>
      </p:sp>
      <p:sp>
        <p:nvSpPr>
          <p:cNvPr id="222" name="Google Shape;222;g409d2db3e1b_0_61"/>
          <p:cNvSpPr txBox="1"/>
          <p:nvPr/>
        </p:nvSpPr>
        <p:spPr>
          <a:xfrm>
            <a:off x="457200" y="166427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rPr>
              <a:t>Customer Segments &amp; Market Size</a:t>
            </a:r>
            <a:endParaRPr b="1" sz="1200">
              <a:solidFill>
                <a:srgbClr val="1CADE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409d2db3e1b_0_61"/>
          <p:cNvSpPr txBox="1"/>
          <p:nvPr/>
        </p:nvSpPr>
        <p:spPr>
          <a:xfrm>
            <a:off x="457200" y="63550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409d2db3e1b_0_61"/>
          <p:cNvSpPr txBox="1"/>
          <p:nvPr/>
        </p:nvSpPr>
        <p:spPr>
          <a:xfrm>
            <a:off x="11185855" y="635508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09d2db3e1b_0_164"/>
          <p:cNvSpPr txBox="1"/>
          <p:nvPr/>
        </p:nvSpPr>
        <p:spPr>
          <a:xfrm>
            <a:off x="490220" y="277371"/>
            <a:ext cx="522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rPr>
              <a:t>VISION &amp; ROADMAP</a:t>
            </a:r>
            <a:endParaRPr sz="1200">
              <a:solidFill>
                <a:srgbClr val="1CADE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Every rupee, properly understood.</a:t>
            </a:r>
            <a:endParaRPr sz="2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1" name="Google Shape;231;g409d2db3e1b_0_164"/>
          <p:cNvSpPr txBox="1"/>
          <p:nvPr/>
        </p:nvSpPr>
        <p:spPr>
          <a:xfrm>
            <a:off x="490228" y="1589375"/>
            <a:ext cx="2593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Next major milestones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409d2db3e1b_0_164"/>
          <p:cNvSpPr txBox="1"/>
          <p:nvPr/>
        </p:nvSpPr>
        <p:spPr>
          <a:xfrm>
            <a:off x="631273" y="2569972"/>
            <a:ext cx="109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409d2db3e1b_0_164"/>
          <p:cNvSpPr txBox="1"/>
          <p:nvPr/>
        </p:nvSpPr>
        <p:spPr>
          <a:xfrm>
            <a:off x="1016922" y="2083154"/>
            <a:ext cx="48171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Ship the free Health Check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Prototype is built today — the instant diagnosis is the free hook and paid-intent qualifier.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409d2db3e1b_0_164"/>
          <p:cNvSpPr txBox="1"/>
          <p:nvPr/>
        </p:nvSpPr>
        <p:spPr>
          <a:xfrm>
            <a:off x="1016922" y="3253585"/>
            <a:ext cx="48717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Open tiered subscriptions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Starter </a:t>
            </a:r>
            <a:r>
              <a:rPr lang="en-US" sz="1250">
                <a:solidFill>
                  <a:srgbClr val="44506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₹</a:t>
            </a:r>
            <a:r>
              <a:rPr lang="en-US" sz="12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399, Growth </a:t>
            </a:r>
            <a:r>
              <a:rPr lang="en-US" sz="1250">
                <a:solidFill>
                  <a:srgbClr val="44506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₹</a:t>
            </a:r>
            <a:r>
              <a:rPr lang="en-US" sz="12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899, Pro </a:t>
            </a:r>
            <a:r>
              <a:rPr lang="en-US" sz="1250">
                <a:solidFill>
                  <a:srgbClr val="44506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₹</a:t>
            </a:r>
            <a:r>
              <a:rPr lang="en-US" sz="12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1,499/mo — unlocking Construction, deeper NxanceLM, rebalancing and execution.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409d2db3e1b_0_164"/>
          <p:cNvSpPr txBox="1"/>
          <p:nvPr/>
        </p:nvSpPr>
        <p:spPr>
          <a:xfrm>
            <a:off x="524832" y="4424018"/>
            <a:ext cx="5362500" cy="14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075">
            <a:spAutoFit/>
          </a:bodyPr>
          <a:lstStyle/>
          <a:p>
            <a:pPr indent="0" lvl="0" marL="504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Layer HNI &amp; B2B revenue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504190" marR="508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Direct HNI advisory fees and licensing the engines to distributors and institutions as usage data compounds.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br>
              <a:rPr b="1" lang="en-US" sz="1250">
                <a:solidFill>
                  <a:srgbClr val="F15A2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409d2db3e1b_0_164"/>
          <p:cNvSpPr txBox="1"/>
          <p:nvPr/>
        </p:nvSpPr>
        <p:spPr>
          <a:xfrm>
            <a:off x="6433476" y="1681775"/>
            <a:ext cx="34875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Scalability: one engine, every customer layer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409d2db3e1b_0_164"/>
          <p:cNvSpPr txBox="1"/>
          <p:nvPr/>
        </p:nvSpPr>
        <p:spPr>
          <a:xfrm>
            <a:off x="6442515" y="2280432"/>
            <a:ext cx="1417200" cy="428400"/>
          </a:xfrm>
          <a:prstGeom prst="rect">
            <a:avLst/>
          </a:prstGeom>
          <a:solidFill>
            <a:srgbClr val="F1F4F7"/>
          </a:solidFill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409d2db3e1b_0_164"/>
          <p:cNvSpPr txBox="1"/>
          <p:nvPr/>
        </p:nvSpPr>
        <p:spPr>
          <a:xfrm>
            <a:off x="8179875" y="2280432"/>
            <a:ext cx="1417200" cy="428400"/>
          </a:xfrm>
          <a:prstGeom prst="rect">
            <a:avLst/>
          </a:prstGeom>
          <a:solidFill>
            <a:srgbClr val="F1F4F7"/>
          </a:solidFill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Advisors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409d2db3e1b_0_164"/>
          <p:cNvSpPr txBox="1"/>
          <p:nvPr/>
        </p:nvSpPr>
        <p:spPr>
          <a:xfrm>
            <a:off x="9917234" y="2280432"/>
            <a:ext cx="1417200" cy="428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63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Institutions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409d2db3e1b_0_164"/>
          <p:cNvSpPr txBox="1"/>
          <p:nvPr/>
        </p:nvSpPr>
        <p:spPr>
          <a:xfrm>
            <a:off x="6429815" y="3134379"/>
            <a:ext cx="49428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Shared platform infrastructure enables scale across customer layers, while AI, data, support and compliance costs are actively managed.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409d2db3e1b_0_164"/>
          <p:cNvSpPr txBox="1"/>
          <p:nvPr/>
        </p:nvSpPr>
        <p:spPr>
          <a:xfrm>
            <a:off x="6442515" y="3716040"/>
            <a:ext cx="5120700" cy="1017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rPr>
              <a:t>Long-term vision</a:t>
            </a:r>
            <a:endParaRPr sz="1200">
              <a:solidFill>
                <a:srgbClr val="1CADE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231775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CE1F0"/>
                </a:solidFill>
                <a:latin typeface="Calibri"/>
                <a:ea typeface="Calibri"/>
                <a:cs typeface="Calibri"/>
                <a:sym typeface="Calibri"/>
              </a:rPr>
              <a:t>Become the intelligence layer behind India's financialising wealth — the one place any investor, from first SIP to HNI, goes to know if their money is actually working.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409d2db3e1b_0_164"/>
          <p:cNvSpPr txBox="1"/>
          <p:nvPr/>
        </p:nvSpPr>
        <p:spPr>
          <a:xfrm>
            <a:off x="490225" y="2121026"/>
            <a:ext cx="384000" cy="4389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409d2db3e1b_0_164"/>
          <p:cNvSpPr txBox="1"/>
          <p:nvPr/>
        </p:nvSpPr>
        <p:spPr>
          <a:xfrm>
            <a:off x="490225" y="4400872"/>
            <a:ext cx="384000" cy="4389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409d2db3e1b_0_164"/>
          <p:cNvSpPr txBox="1"/>
          <p:nvPr/>
        </p:nvSpPr>
        <p:spPr>
          <a:xfrm>
            <a:off x="490225" y="3260956"/>
            <a:ext cx="384000" cy="4389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409d2db3e1b_0_164"/>
          <p:cNvSpPr txBox="1"/>
          <p:nvPr/>
        </p:nvSpPr>
        <p:spPr>
          <a:xfrm>
            <a:off x="457200" y="63550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409d2db3e1b_0_164"/>
          <p:cNvSpPr txBox="1"/>
          <p:nvPr/>
        </p:nvSpPr>
        <p:spPr>
          <a:xfrm>
            <a:off x="11185855" y="635508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6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B84EF"/>
                </a:solidFill>
                <a:latin typeface="Calibri"/>
                <a:ea typeface="Calibri"/>
                <a:cs typeface="Calibri"/>
                <a:sym typeface="Calibri"/>
              </a:rPr>
              <a:t>PRODUCT &amp; MONETIZATION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Frontend built. Free hook, tiered depth, then the rest of the wallet.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640080" y="157276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PRODUCT STATUS   Frontend complete · Backend build next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 txBox="1"/>
          <p:nvPr/>
        </p:nvSpPr>
        <p:spPr>
          <a:xfrm>
            <a:off x="640080" y="2148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1280160" y="212140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 Health Check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4297680" y="2075688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CCE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4CCE4"/>
                </a:solidFill>
                <a:latin typeface="Calibri"/>
                <a:ea typeface="Calibri"/>
                <a:cs typeface="Calibri"/>
                <a:sym typeface="Calibri"/>
              </a:rPr>
              <a:t>Hooks users with an instant, honest diagnosis of their existing portfolio. A ₹99 one-time unlock for the full report acts as the paid-intent qualifier.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 txBox="1"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1280160" y="317296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Tiered subscriptions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4297680" y="3127248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CCE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4CCE4"/>
                </a:solidFill>
                <a:latin typeface="Calibri"/>
                <a:ea typeface="Calibri"/>
                <a:cs typeface="Calibri"/>
                <a:sym typeface="Calibri"/>
              </a:rPr>
              <a:t>Starter ₹399/mo, Growth ₹899/mo, Pro ₹1,499/mo — unlocking Construction, deeper NxanceLM access, rebalancing, execution and priority support as tiers climb.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40080" y="4251960"/>
            <a:ext cx="411480" cy="411480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 txBox="1"/>
          <p:nvPr/>
        </p:nvSpPr>
        <p:spPr>
          <a:xfrm>
            <a:off x="640080" y="4251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1280160" y="422452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HNI fees &amp; B2B licensing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4297680" y="4178808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CCE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4CCE4"/>
                </a:solidFill>
                <a:latin typeface="Calibri"/>
                <a:ea typeface="Calibri"/>
                <a:cs typeface="Calibri"/>
                <a:sym typeface="Calibri"/>
              </a:rPr>
              <a:t>Layer on top as the user base and behaviour data compound — direct HNI advisory fees and licensing of the engines to distributors and institutions.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18-month revenue trajectory: 75 → 600 → 2,200 paying subscribers, ₹76.05L gross revenue collected (6.8% of the 18M operating burn) — modeled as upside, not netted against the funding ask.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 txBox="1"/>
          <p:nvPr/>
        </p:nvSpPr>
        <p:spPr>
          <a:xfrm>
            <a:off x="530355" y="185245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655343" y="915605"/>
            <a:ext cx="10881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Nobody else starts with diagnosis, explains its reasoning, and charges a flat fee for it.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62980" y="1727135"/>
            <a:ext cx="10881300" cy="50280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9636270" y="1680210"/>
            <a:ext cx="1892700" cy="50280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 txBox="1"/>
          <p:nvPr/>
        </p:nvSpPr>
        <p:spPr>
          <a:xfrm>
            <a:off x="1955314" y="1634485"/>
            <a:ext cx="17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Kalpi.ai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3848123" y="1634485"/>
            <a:ext cx="17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Wright Research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5740930" y="1634485"/>
            <a:ext cx="17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Ionic Wealth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7633739" y="1634485"/>
            <a:ext cx="17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MyFi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9724684" y="1727135"/>
            <a:ext cx="17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Nxance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9636270" y="2183130"/>
            <a:ext cx="1892700" cy="777300"/>
          </a:xfrm>
          <a:prstGeom prst="rect">
            <a:avLst/>
          </a:prstGeom>
          <a:solidFill>
            <a:srgbClr val="1A2C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 txBox="1"/>
          <p:nvPr/>
        </p:nvSpPr>
        <p:spPr>
          <a:xfrm>
            <a:off x="736132" y="2230055"/>
            <a:ext cx="1271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Target user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2153452" y="2230055"/>
            <a:ext cx="17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Self-directed investors building strategies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3848123" y="2137405"/>
            <a:ext cx="17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Investors wanting managed money (RIA/PMS)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5939068" y="2230055"/>
            <a:ext cx="17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HNI/UHNI investors (₹1Cr–25Cr segment)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7831876" y="2230055"/>
            <a:ext cx="17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Retail MF/stock investors wanting a review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9724684" y="2230055"/>
            <a:ext cx="17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investor, first SIP to HNI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47718" y="2960370"/>
            <a:ext cx="8988600" cy="77730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9636270" y="2960370"/>
            <a:ext cx="1892700" cy="777300"/>
          </a:xfrm>
          <a:prstGeom prst="rect">
            <a:avLst/>
          </a:prstGeom>
          <a:solidFill>
            <a:srgbClr val="162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 txBox="1"/>
          <p:nvPr/>
        </p:nvSpPr>
        <p:spPr>
          <a:xfrm>
            <a:off x="736132" y="3007295"/>
            <a:ext cx="1271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2153452" y="3007295"/>
            <a:ext cx="17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Free to start; premium tiers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4046260" y="3007295"/>
            <a:ext cx="17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Advisory/PMS fees (~1.5–2% AUM)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5939068" y="3007295"/>
            <a:ext cx="17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PMS/AIF advisory fees; accredited-investor gated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7831876" y="3007295"/>
            <a:ext cx="17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Free; monetised via lending (MyCash)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9724684" y="3007295"/>
            <a:ext cx="17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Flat ₹499–999/mo — no asset-based fees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9636270" y="3737610"/>
            <a:ext cx="1892700" cy="960000"/>
          </a:xfrm>
          <a:prstGeom prst="rect">
            <a:avLst/>
          </a:prstGeom>
          <a:solidFill>
            <a:srgbClr val="1A2C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 txBox="1"/>
          <p:nvPr/>
        </p:nvSpPr>
        <p:spPr>
          <a:xfrm>
            <a:off x="736132" y="3784535"/>
            <a:ext cx="12711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AI capability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2153452" y="3784535"/>
            <a:ext cx="1746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Rule-based strategy builder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3848123" y="3691885"/>
            <a:ext cx="1746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AI/ML factor models for managed portfolios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5939068" y="3784535"/>
            <a:ext cx="1746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Ionic Wealth AI: institutional-grade insights on synced MF history, HNI-only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7831876" y="3784535"/>
            <a:ext cx="1746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AI chat on fund review scores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9724684" y="3784535"/>
            <a:ext cx="1746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3025" marR="13652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52+ sub-engine (healthcheck and construction )s + NxanceLM (18+), fully explainable - Nxance LM -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AI-driven market terminal giving clear evidence-backed insights. 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3025" marR="13652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alibri"/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47718" y="4697730"/>
            <a:ext cx="8988600" cy="91440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9636270" y="4697730"/>
            <a:ext cx="1892700" cy="914400"/>
          </a:xfrm>
          <a:prstGeom prst="rect">
            <a:avLst/>
          </a:prstGeom>
          <a:solidFill>
            <a:srgbClr val="162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 txBox="1"/>
          <p:nvPr/>
        </p:nvSpPr>
        <p:spPr>
          <a:xfrm>
            <a:off x="736132" y="4744655"/>
            <a:ext cx="1271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Positioning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2153452" y="4744655"/>
            <a:ext cx="174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"Systematic investing" for DIY traders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4046260" y="4744655"/>
            <a:ext cx="174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"AI robo-advisor" managing money for you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5939068" y="4744655"/>
            <a:ext cx="174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Angel One-backed wealth platform for accredited/HNI investors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7831876" y="4744655"/>
            <a:ext cx="174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Portfolio review as hook into lending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9724722" y="4697718"/>
            <a:ext cx="174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Diagnosis-first, conflict-free, every investor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 txBox="1"/>
          <p:nvPr/>
        </p:nvSpPr>
        <p:spPr>
          <a:xfrm>
            <a:off x="93425" y="6172250"/>
            <a:ext cx="114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Dezerv (6L+ users) is HNI-oriented, AUM/advisory-fee, relationship-manager-led — referenced on the Market slide as demand proof, not listed here as a direct comparable. Sources: kalpi.ai · Wright Research (wrightresearch.in, smallcase, App Store) · Ionic Wealth (ionic.in, App Store, Hubbis) · MyFi (App Store) — company websites &amp; public app listings, 2026</a:t>
            </a:r>
            <a:br>
              <a:rPr i="1" lang="en-US" sz="85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i="1" lang="en-US" sz="85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9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If a foundation-model provider shipped this feature tomorrow, why we still win: </a:t>
            </a:r>
            <a:r>
              <a:rPr lang="en-US" sz="9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Product learning can improve the experience over time through explicitly consented, anonymised aggregate usage signals and robust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data-governance controls. Commission-free positioning is structurally hard for distributor-funded incumbents to replicate (trail commissions misalign their incentives), and it's hard for advisory-fee, human-heavy players like Ionic Wealth to match at a </a:t>
            </a:r>
            <a:r>
              <a:rPr lang="en-US" sz="950">
                <a:solidFill>
                  <a:srgbClr val="44506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₹</a:t>
            </a:r>
            <a:r>
              <a:rPr lang="en-US" sz="9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499–999 flat price open to every investor, not just </a:t>
            </a:r>
            <a:r>
              <a:rPr lang="en-US" sz="950">
                <a:solidFill>
                  <a:srgbClr val="44506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₹</a:t>
            </a:r>
            <a:r>
              <a:rPr lang="en-US" sz="9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1 Cr+ HNI portfolios</a:t>
            </a:r>
            <a:r>
              <a:rPr lang="en-US" sz="9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950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850"/>
              <a:buFont typeface="Calibri"/>
              <a:buNone/>
            </a:pPr>
            <a:br>
              <a:rPr i="1" lang="en-US" sz="85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i="1" lang="en-US" sz="85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0" y="6584875"/>
            <a:ext cx="23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OUR USP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What actually sets Nxance apart.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1234440" y="185623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Diagnosis before advice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5120640" y="1764792"/>
            <a:ext cx="6309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We start where the others don't: a fast, honest read of the portfolio you already have — before asking you to build or trade anything.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1"/>
          <p:cNvCxnSpPr/>
          <p:nvPr/>
        </p:nvCxnSpPr>
        <p:spPr>
          <a:xfrm>
            <a:off x="640080" y="2560320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1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1234440" y="290779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Explainable, not a black box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5120640" y="2816352"/>
            <a:ext cx="6309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Every output includes supporting data, methodology and stated limitations—not just a black-box score.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1"/>
          <p:cNvCxnSpPr/>
          <p:nvPr/>
        </p:nvCxnSpPr>
        <p:spPr>
          <a:xfrm>
            <a:off x="640080" y="3611880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1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1234440" y="395935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Subscription, not commission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5120640" y="3867912"/>
            <a:ext cx="6309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₹399–1499/month, flat. No AUM-based fees like Wright Research or Ionic Wealth, no lending cross-sell like MyFi — our incentive is your outcome, not your balance.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1"/>
          <p:cNvCxnSpPr/>
          <p:nvPr/>
        </p:nvCxnSpPr>
        <p:spPr>
          <a:xfrm>
            <a:off x="640080" y="4663440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1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1234440" y="501091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Broker- and asset-agnostic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5120640" y="4919472"/>
            <a:ext cx="6309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Works across any broker or asset class, not locked into one execution rail like Kalpi's broker integrations or Wright's smallcase-only model.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6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B84EF"/>
                </a:solidFill>
                <a:latin typeface="Calibri"/>
                <a:ea typeface="Calibri"/>
                <a:cs typeface="Calibri"/>
                <a:sym typeface="Calibri"/>
              </a:rPr>
              <a:t>MOAT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Trackers show. Nxance diagnoses.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40080" y="2377440"/>
            <a:ext cx="3456432" cy="2880360"/>
          </a:xfrm>
          <a:prstGeom prst="rect">
            <a:avLst/>
          </a:prstGeom>
          <a:solidFill>
            <a:srgbClr val="1A2C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914400" y="2670048"/>
            <a:ext cx="457200" cy="54864"/>
          </a:xfrm>
          <a:prstGeom prst="rect">
            <a:avLst/>
          </a:prstGeom>
          <a:solidFill>
            <a:srgbClr val="335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 txBox="1"/>
          <p:nvPr/>
        </p:nvSpPr>
        <p:spPr>
          <a:xfrm>
            <a:off x="914400" y="2926080"/>
            <a:ext cx="2907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grounded in verified data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914400" y="3749040"/>
            <a:ext cx="290779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4CCE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4CCE4"/>
                </a:solidFill>
                <a:latin typeface="Calibri"/>
                <a:ea typeface="Calibri"/>
                <a:cs typeface="Calibri"/>
                <a:sym typeface="Calibri"/>
              </a:rPr>
              <a:t>Every output is linked to underlying data, calculations and cited evidence. Generated explanations operate within defined guardrails and are presented with an evidence trail—not as a bare score.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352544" y="2377440"/>
            <a:ext cx="3456432" cy="2880360"/>
          </a:xfrm>
          <a:prstGeom prst="rect">
            <a:avLst/>
          </a:prstGeom>
          <a:solidFill>
            <a:srgbClr val="1A2C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4626864" y="2670048"/>
            <a:ext cx="457200" cy="54864"/>
          </a:xfrm>
          <a:prstGeom prst="rect">
            <a:avLst/>
          </a:prstGeom>
          <a:solidFill>
            <a:srgbClr val="335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 txBox="1"/>
          <p:nvPr/>
        </p:nvSpPr>
        <p:spPr>
          <a:xfrm>
            <a:off x="4626864" y="2926080"/>
            <a:ext cx="2907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Behaviour data compounds with use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 txBox="1"/>
          <p:nvPr/>
        </p:nvSpPr>
        <p:spPr>
          <a:xfrm>
            <a:off x="4626864" y="3749040"/>
            <a:ext cx="290779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4CCE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4CCE4"/>
                </a:solidFill>
                <a:latin typeface="Calibri"/>
                <a:ea typeface="Calibri"/>
                <a:cs typeface="Calibri"/>
                <a:sym typeface="Calibri"/>
              </a:rPr>
              <a:t>Product learning can improve the experience over time through explicitly consented, anonymised aggregate usage signals and robust data-governance controls.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8065008" y="2377440"/>
            <a:ext cx="3456432" cy="2880360"/>
          </a:xfrm>
          <a:prstGeom prst="rect">
            <a:avLst/>
          </a:prstGeom>
          <a:solidFill>
            <a:srgbClr val="1A2C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8339328" y="2670048"/>
            <a:ext cx="457200" cy="54864"/>
          </a:xfrm>
          <a:prstGeom prst="rect">
            <a:avLst/>
          </a:prstGeom>
          <a:solidFill>
            <a:srgbClr val="335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 txBox="1"/>
          <p:nvPr/>
        </p:nvSpPr>
        <p:spPr>
          <a:xfrm>
            <a:off x="8339328" y="2926080"/>
            <a:ext cx="2907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Structurally hard to copy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 txBox="1"/>
          <p:nvPr/>
        </p:nvSpPr>
        <p:spPr>
          <a:xfrm>
            <a:off x="8339328" y="3749040"/>
            <a:ext cx="29077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4CCE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4CCE4"/>
                </a:solidFill>
                <a:latin typeface="Calibri"/>
                <a:ea typeface="Calibri"/>
                <a:cs typeface="Calibri"/>
                <a:sym typeface="Calibri"/>
              </a:rPr>
              <a:t>Commission-free positioning is difficult for distributor-funded incumbents to replicate — trail commissions misalign their incentives.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409d2db3e1b_0_0"/>
          <p:cNvSpPr txBox="1"/>
          <p:nvPr/>
        </p:nvSpPr>
        <p:spPr>
          <a:xfrm>
            <a:off x="592750" y="399428"/>
            <a:ext cx="10058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Current Status/ Stage</a:t>
            </a:r>
            <a:endParaRPr b="1"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409d2db3e1b_0_0"/>
          <p:cNvSpPr txBox="1"/>
          <p:nvPr/>
        </p:nvSpPr>
        <p:spPr>
          <a:xfrm>
            <a:off x="457200" y="63550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409d2db3e1b_0_0"/>
          <p:cNvSpPr txBox="1"/>
          <p:nvPr/>
        </p:nvSpPr>
        <p:spPr>
          <a:xfrm>
            <a:off x="457200" y="920980"/>
            <a:ext cx="115023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67637" lvl="0" marL="9143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3200"/>
              <a:buFont typeface="Calibri"/>
              <a:buChar char=" "/>
            </a:pPr>
            <a:r>
              <a:t/>
            </a:r>
            <a:endParaRPr sz="3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CADE4"/>
              </a:buClr>
              <a:buSzPts val="3200"/>
              <a:buFont typeface="Calibri"/>
              <a:buChar char=" "/>
            </a:pPr>
            <a:r>
              <a:rPr b="1" lang="en-US" sz="3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Prototype, validated — backend build is the next milestone.</a:t>
            </a:r>
            <a:endParaRPr sz="3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409d2db3e1b_0_0"/>
          <p:cNvSpPr txBox="1"/>
          <p:nvPr/>
        </p:nvSpPr>
        <p:spPr>
          <a:xfrm>
            <a:off x="457200" y="2479714"/>
            <a:ext cx="32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75" name="Google Shape;375;g409d2db3e1b_0_0"/>
          <p:cNvSpPr txBox="1"/>
          <p:nvPr/>
        </p:nvSpPr>
        <p:spPr>
          <a:xfrm>
            <a:off x="914400" y="2479714"/>
            <a:ext cx="246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Frontend prototype complete</a:t>
            </a:r>
            <a:endParaRPr sz="1450"/>
          </a:p>
        </p:txBody>
      </p:sp>
      <p:sp>
        <p:nvSpPr>
          <p:cNvPr id="376" name="Google Shape;376;g409d2db3e1b_0_0"/>
          <p:cNvSpPr txBox="1"/>
          <p:nvPr/>
        </p:nvSpPr>
        <p:spPr>
          <a:xfrm>
            <a:off x="3474720" y="2448353"/>
            <a:ext cx="73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full clickable frontend across all three engines — Health Check, Construction, NxanceLM — is built and demoed, though not yet public.</a:t>
            </a:r>
            <a:endParaRPr sz="1200"/>
          </a:p>
        </p:txBody>
      </p:sp>
      <p:sp>
        <p:nvSpPr>
          <p:cNvPr id="377" name="Google Shape;377;g409d2db3e1b_0_0"/>
          <p:cNvSpPr txBox="1"/>
          <p:nvPr/>
        </p:nvSpPr>
        <p:spPr>
          <a:xfrm>
            <a:off x="914400" y="3504173"/>
            <a:ext cx="2469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Backend is the funded milestone</a:t>
            </a:r>
            <a:endParaRPr sz="1450"/>
          </a:p>
        </p:txBody>
      </p:sp>
      <p:sp>
        <p:nvSpPr>
          <p:cNvPr id="378" name="Google Shape;378;g409d2db3e1b_0_0"/>
          <p:cNvSpPr txBox="1"/>
          <p:nvPr/>
        </p:nvSpPr>
        <p:spPr>
          <a:xfrm>
            <a:off x="3474720" y="3472812"/>
            <a:ext cx="73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quant/ML computation engines and Number Guard verification layer are the next build step, funded by this raise, per the 18-month phased roadmap.</a:t>
            </a:r>
            <a:endParaRPr sz="1200"/>
          </a:p>
        </p:txBody>
      </p:sp>
      <p:sp>
        <p:nvSpPr>
          <p:cNvPr id="379" name="Google Shape;379;g409d2db3e1b_0_0"/>
          <p:cNvSpPr txBox="1"/>
          <p:nvPr/>
        </p:nvSpPr>
        <p:spPr>
          <a:xfrm>
            <a:off x="914400" y="4528631"/>
            <a:ext cx="246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Validated with real users</a:t>
            </a:r>
            <a:endParaRPr sz="1450"/>
          </a:p>
        </p:txBody>
      </p:sp>
      <p:sp>
        <p:nvSpPr>
          <p:cNvPr id="380" name="Google Shape;380;g409d2db3e1b_0_0"/>
          <p:cNvSpPr txBox="1"/>
          <p:nvPr/>
        </p:nvSpPr>
        <p:spPr>
          <a:xfrm>
            <a:off x="3474720" y="4497271"/>
            <a:ext cx="73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 investor/user conversations pressure-tested the problem; 50 early users walked through a working demo; 500 users have joined the pre-launch waitlist.</a:t>
            </a:r>
            <a:endParaRPr sz="1200"/>
          </a:p>
        </p:txBody>
      </p:sp>
      <p:sp>
        <p:nvSpPr>
          <p:cNvPr id="381" name="Google Shape;381;g409d2db3e1b_0_0"/>
          <p:cNvSpPr txBox="1"/>
          <p:nvPr/>
        </p:nvSpPr>
        <p:spPr>
          <a:xfrm>
            <a:off x="914400" y="5553090"/>
            <a:ext cx="246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Legal entity in place</a:t>
            </a:r>
            <a:endParaRPr sz="1450"/>
          </a:p>
        </p:txBody>
      </p:sp>
      <p:sp>
        <p:nvSpPr>
          <p:cNvPr id="382" name="Google Shape;382;g409d2db3e1b_0_0"/>
          <p:cNvSpPr txBox="1"/>
          <p:nvPr/>
        </p:nvSpPr>
        <p:spPr>
          <a:xfrm>
            <a:off x="3474720" y="5521729"/>
            <a:ext cx="73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Ohshn Intelligence LLP incorporated July 2026; conversion to Private Limited planned at funding close.</a:t>
            </a:r>
            <a:endParaRPr sz="1200"/>
          </a:p>
        </p:txBody>
      </p:sp>
      <p:sp>
        <p:nvSpPr>
          <p:cNvPr id="383" name="Google Shape;383;g409d2db3e1b_0_0"/>
          <p:cNvSpPr txBox="1"/>
          <p:nvPr/>
        </p:nvSpPr>
        <p:spPr>
          <a:xfrm>
            <a:off x="439080" y="2495220"/>
            <a:ext cx="384000" cy="384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409d2db3e1b_0_0"/>
          <p:cNvSpPr txBox="1"/>
          <p:nvPr/>
        </p:nvSpPr>
        <p:spPr>
          <a:xfrm>
            <a:off x="439080" y="4489533"/>
            <a:ext cx="384000" cy="384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409d2db3e1b_0_0"/>
          <p:cNvSpPr txBox="1"/>
          <p:nvPr/>
        </p:nvSpPr>
        <p:spPr>
          <a:xfrm>
            <a:off x="439080" y="3492382"/>
            <a:ext cx="384000" cy="384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409d2db3e1b_0_0"/>
          <p:cNvSpPr txBox="1"/>
          <p:nvPr/>
        </p:nvSpPr>
        <p:spPr>
          <a:xfrm>
            <a:off x="439080" y="5518870"/>
            <a:ext cx="384000" cy="384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409d2db3e1b_0_0"/>
          <p:cNvSpPr txBox="1"/>
          <p:nvPr/>
        </p:nvSpPr>
        <p:spPr>
          <a:xfrm>
            <a:off x="11185855" y="635508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Four founders, one product — full-time on Nxance.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640080" y="1874520"/>
            <a:ext cx="5212080" cy="196596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 txBox="1"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1600200" y="21031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Abhishek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 txBox="1"/>
          <p:nvPr/>
        </p:nvSpPr>
        <p:spPr>
          <a:xfrm>
            <a:off x="1600200" y="238658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Founder &amp; CEO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 txBox="1"/>
          <p:nvPr/>
        </p:nvSpPr>
        <p:spPr>
          <a:xfrm>
            <a:off x="914400" y="2770632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Investment analyst and product builder at the intersection of markets and technology. Trades equity &amp; derivatives, has managed live portfolios, and has driven sales strategies that consistently exceeded targets.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914400" y="352044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linkedin.com/in/abhishek-rajput-4913bb195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6172200" y="1874520"/>
            <a:ext cx="5212080" cy="196596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 txBox="1"/>
          <p:nvPr/>
        </p:nvSpPr>
        <p:spPr>
          <a:xfrm>
            <a:off x="6446520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7132320" y="21031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Raghav Kripasthya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7132320" y="238658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Co-Founder &amp; 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6446520" y="2770632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AI engineer and data scientist building intelligent systems across healthcare, defense, computer vision, and automation. Hands-on across Python, PyTorch, TensorFlow, AWS and full-stack development.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6446520" y="352044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linkedin.com/in/raghav-kripasthya-406a28261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640080" y="4114800"/>
            <a:ext cx="5212080" cy="196596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 txBox="1"/>
          <p:nvPr/>
        </p:nvSpPr>
        <p:spPr>
          <a:xfrm>
            <a:off x="914400" y="4389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 txBox="1"/>
          <p:nvPr/>
        </p:nvSpPr>
        <p:spPr>
          <a:xfrm>
            <a:off x="1600200" y="43434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Deepesh Khemka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>
            <a:off x="1600200" y="462686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Co-Founder &amp; 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 txBox="1"/>
          <p:nvPr/>
        </p:nvSpPr>
        <p:spPr>
          <a:xfrm>
            <a:off x="914400" y="5010912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CFA Level III (charter pending) with deep capital markets expertise, having built and scaled businesses before moving into wealth management. Leads investment strategy and client engagement.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 txBox="1"/>
          <p:nvPr/>
        </p:nvSpPr>
        <p:spPr>
          <a:xfrm>
            <a:off x="914400" y="57607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linkedin.com/in/deepesh-khemka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6172200" y="4114800"/>
            <a:ext cx="5212080" cy="196596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6446520" y="4389120"/>
            <a:ext cx="502920" cy="502920"/>
          </a:xfrm>
          <a:prstGeom prst="ellipse">
            <a:avLst/>
          </a:prstGeom>
          <a:solidFill>
            <a:srgbClr val="335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 txBox="1"/>
          <p:nvPr/>
        </p:nvSpPr>
        <p:spPr>
          <a:xfrm>
            <a:off x="6446520" y="4389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 txBox="1"/>
          <p:nvPr/>
        </p:nvSpPr>
        <p:spPr>
          <a:xfrm>
            <a:off x="7132320" y="43434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Bhaskar Pandey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 txBox="1"/>
          <p:nvPr/>
        </p:nvSpPr>
        <p:spPr>
          <a:xfrm>
            <a:off x="7132320" y="462686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Co-Founder &amp; COO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 txBox="1"/>
          <p:nvPr/>
        </p:nvSpPr>
        <p:spPr>
          <a:xfrm>
            <a:off x="6446520" y="5010912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Multidisciplinary founder and technology strategist across AI/ML, enterprise automation, and large-scale data platforms. Shipped 28+ npm packages for AI automation and workflow tooling.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6446520" y="57607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linkedin.com/in/bhaskar-pandey-a9b23018b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6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B84EF"/>
                </a:solidFill>
                <a:latin typeface="Calibri"/>
                <a:ea typeface="Calibri"/>
                <a:cs typeface="Calibri"/>
                <a:sym typeface="Calibri"/>
              </a:rPr>
              <a:t>TEAM &amp; HIRING PLAN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25 roles, 40-person capacity — built in step with the roadmap.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640080" y="178308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6B84EF"/>
                </a:solidFill>
                <a:latin typeface="Cambria"/>
                <a:ea typeface="Cambria"/>
                <a:cs typeface="Cambria"/>
                <a:sym typeface="Cambria"/>
              </a:rPr>
              <a:t>40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 txBox="1"/>
          <p:nvPr/>
        </p:nvSpPr>
        <p:spPr>
          <a:xfrm>
            <a:off x="640080" y="224028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Exit headcount capacity (people)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3383280" y="178308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6B84EF"/>
                </a:solidFill>
                <a:latin typeface="Cambria"/>
                <a:ea typeface="Cambria"/>
                <a:cs typeface="Cambria"/>
                <a:sym typeface="Cambria"/>
              </a:rPr>
              <a:t>₹37.85L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3383280" y="224028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Exit monthly payroll (Month 18) (/month)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 txBox="1"/>
          <p:nvPr/>
        </p:nvSpPr>
        <p:spPr>
          <a:xfrm>
            <a:off x="6126480" y="178308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6B84EF"/>
                </a:solidFill>
                <a:latin typeface="Cambria"/>
                <a:ea typeface="Cambria"/>
                <a:cs typeface="Cambria"/>
                <a:sym typeface="Cambria"/>
              </a:rPr>
              <a:t>₹583.10L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 txBox="1"/>
          <p:nvPr/>
        </p:nvSpPr>
        <p:spPr>
          <a:xfrm>
            <a:off x="6126480" y="224028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Budgeted people &amp; team pools (18-month cost)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 txBox="1"/>
          <p:nvPr/>
        </p:nvSpPr>
        <p:spPr>
          <a:xfrm>
            <a:off x="8869680" y="178308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6B84EF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 txBox="1"/>
          <p:nvPr/>
        </p:nvSpPr>
        <p:spPr>
          <a:xfrm>
            <a:off x="8869680" y="224028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Explicit hiring lines in the budget (cost pools)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640080" y="3063240"/>
            <a:ext cx="10881360" cy="365760"/>
          </a:xfrm>
          <a:prstGeom prst="rect">
            <a:avLst/>
          </a:prstGeom>
          <a:solidFill>
            <a:srgbClr val="1A2C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 txBox="1"/>
          <p:nvPr/>
        </p:nvSpPr>
        <p:spPr>
          <a:xfrm>
            <a:off x="713232" y="3063240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 txBox="1"/>
          <p:nvPr/>
        </p:nvSpPr>
        <p:spPr>
          <a:xfrm>
            <a:off x="4005072" y="3063240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18M Cost (₹L)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 txBox="1"/>
          <p:nvPr/>
        </p:nvSpPr>
        <p:spPr>
          <a:xfrm>
            <a:off x="5650992" y="3063240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% of pool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 txBox="1"/>
          <p:nvPr/>
        </p:nvSpPr>
        <p:spPr>
          <a:xfrm>
            <a:off x="7022592" y="3063240"/>
            <a:ext cx="4425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Hires start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 txBox="1"/>
          <p:nvPr/>
        </p:nvSpPr>
        <p:spPr>
          <a:xfrm>
            <a:off x="713232" y="3429000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Investment &amp; Research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 txBox="1"/>
          <p:nvPr/>
        </p:nvSpPr>
        <p:spPr>
          <a:xfrm>
            <a:off x="4005072" y="3429000"/>
            <a:ext cx="1499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250.5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5650992" y="3429000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43.0%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 txBox="1"/>
          <p:nvPr/>
        </p:nvSpPr>
        <p:spPr>
          <a:xfrm>
            <a:off x="7022592" y="3429000"/>
            <a:ext cx="4425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M1 (trader) → M12 (global mkt)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640080" y="3758184"/>
            <a:ext cx="10881360" cy="329184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 txBox="1"/>
          <p:nvPr/>
        </p:nvSpPr>
        <p:spPr>
          <a:xfrm>
            <a:off x="713232" y="3758184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Leadership (Founders)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4005072" y="3758184"/>
            <a:ext cx="1499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94.5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 txBox="1"/>
          <p:nvPr/>
        </p:nvSpPr>
        <p:spPr>
          <a:xfrm>
            <a:off x="5650992" y="3758184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16.2%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 txBox="1"/>
          <p:nvPr/>
        </p:nvSpPr>
        <p:spPr>
          <a:xfrm>
            <a:off x="7022592" y="3758184"/>
            <a:ext cx="4425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 txBox="1"/>
          <p:nvPr/>
        </p:nvSpPr>
        <p:spPr>
          <a:xfrm>
            <a:off x="713232" y="4087368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 txBox="1"/>
          <p:nvPr/>
        </p:nvSpPr>
        <p:spPr>
          <a:xfrm>
            <a:off x="4005072" y="4087368"/>
            <a:ext cx="1499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76.0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 txBox="1"/>
          <p:nvPr/>
        </p:nvSpPr>
        <p:spPr>
          <a:xfrm>
            <a:off x="5650992" y="4087368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13.0%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 txBox="1"/>
          <p:nvPr/>
        </p:nvSpPr>
        <p:spPr>
          <a:xfrm>
            <a:off x="7022592" y="4087368"/>
            <a:ext cx="4425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M1 (QA) → M5 (cyber, BE2)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640080" y="4416552"/>
            <a:ext cx="10881360" cy="329184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 txBox="1"/>
          <p:nvPr/>
        </p:nvSpPr>
        <p:spPr>
          <a:xfrm>
            <a:off x="713232" y="4416552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Quant &amp; Research Ops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 txBox="1"/>
          <p:nvPr/>
        </p:nvSpPr>
        <p:spPr>
          <a:xfrm>
            <a:off x="4005072" y="4416552"/>
            <a:ext cx="1499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64.0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 txBox="1"/>
          <p:nvPr/>
        </p:nvSpPr>
        <p:spPr>
          <a:xfrm>
            <a:off x="5650992" y="44165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11.0%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 txBox="1"/>
          <p:nvPr/>
        </p:nvSpPr>
        <p:spPr>
          <a:xfrm>
            <a:off x="7022592" y="4416552"/>
            <a:ext cx="4425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M1 (engines) → M10 (research)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 txBox="1"/>
          <p:nvPr/>
        </p:nvSpPr>
        <p:spPr>
          <a:xfrm>
            <a:off x="713232" y="4745736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Sales &amp; Customer Success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 txBox="1"/>
          <p:nvPr/>
        </p:nvSpPr>
        <p:spPr>
          <a:xfrm>
            <a:off x="4005072" y="4745736"/>
            <a:ext cx="1499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52.1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 txBox="1"/>
          <p:nvPr/>
        </p:nvSpPr>
        <p:spPr>
          <a:xfrm>
            <a:off x="5650992" y="4745736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8.9%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 txBox="1"/>
          <p:nvPr/>
        </p:nvSpPr>
        <p:spPr>
          <a:xfrm>
            <a:off x="7022592" y="4745736"/>
            <a:ext cx="4425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M2 (ground team) → M3 (support)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640080" y="5074920"/>
            <a:ext cx="10881360" cy="329184"/>
          </a:xfrm>
          <a:prstGeom prst="rect">
            <a:avLst/>
          </a:prstGeom>
          <a:solidFill>
            <a:srgbClr val="132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"/>
          <p:cNvSpPr txBox="1"/>
          <p:nvPr/>
        </p:nvSpPr>
        <p:spPr>
          <a:xfrm>
            <a:off x="713232" y="5074920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AI / ML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 txBox="1"/>
          <p:nvPr/>
        </p:nvSpPr>
        <p:spPr>
          <a:xfrm>
            <a:off x="4005072" y="5074920"/>
            <a:ext cx="1499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36.0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 txBox="1"/>
          <p:nvPr/>
        </p:nvSpPr>
        <p:spPr>
          <a:xfrm>
            <a:off x="5650992" y="5074920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6.2%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 txBox="1"/>
          <p:nvPr/>
        </p:nvSpPr>
        <p:spPr>
          <a:xfrm>
            <a:off x="7022592" y="5074920"/>
            <a:ext cx="4425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 txBox="1"/>
          <p:nvPr/>
        </p:nvSpPr>
        <p:spPr>
          <a:xfrm>
            <a:off x="713232" y="5404104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 txBox="1"/>
          <p:nvPr/>
        </p:nvSpPr>
        <p:spPr>
          <a:xfrm>
            <a:off x="4005072" y="5404104"/>
            <a:ext cx="1499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10.0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 txBox="1"/>
          <p:nvPr/>
        </p:nvSpPr>
        <p:spPr>
          <a:xfrm>
            <a:off x="5650992" y="5404104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1.7%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 txBox="1"/>
          <p:nvPr/>
        </p:nvSpPr>
        <p:spPr>
          <a:xfrm>
            <a:off x="7022592" y="5404104"/>
            <a:ext cx="4425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M9 (post-RIA readiness)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 txBox="1"/>
          <p:nvPr/>
        </p:nvSpPr>
        <p:spPr>
          <a:xfrm>
            <a:off x="640080" y="587044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Full 25-line role-by-role hiring schedule, start month and trigger milestone available in the detailed budget model.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5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Software margins. Zero marginal cost.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 txBox="1"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One engine. Every customer layer.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640080" y="2468880"/>
            <a:ext cx="3017520" cy="1005840"/>
          </a:xfrm>
          <a:prstGeom prst="rect">
            <a:avLst/>
          </a:prstGeom>
          <a:solidFill>
            <a:srgbClr val="EAEF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 txBox="1"/>
          <p:nvPr/>
        </p:nvSpPr>
        <p:spPr>
          <a:xfrm>
            <a:off x="640080" y="24688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Retail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 txBox="1"/>
          <p:nvPr/>
        </p:nvSpPr>
        <p:spPr>
          <a:xfrm>
            <a:off x="3657600" y="2468880"/>
            <a:ext cx="685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4343400" y="2468880"/>
            <a:ext cx="3017520" cy="1005840"/>
          </a:xfrm>
          <a:prstGeom prst="rect">
            <a:avLst/>
          </a:prstGeom>
          <a:solidFill>
            <a:srgbClr val="EAEF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 txBox="1"/>
          <p:nvPr/>
        </p:nvSpPr>
        <p:spPr>
          <a:xfrm>
            <a:off x="4343400" y="24688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Advisors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 txBox="1"/>
          <p:nvPr/>
        </p:nvSpPr>
        <p:spPr>
          <a:xfrm>
            <a:off x="7360920" y="2468880"/>
            <a:ext cx="685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8046720" y="2468880"/>
            <a:ext cx="3017520" cy="100584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 txBox="1"/>
          <p:nvPr/>
        </p:nvSpPr>
        <p:spPr>
          <a:xfrm>
            <a:off x="8046720" y="24688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Institutions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 txBox="1"/>
          <p:nvPr/>
        </p:nvSpPr>
        <p:spPr>
          <a:xfrm>
            <a:off x="640080" y="39776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400"/>
              <a:buFont typeface="Cambria"/>
              <a:buNone/>
            </a:pPr>
            <a:r>
              <a:rPr i="1" lang="en-US" sz="14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Shared platform infrastructure enables scale across customer layers, while AI, data, support and compliance costs are actively managed.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409d2db3e1b_0_19"/>
          <p:cNvSpPr txBox="1"/>
          <p:nvPr/>
        </p:nvSpPr>
        <p:spPr>
          <a:xfrm>
            <a:off x="555350" y="252327"/>
            <a:ext cx="100584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rPr>
              <a:t>Unique Value proposition</a:t>
            </a:r>
            <a:endParaRPr b="1" sz="1200">
              <a:solidFill>
                <a:srgbClr val="1CADE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409d2db3e1b_0_19"/>
          <p:cNvSpPr txBox="1"/>
          <p:nvPr/>
        </p:nvSpPr>
        <p:spPr>
          <a:xfrm>
            <a:off x="457200" y="63550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409d2db3e1b_0_19"/>
          <p:cNvSpPr txBox="1"/>
          <p:nvPr/>
        </p:nvSpPr>
        <p:spPr>
          <a:xfrm>
            <a:off x="458700" y="1100623"/>
            <a:ext cx="112746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ACTUALLY SETS NXANCE APART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Every investor gets a diagnosis first, an explainable answer, and a flat fee — not a black box or a commission.</a:t>
            </a:r>
            <a:endParaRPr sz="2200"/>
          </a:p>
        </p:txBody>
      </p:sp>
      <p:sp>
        <p:nvSpPr>
          <p:cNvPr id="506" name="Google Shape;506;g409d2db3e1b_0_19"/>
          <p:cNvSpPr txBox="1"/>
          <p:nvPr/>
        </p:nvSpPr>
        <p:spPr>
          <a:xfrm>
            <a:off x="933075" y="2522645"/>
            <a:ext cx="2743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Diagnosis before advice</a:t>
            </a:r>
            <a:endParaRPr sz="1450"/>
          </a:p>
        </p:txBody>
      </p:sp>
      <p:sp>
        <p:nvSpPr>
          <p:cNvPr id="507" name="Google Shape;507;g409d2db3e1b_0_19"/>
          <p:cNvSpPr txBox="1"/>
          <p:nvPr/>
        </p:nvSpPr>
        <p:spPr>
          <a:xfrm>
            <a:off x="3767714" y="2495213"/>
            <a:ext cx="70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Starts where others don't: a fast, honest read of the portfolio an investor already has — before asking them to build or trade anything new.</a:t>
            </a:r>
            <a:endParaRPr sz="1200"/>
          </a:p>
        </p:txBody>
      </p:sp>
      <p:sp>
        <p:nvSpPr>
          <p:cNvPr id="508" name="Google Shape;508;g409d2db3e1b_0_19"/>
          <p:cNvSpPr txBox="1"/>
          <p:nvPr/>
        </p:nvSpPr>
        <p:spPr>
          <a:xfrm>
            <a:off x="933075" y="3437045"/>
            <a:ext cx="2743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Explainable, not a black box</a:t>
            </a:r>
            <a:endParaRPr sz="1450"/>
          </a:p>
        </p:txBody>
      </p:sp>
      <p:sp>
        <p:nvSpPr>
          <p:cNvPr id="509" name="Google Shape;509;g409d2db3e1b_0_19"/>
          <p:cNvSpPr txBox="1"/>
          <p:nvPr/>
        </p:nvSpPr>
        <p:spPr>
          <a:xfrm>
            <a:off x="3767714" y="3409613"/>
            <a:ext cx="70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output carries supporting data, methodology and stated limitations, enforced by a Number Guard that blocks any AI-generated figure the engines didn't compute.</a:t>
            </a:r>
            <a:endParaRPr sz="1200"/>
          </a:p>
        </p:txBody>
      </p:sp>
      <p:sp>
        <p:nvSpPr>
          <p:cNvPr id="510" name="Google Shape;510;g409d2db3e1b_0_19"/>
          <p:cNvSpPr txBox="1"/>
          <p:nvPr/>
        </p:nvSpPr>
        <p:spPr>
          <a:xfrm>
            <a:off x="933075" y="4351445"/>
            <a:ext cx="2743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Subscription, not commission</a:t>
            </a:r>
            <a:endParaRPr sz="1450"/>
          </a:p>
        </p:txBody>
      </p:sp>
      <p:sp>
        <p:nvSpPr>
          <p:cNvPr id="511" name="Google Shape;511;g409d2db3e1b_0_19"/>
          <p:cNvSpPr txBox="1"/>
          <p:nvPr/>
        </p:nvSpPr>
        <p:spPr>
          <a:xfrm>
            <a:off x="3767714" y="4324013"/>
            <a:ext cx="70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Flat ₹399–1,499/month. No AUM-based fees like advisory-fee competitors, no lending cross-sell — the incentive is the user's outcome, not their balance.</a:t>
            </a:r>
            <a:endParaRPr sz="1200"/>
          </a:p>
        </p:txBody>
      </p:sp>
      <p:sp>
        <p:nvSpPr>
          <p:cNvPr id="512" name="Google Shape;512;g409d2db3e1b_0_19"/>
          <p:cNvSpPr txBox="1"/>
          <p:nvPr/>
        </p:nvSpPr>
        <p:spPr>
          <a:xfrm>
            <a:off x="933075" y="5265845"/>
            <a:ext cx="2743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Broker- and asset-agnostic</a:t>
            </a:r>
            <a:endParaRPr sz="1450"/>
          </a:p>
        </p:txBody>
      </p:sp>
      <p:sp>
        <p:nvSpPr>
          <p:cNvPr id="513" name="Google Shape;513;g409d2db3e1b_0_19"/>
          <p:cNvSpPr txBox="1"/>
          <p:nvPr/>
        </p:nvSpPr>
        <p:spPr>
          <a:xfrm>
            <a:off x="3767714" y="5238413"/>
            <a:ext cx="704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Works across any broker or asset class, not locked into one execution rail or a single model-portfolio format.</a:t>
            </a:r>
            <a:endParaRPr sz="1200"/>
          </a:p>
        </p:txBody>
      </p:sp>
      <p:sp>
        <p:nvSpPr>
          <p:cNvPr id="514" name="Google Shape;514;g409d2db3e1b_0_19"/>
          <p:cNvSpPr txBox="1"/>
          <p:nvPr/>
        </p:nvSpPr>
        <p:spPr>
          <a:xfrm>
            <a:off x="439080" y="2495220"/>
            <a:ext cx="384000" cy="384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409d2db3e1b_0_19"/>
          <p:cNvSpPr txBox="1"/>
          <p:nvPr/>
        </p:nvSpPr>
        <p:spPr>
          <a:xfrm>
            <a:off x="439080" y="4324033"/>
            <a:ext cx="384000" cy="384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409d2db3e1b_0_19"/>
          <p:cNvSpPr txBox="1"/>
          <p:nvPr/>
        </p:nvSpPr>
        <p:spPr>
          <a:xfrm>
            <a:off x="439080" y="3460182"/>
            <a:ext cx="384000" cy="384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409d2db3e1b_0_19"/>
          <p:cNvSpPr txBox="1"/>
          <p:nvPr/>
        </p:nvSpPr>
        <p:spPr>
          <a:xfrm>
            <a:off x="439080" y="5187875"/>
            <a:ext cx="384000" cy="384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409d2db3e1b_0_19"/>
          <p:cNvSpPr txBox="1"/>
          <p:nvPr/>
        </p:nvSpPr>
        <p:spPr>
          <a:xfrm>
            <a:off x="11185855" y="635508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409d2db3e1b_0_91"/>
          <p:cNvSpPr txBox="1"/>
          <p:nvPr/>
        </p:nvSpPr>
        <p:spPr>
          <a:xfrm>
            <a:off x="457200" y="170153"/>
            <a:ext cx="10058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rPr>
              <a:t>Channels</a:t>
            </a:r>
            <a:endParaRPr b="1" sz="1200">
              <a:solidFill>
                <a:srgbClr val="1CADE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409d2db3e1b_0_91"/>
          <p:cNvSpPr txBox="1"/>
          <p:nvPr/>
        </p:nvSpPr>
        <p:spPr>
          <a:xfrm>
            <a:off x="458700" y="965573"/>
            <a:ext cx="11274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37" lvl="0" marL="9143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 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GO-TO-MARKET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CADE4"/>
              </a:buClr>
              <a:buSzPts val="2200"/>
              <a:buFont typeface="Calibri"/>
              <a:buChar char=" "/>
            </a:pPr>
            <a:r>
              <a:rPr b="1" lang="en-US" sz="2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India-first, digital-led — a free hook that converts into paid depth.</a:t>
            </a:r>
            <a:endParaRPr sz="2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409d2db3e1b_0_91"/>
          <p:cNvSpPr txBox="1"/>
          <p:nvPr/>
        </p:nvSpPr>
        <p:spPr>
          <a:xfrm>
            <a:off x="914400" y="2377440"/>
            <a:ext cx="301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Freemium Health Check</a:t>
            </a:r>
            <a:endParaRPr sz="1450"/>
          </a:p>
        </p:txBody>
      </p:sp>
      <p:sp>
        <p:nvSpPr>
          <p:cNvPr id="527" name="Google Shape;527;g409d2db3e1b_0_91"/>
          <p:cNvSpPr txBox="1"/>
          <p:nvPr/>
        </p:nvSpPr>
        <p:spPr>
          <a:xfrm>
            <a:off x="4023360" y="2350008"/>
            <a:ext cx="67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free, honest diagnosis is the acquisition hook — organic app-store and web sign-ups convert through the ₹99 unlock into subscriptions.</a:t>
            </a:r>
            <a:endParaRPr sz="1200"/>
          </a:p>
        </p:txBody>
      </p:sp>
      <p:sp>
        <p:nvSpPr>
          <p:cNvPr id="528" name="Google Shape;528;g409d2db3e1b_0_91"/>
          <p:cNvSpPr txBox="1"/>
          <p:nvPr/>
        </p:nvSpPr>
        <p:spPr>
          <a:xfrm>
            <a:off x="914400" y="3154680"/>
            <a:ext cx="301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&amp; performance marketing</a:t>
            </a:r>
            <a:endParaRPr sz="1450"/>
          </a:p>
        </p:txBody>
      </p:sp>
      <p:sp>
        <p:nvSpPr>
          <p:cNvPr id="529" name="Google Shape;529;g409d2db3e1b_0_91"/>
          <p:cNvSpPr txBox="1"/>
          <p:nvPr/>
        </p:nvSpPr>
        <p:spPr>
          <a:xfrm>
            <a:off x="4023360" y="3127248"/>
            <a:ext cx="67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Targeted acquisition across search and social, aimed at self-directed retail investors and demat-account holders.</a:t>
            </a:r>
            <a:endParaRPr sz="1200"/>
          </a:p>
        </p:txBody>
      </p:sp>
      <p:sp>
        <p:nvSpPr>
          <p:cNvPr id="530" name="Google Shape;530;g409d2db3e1b_0_91"/>
          <p:cNvSpPr txBox="1"/>
          <p:nvPr/>
        </p:nvSpPr>
        <p:spPr>
          <a:xfrm>
            <a:off x="914400" y="3931920"/>
            <a:ext cx="301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Investor communities &amp; financial educators</a:t>
            </a:r>
            <a:endParaRPr sz="1450"/>
          </a:p>
        </p:txBody>
      </p:sp>
      <p:sp>
        <p:nvSpPr>
          <p:cNvPr id="531" name="Google Shape;531;g409d2db3e1b_0_91"/>
          <p:cNvSpPr txBox="1"/>
          <p:nvPr/>
        </p:nvSpPr>
        <p:spPr>
          <a:xfrm>
            <a:off x="4023360" y="3904488"/>
            <a:ext cx="676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Presence in trading/investing communities (Telegram, Reddit, YouTube) and partnerships with financial educators who already reach this audience.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Investor-education content and demat-holder communities build organic reach.</a:t>
            </a:r>
            <a:r>
              <a:rPr lang="en-US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32" name="Google Shape;532;g409d2db3e1b_0_91"/>
          <p:cNvSpPr txBox="1"/>
          <p:nvPr/>
        </p:nvSpPr>
        <p:spPr>
          <a:xfrm>
            <a:off x="914400" y="4709160"/>
            <a:ext cx="301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4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 In-app upgrade</a:t>
            </a:r>
            <a:endParaRPr sz="1450"/>
          </a:p>
        </p:txBody>
      </p:sp>
      <p:sp>
        <p:nvSpPr>
          <p:cNvPr id="533" name="Google Shape;533;g409d2db3e1b_0_91"/>
          <p:cNvSpPr txBox="1"/>
          <p:nvPr/>
        </p:nvSpPr>
        <p:spPr>
          <a:xfrm>
            <a:off x="4023360" y="4681728"/>
            <a:ext cx="67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Diagnosis surfaces the gap; Construction &amp; NxanceLM sit behind the paid tiers.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34" name="Google Shape;534;g409d2db3e1b_0_91"/>
          <p:cNvSpPr txBox="1"/>
          <p:nvPr/>
        </p:nvSpPr>
        <p:spPr>
          <a:xfrm>
            <a:off x="914400" y="5486400"/>
            <a:ext cx="301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Strategic &amp; distribution partnerships</a:t>
            </a:r>
            <a:endParaRPr sz="1450"/>
          </a:p>
        </p:txBody>
      </p:sp>
      <p:sp>
        <p:nvSpPr>
          <p:cNvPr id="535" name="Google Shape;535;g409d2db3e1b_0_91"/>
          <p:cNvSpPr txBox="1"/>
          <p:nvPr/>
        </p:nvSpPr>
        <p:spPr>
          <a:xfrm>
            <a:off x="4023360" y="5551343"/>
            <a:ext cx="67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Brokers, fintech apps and distributors as an embedded/B2B channel once the core B2C product is proven.</a:t>
            </a:r>
            <a:endParaRPr sz="1200"/>
          </a:p>
        </p:txBody>
      </p:sp>
      <p:sp>
        <p:nvSpPr>
          <p:cNvPr id="536" name="Google Shape;536;g409d2db3e1b_0_91"/>
          <p:cNvSpPr txBox="1"/>
          <p:nvPr/>
        </p:nvSpPr>
        <p:spPr>
          <a:xfrm>
            <a:off x="420300" y="2341375"/>
            <a:ext cx="365400" cy="3156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409d2db3e1b_0_91"/>
          <p:cNvSpPr txBox="1"/>
          <p:nvPr/>
        </p:nvSpPr>
        <p:spPr>
          <a:xfrm>
            <a:off x="420300" y="3977550"/>
            <a:ext cx="365400" cy="3156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409d2db3e1b_0_91"/>
          <p:cNvSpPr txBox="1"/>
          <p:nvPr/>
        </p:nvSpPr>
        <p:spPr>
          <a:xfrm>
            <a:off x="420300" y="3163950"/>
            <a:ext cx="365400" cy="3156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409d2db3e1b_0_91"/>
          <p:cNvSpPr txBox="1"/>
          <p:nvPr/>
        </p:nvSpPr>
        <p:spPr>
          <a:xfrm>
            <a:off x="420300" y="4754775"/>
            <a:ext cx="365400" cy="3156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409d2db3e1b_0_91"/>
          <p:cNvSpPr txBox="1"/>
          <p:nvPr/>
        </p:nvSpPr>
        <p:spPr>
          <a:xfrm>
            <a:off x="420300" y="5505747"/>
            <a:ext cx="365400" cy="2769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highlight>
                  <a:srgbClr val="1CADE4"/>
                </a:highlight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highlight>
                <a:srgbClr val="1CADE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409d2db3e1b_0_91"/>
          <p:cNvSpPr txBox="1"/>
          <p:nvPr/>
        </p:nvSpPr>
        <p:spPr>
          <a:xfrm>
            <a:off x="457200" y="63550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409d2db3e1b_0_91"/>
          <p:cNvSpPr txBox="1"/>
          <p:nvPr/>
        </p:nvSpPr>
        <p:spPr>
          <a:xfrm>
            <a:off x="11185855" y="635508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6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6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B84EF"/>
                </a:solidFill>
                <a:latin typeface="Calibri"/>
                <a:ea typeface="Calibri"/>
                <a:cs typeface="Calibri"/>
                <a:sym typeface="Calibri"/>
              </a:rPr>
              <a:t>WHY NOW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Payments disrupted. Lending disrupted.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Wealth intelligence: still empty.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6"/>
          <p:cNvSpPr txBox="1"/>
          <p:nvPr/>
        </p:nvSpPr>
        <p:spPr>
          <a:xfrm>
            <a:off x="640080" y="2423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The AI moment meets the retail boom.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640080" y="3200400"/>
            <a:ext cx="5486400" cy="1600200"/>
          </a:xfrm>
          <a:prstGeom prst="rect">
            <a:avLst/>
          </a:prstGeom>
          <a:solidFill>
            <a:srgbClr val="1A2C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6"/>
          <p:cNvSpPr txBox="1"/>
          <p:nvPr/>
        </p:nvSpPr>
        <p:spPr>
          <a:xfrm>
            <a:off x="914400" y="33832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4E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6B84EF"/>
                </a:solidFill>
                <a:latin typeface="Cambria"/>
                <a:ea typeface="Cambria"/>
                <a:cs typeface="Cambria"/>
                <a:sym typeface="Cambria"/>
              </a:rPr>
              <a:t>$112B → $550B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6"/>
          <p:cNvSpPr txBox="1"/>
          <p:nvPr/>
        </p:nvSpPr>
        <p:spPr>
          <a:xfrm>
            <a:off x="914400" y="3977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CE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D7DCEC"/>
                </a:solidFill>
                <a:latin typeface="Calibri"/>
                <a:ea typeface="Calibri"/>
                <a:cs typeface="Calibri"/>
                <a:sym typeface="Calibri"/>
              </a:rPr>
              <a:t>India's fintech market, 2024 → 2030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6"/>
          <p:cNvSpPr txBox="1"/>
          <p:nvPr/>
        </p:nvSpPr>
        <p:spPr>
          <a:xfrm>
            <a:off x="914400" y="438912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Source: TechSci Research, India FinTech Market Report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5A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5AE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7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500"/>
              <a:buFont typeface="Cambria"/>
              <a:buNone/>
            </a:pPr>
            <a:r>
              <a:rPr b="1" lang="en-US" sz="25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₹12.49 Cr for 20% equity — a ₹49.95 Cr pre-money valuation.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Post-money valuation ₹62.44 Cr · Investor ownership at close 20.0%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640080" y="2148840"/>
            <a:ext cx="3456432" cy="233172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7"/>
          <p:cNvSpPr txBox="1"/>
          <p:nvPr/>
        </p:nvSpPr>
        <p:spPr>
          <a:xfrm>
            <a:off x="914400" y="2423160"/>
            <a:ext cx="2907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₹12.49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 txBox="1"/>
          <p:nvPr/>
        </p:nvSpPr>
        <p:spPr>
          <a:xfrm>
            <a:off x="914400" y="3017520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crore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 txBox="1"/>
          <p:nvPr/>
        </p:nvSpPr>
        <p:spPr>
          <a:xfrm>
            <a:off x="914400" y="33375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Recommended funding ask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 txBox="1"/>
          <p:nvPr/>
        </p:nvSpPr>
        <p:spPr>
          <a:xfrm>
            <a:off x="914400" y="3703320"/>
            <a:ext cx="2907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18-month operating burn + refundable reserve + 12% contingency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4352544" y="2148840"/>
            <a:ext cx="3456432" cy="233172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7"/>
          <p:cNvSpPr txBox="1"/>
          <p:nvPr/>
        </p:nvSpPr>
        <p:spPr>
          <a:xfrm>
            <a:off x="4626864" y="2423160"/>
            <a:ext cx="2907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 txBox="1"/>
          <p:nvPr/>
        </p:nvSpPr>
        <p:spPr>
          <a:xfrm>
            <a:off x="4626864" y="3017520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months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 txBox="1"/>
          <p:nvPr/>
        </p:nvSpPr>
        <p:spPr>
          <a:xfrm>
            <a:off x="4626864" y="33375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Runway funded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 txBox="1"/>
          <p:nvPr/>
        </p:nvSpPr>
        <p:spPr>
          <a:xfrm>
            <a:off x="4626864" y="3703320"/>
            <a:ext cx="2907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From MBP build through Public V1 and institutional-pilot readiness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8065008" y="2148840"/>
            <a:ext cx="3456432" cy="233172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7"/>
          <p:cNvSpPr txBox="1"/>
          <p:nvPr/>
        </p:nvSpPr>
        <p:spPr>
          <a:xfrm>
            <a:off x="8339328" y="2423160"/>
            <a:ext cx="2907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6.8%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 txBox="1"/>
          <p:nvPr/>
        </p:nvSpPr>
        <p:spPr>
          <a:xfrm>
            <a:off x="8339328" y="3017520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of burn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 txBox="1"/>
          <p:nvPr/>
        </p:nvSpPr>
        <p:spPr>
          <a:xfrm>
            <a:off x="8339328" y="33375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Revenue offset (upside, not netted)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 txBox="1"/>
          <p:nvPr/>
        </p:nvSpPr>
        <p:spPr>
          <a:xfrm>
            <a:off x="8339328" y="3703320"/>
            <a:ext cx="2907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₹76.05 lakh gross subscription revenue projected over the same period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 txBox="1"/>
          <p:nvPr/>
        </p:nvSpPr>
        <p:spPr>
          <a:xfrm>
            <a:off x="640080" y="48006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Capital funds the full 18-month build — MBP through regulated beta, public launch, and the first institutional pilots — with revenue treated as upside, not a runway offset.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8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USE OF FUNDS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 txBox="1"/>
          <p:nvPr/>
        </p:nvSpPr>
        <p:spPr>
          <a:xfrm>
            <a:off x="640080" y="8686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How the ₹12.49 Cr gets deployed.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 txBox="1"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Based on the 18-month management budget — investor use-of-funds breakdown, before and including contingency.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 txBox="1"/>
          <p:nvPr/>
        </p:nvSpPr>
        <p:spPr>
          <a:xfrm>
            <a:off x="640080" y="18288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27.7%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 txBox="1"/>
          <p:nvPr/>
        </p:nvSpPr>
        <p:spPr>
          <a:xfrm>
            <a:off x="1600200" y="1810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Technology &amp;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 txBox="1"/>
          <p:nvPr/>
        </p:nvSpPr>
        <p:spPr>
          <a:xfrm>
            <a:off x="1600200" y="206654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₹345.30L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 txBox="1"/>
          <p:nvPr/>
        </p:nvSpPr>
        <p:spPr>
          <a:xfrm>
            <a:off x="640080" y="23317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Cloud, AI/LLM, APIs, engineering, DevOps, tools and compute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 txBox="1"/>
          <p:nvPr/>
        </p:nvSpPr>
        <p:spPr>
          <a:xfrm>
            <a:off x="640080" y="28346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23.6%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 txBox="1"/>
          <p:nvPr/>
        </p:nvSpPr>
        <p:spPr>
          <a:xfrm>
            <a:off x="1600200" y="28163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Investment &amp; Research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 txBox="1"/>
          <p:nvPr/>
        </p:nvSpPr>
        <p:spPr>
          <a:xfrm>
            <a:off x="1600200" y="307238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₹294.50L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 txBox="1"/>
          <p:nvPr/>
        </p:nvSpPr>
        <p:spPr>
          <a:xfrm>
            <a:off x="640080" y="33375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Quant, portfolio, research, risk, market and compliance expertise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 txBox="1"/>
          <p:nvPr/>
        </p:nvSpPr>
        <p:spPr>
          <a:xfrm>
            <a:off x="640080" y="3840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17.1%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 txBox="1"/>
          <p:nvPr/>
        </p:nvSpPr>
        <p:spPr>
          <a:xfrm>
            <a:off x="1600200" y="38221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Marketing &amp; Branding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 txBox="1"/>
          <p:nvPr/>
        </p:nvSpPr>
        <p:spPr>
          <a:xfrm>
            <a:off x="1600200" y="407822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₹213.90L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 txBox="1"/>
          <p:nvPr/>
        </p:nvSpPr>
        <p:spPr>
          <a:xfrm>
            <a:off x="640080" y="43434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Social, ads and media ramp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 txBox="1"/>
          <p:nvPr/>
        </p:nvSpPr>
        <p:spPr>
          <a:xfrm>
            <a:off x="640080" y="484632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10.7%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 txBox="1"/>
          <p:nvPr/>
        </p:nvSpPr>
        <p:spPr>
          <a:xfrm>
            <a:off x="160020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Contingency Reserve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 txBox="1"/>
          <p:nvPr/>
        </p:nvSpPr>
        <p:spPr>
          <a:xfrm>
            <a:off x="1600200" y="508406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₹133.25L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 txBox="1"/>
          <p:nvPr/>
        </p:nvSpPr>
        <p:spPr>
          <a:xfrm>
            <a:off x="640080" y="53492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12% of operating burn — protects runway from budget variance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 txBox="1"/>
          <p:nvPr/>
        </p:nvSpPr>
        <p:spPr>
          <a:xfrm>
            <a:off x="6309360" y="18288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6.1%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 txBox="1"/>
          <p:nvPr/>
        </p:nvSpPr>
        <p:spPr>
          <a:xfrm>
            <a:off x="7269480" y="1810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Organization &amp; Office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 txBox="1"/>
          <p:nvPr/>
        </p:nvSpPr>
        <p:spPr>
          <a:xfrm>
            <a:off x="7269480" y="206654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₹76.20L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 txBox="1"/>
          <p:nvPr/>
        </p:nvSpPr>
        <p:spPr>
          <a:xfrm>
            <a:off x="6309360" y="23317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Bengaluru office, email, infra, tools and administration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 txBox="1"/>
          <p:nvPr/>
        </p:nvSpPr>
        <p:spPr>
          <a:xfrm>
            <a:off x="6309360" y="28346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7.6%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 txBox="1"/>
          <p:nvPr/>
        </p:nvSpPr>
        <p:spPr>
          <a:xfrm>
            <a:off x="7269480" y="28163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Founder / Leadership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 txBox="1"/>
          <p:nvPr/>
        </p:nvSpPr>
        <p:spPr>
          <a:xfrm>
            <a:off x="7269480" y="307238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₹94.50L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 txBox="1"/>
          <p:nvPr/>
        </p:nvSpPr>
        <p:spPr>
          <a:xfrm>
            <a:off x="6309360" y="33375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Four founder cash draws across the full 18-month runway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 txBox="1"/>
          <p:nvPr/>
        </p:nvSpPr>
        <p:spPr>
          <a:xfrm>
            <a:off x="6309360" y="3840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4.2%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 txBox="1"/>
          <p:nvPr/>
        </p:nvSpPr>
        <p:spPr>
          <a:xfrm>
            <a:off x="7269480" y="38221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Sales &amp; Customer Support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 txBox="1"/>
          <p:nvPr/>
        </p:nvSpPr>
        <p:spPr>
          <a:xfrm>
            <a:off x="7269480" y="407822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₹52.10L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8"/>
          <p:cNvSpPr txBox="1"/>
          <p:nvPr/>
        </p:nvSpPr>
        <p:spPr>
          <a:xfrm>
            <a:off x="6309360" y="43434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Ground/call team and customer support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 txBox="1"/>
          <p:nvPr/>
        </p:nvSpPr>
        <p:spPr>
          <a:xfrm>
            <a:off x="6309360" y="484632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3358E8"/>
                </a:solidFill>
                <a:latin typeface="Cambria"/>
                <a:ea typeface="Cambria"/>
                <a:cs typeface="Cambria"/>
                <a:sym typeface="Cambria"/>
              </a:rPr>
              <a:t>2.3%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 txBox="1"/>
          <p:nvPr/>
        </p:nvSpPr>
        <p:spPr>
          <a:xfrm>
            <a:off x="7269480" y="4828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Compliance &amp; Licence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 txBox="1"/>
          <p:nvPr/>
        </p:nvSpPr>
        <p:spPr>
          <a:xfrm>
            <a:off x="7269480" y="508406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₹29.15L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 txBox="1"/>
          <p:nvPr/>
        </p:nvSpPr>
        <p:spPr>
          <a:xfrm>
            <a:off x="6309360" y="53492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930"/>
              <a:buFont typeface="Calibri"/>
              <a:buNone/>
            </a:pPr>
            <a:r>
              <a:rPr lang="en-US" sz="93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RIA prep, legal/CS/audit, DPDP, trademark, regulatory buffer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800"/>
              <a:buFont typeface="Calibri"/>
              <a:buNone/>
            </a:pPr>
            <a:r>
              <a:rPr i="1" lang="en-US" sz="12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18-month operating burn ₹11.11 Cr + ₹5.00 lakh refundable SEBI-RIA deposit + ₹1.33 Cr contingency reserve = ₹12.49 Cr recommended ask. Subscription revenue (₹0.76 Cr projected) is shown as upside, not netted against the ask.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409d2db3e1b_0_125"/>
          <p:cNvSpPr txBox="1"/>
          <p:nvPr/>
        </p:nvSpPr>
        <p:spPr>
          <a:xfrm>
            <a:off x="271000" y="228053"/>
            <a:ext cx="1005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rPr>
              <a:t>18-month plan</a:t>
            </a:r>
            <a:endParaRPr b="1" sz="1200">
              <a:solidFill>
                <a:srgbClr val="1CADE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409d2db3e1b_0_125"/>
          <p:cNvSpPr txBox="1"/>
          <p:nvPr/>
        </p:nvSpPr>
        <p:spPr>
          <a:xfrm>
            <a:off x="458688" y="836963"/>
            <a:ext cx="11274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7500" lnSpcReduction="20000"/>
          </a:bodyPr>
          <a:lstStyle/>
          <a:p>
            <a:pPr indent="0" lvl="1" marL="2011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DEVELOPMENT, FINANCIAL &amp; REVENUE ROADMAP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868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CADE4"/>
              </a:buClr>
              <a:buSzPct val="100000"/>
              <a:buFont typeface="Calibri"/>
              <a:buChar char=" "/>
            </a:pPr>
            <a:br>
              <a:rPr b="1" lang="en-US" sz="2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2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Front end fully</a:t>
            </a:r>
            <a:r>
              <a:rPr b="1" lang="en-US" sz="2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 built today. ₹12.49 Cr funds the 18-month build to institutional scale — with development, burn and revenue tracked phase by phase.</a:t>
            </a:r>
            <a:endParaRPr sz="2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3" name="Google Shape;633;g409d2db3e1b_0_125"/>
          <p:cNvGraphicFramePr/>
          <p:nvPr/>
        </p:nvGraphicFramePr>
        <p:xfrm>
          <a:off x="458750" y="1837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{CF49D45A-1F9D-46DA-9D43-499C33ADBB7D}</a:tableStyleId>
              </a:tblPr>
              <a:tblGrid>
                <a:gridCol w="1600200"/>
                <a:gridCol w="3611875"/>
                <a:gridCol w="2880350"/>
                <a:gridCol w="31821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</a:t>
                      </a:r>
                      <a:endParaRPr sz="1300"/>
                    </a:p>
                  </a:txBody>
                  <a:tcPr marT="36575" marB="36575" marR="73150" marL="7315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&amp; Build</a:t>
                      </a:r>
                      <a:endParaRPr sz="1300"/>
                    </a:p>
                  </a:txBody>
                  <a:tcPr marT="36575" marB="36575" marR="73150" marL="7315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Financial Plan</a:t>
                      </a:r>
                      <a:endParaRPr sz="1300"/>
                    </a:p>
                  </a:txBody>
                  <a:tcPr marT="36575" marB="36575" marR="73150" marL="7315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Plan</a:t>
                      </a:r>
                      <a:endParaRPr sz="1300"/>
                    </a:p>
                  </a:txBody>
                  <a:tcPr marT="36575" marB="36575" marR="73150" marL="73150" anchor="ctr">
                    <a:solidFill>
                      <a:srgbClr val="1B2A4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Foundation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M1–3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Portfolio import, health score &amp; analytics engine; admin QA.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Hires: CTO, engineers, ML, quant.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MBP build budget released.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Pre-launch — no revenue offset yet.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Pre-revenue: validating with 30–50 active testers.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Alpha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M4–6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profiling, suitability workflow, Monte Carlo &amp; human review.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Hires: QA, DevOps/security.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Regulated-beta budget released on SEBI-readiness gate.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Milestone 1 (M1–5): 75 subscribers · ₹1.61L collected.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Closed Beta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M7–9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Payments, recommendations, model monitoring &amp; support workflows.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Hires: 2nd backend + ML engineer.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Public-launch budget released on retention/paid-conversion gate.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Scaling toward Milestone 2 (600 subscribers by M12) as early retention data validates. 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V1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M10–12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Scalable production build, portfolio monitoring &amp; reporting.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Hires: 2nd customer-success.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Simulation-phase budget released.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Milestone 2 (M6–12): 600 subscribers · ₹14.46L collected.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Simulation Alpha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M13–15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 replay, synthetic scenarios, behavioural agents, stress tests.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Hires: simulation scientist.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Institutional-pilot budget released.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Building toward Milestone 3; 2 design partners onboarded.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Institutional Scale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M16–18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Advisor + simulation platform, APIs, enterprise dashboards.</a:t>
                      </a:r>
                      <a:endParaRPr sz="12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scales to 40 people.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Peak burn ₹76.91L/mo. 18-month burn ₹11.10 Cr + reserve → ₹12.49 Cr ask.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Milestone 3 (M13–18): 2,200 subscribers · ₹59.98L collected → ₹76.05L total (6.8% of burn).</a:t>
                      </a:r>
                      <a:endParaRPr sz="1250"/>
                    </a:p>
                  </a:txBody>
                  <a:tcPr marT="36575" marB="36575" marR="73150" marL="7315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34" name="Google Shape;634;g409d2db3e1b_0_125"/>
          <p:cNvSpPr txBox="1"/>
          <p:nvPr/>
        </p:nvSpPr>
        <p:spPr>
          <a:xfrm>
            <a:off x="458700" y="6071165"/>
            <a:ext cx="112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4506A"/>
                </a:solidFill>
                <a:latin typeface="Calibri"/>
                <a:ea typeface="Calibri"/>
                <a:cs typeface="Calibri"/>
                <a:sym typeface="Calibri"/>
              </a:rPr>
              <a:t>18-month build funded by a ₹12.49 Cr ask (₹11.10 Cr burn + ₹1.33 Cr contingency + ₹5L refundable SEBI-RIA deposit) · average burn ₹61.97L/mo, peaking at ₹76.91L in Month 18 · revenue is modelled as upside: ₹76.05L collected (6.8% of burn) as subscribers scale 75 → 600 → 2,200.</a:t>
            </a:r>
            <a:endParaRPr sz="1200"/>
          </a:p>
        </p:txBody>
      </p:sp>
      <p:sp>
        <p:nvSpPr>
          <p:cNvPr id="635" name="Google Shape;635;g409d2db3e1b_0_125"/>
          <p:cNvSpPr txBox="1"/>
          <p:nvPr/>
        </p:nvSpPr>
        <p:spPr>
          <a:xfrm>
            <a:off x="457175" y="653790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409d2db3e1b_0_125"/>
          <p:cNvSpPr txBox="1"/>
          <p:nvPr/>
        </p:nvSpPr>
        <p:spPr>
          <a:xfrm>
            <a:off x="11185855" y="635508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9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FINANCIAL OVERVIEW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9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18-month burn — building to a ₹76.9L/month run-rate by launch.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4" name="Google Shape;644;p19"/>
          <p:cNvGraphicFramePr/>
          <p:nvPr/>
        </p:nvGraphicFramePr>
        <p:xfrm>
          <a:off x="640080" y="1737360"/>
          <a:ext cx="10881360" cy="40233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45" name="Google Shape;645;p19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Peak month-18 burn ₹76.91L · Average burn ₹61.97L/mo · Total 18M requirement ₹1,248.70L (₹12.49 Cr)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9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9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58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58E8"/>
                </a:solidFill>
                <a:latin typeface="Calibri"/>
                <a:ea typeface="Calibri"/>
                <a:cs typeface="Calibri"/>
                <a:sym typeface="Calibri"/>
              </a:rPr>
              <a:t>EXIT PLAN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0"/>
          <p:cNvSpPr txBox="1"/>
          <p:nvPr/>
        </p:nvSpPr>
        <p:spPr>
          <a:xfrm>
            <a:off x="640080" y="8686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Natural acquirers: brokers, AMCs, banks.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0"/>
          <p:cNvSpPr txBox="1"/>
          <p:nvPr/>
        </p:nvSpPr>
        <p:spPr>
          <a:xfrm>
            <a:off x="640080" y="15087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Strategic acquisition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0"/>
          <p:cNvSpPr txBox="1"/>
          <p:nvPr/>
        </p:nvSpPr>
        <p:spPr>
          <a:xfrm>
            <a:off x="3749040" y="149047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Brokers, AMCs and banks already own the customer relationship Nxance makes stickier.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0"/>
          <p:cNvSpPr txBox="1"/>
          <p:nvPr/>
        </p:nvSpPr>
        <p:spPr>
          <a:xfrm>
            <a:off x="640080" y="20116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Wealthtech M&amp;A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0"/>
          <p:cNvSpPr txBox="1"/>
          <p:nvPr/>
        </p:nvSpPr>
        <p:spPr>
          <a:xfrm>
            <a:off x="3749040" y="199339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Recent wealthtech exits have typically traded at 8–15× revenue.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0"/>
          <p:cNvSpPr txBox="1"/>
          <p:nvPr/>
        </p:nvSpPr>
        <p:spPr>
          <a:xfrm>
            <a:off x="640080" y="25146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Long path: IPO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0"/>
          <p:cNvSpPr txBox="1"/>
          <p:nvPr/>
        </p:nvSpPr>
        <p:spPr>
          <a:xfrm>
            <a:off x="3749040" y="249631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SEBI-RIA registration → scaled advisory book → public listing.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0"/>
          <p:cNvSpPr txBox="1"/>
          <p:nvPr/>
        </p:nvSpPr>
        <p:spPr>
          <a:xfrm>
            <a:off x="640080" y="306324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Required exit by target investor return — on ₹12.49 Cr invested at 20% (13.0% final ownership after future dilution)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0"/>
          <p:cNvSpPr/>
          <p:nvPr/>
        </p:nvSpPr>
        <p:spPr>
          <a:xfrm>
            <a:off x="640080" y="3337560"/>
            <a:ext cx="9418320" cy="347472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0"/>
          <p:cNvSpPr txBox="1"/>
          <p:nvPr/>
        </p:nvSpPr>
        <p:spPr>
          <a:xfrm>
            <a:off x="731520" y="33375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Target MOIC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0"/>
          <p:cNvSpPr txBox="1"/>
          <p:nvPr/>
        </p:nvSpPr>
        <p:spPr>
          <a:xfrm>
            <a:off x="3749040" y="333756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Required Exit (₹Cr)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0"/>
          <p:cNvSpPr txBox="1"/>
          <p:nvPr/>
        </p:nvSpPr>
        <p:spPr>
          <a:xfrm>
            <a:off x="6949440" y="333756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5Y IRR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0"/>
          <p:cNvSpPr txBox="1"/>
          <p:nvPr/>
        </p:nvSpPr>
        <p:spPr>
          <a:xfrm>
            <a:off x="731520" y="368503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3.0x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0"/>
          <p:cNvSpPr txBox="1"/>
          <p:nvPr/>
        </p:nvSpPr>
        <p:spPr>
          <a:xfrm>
            <a:off x="3749040" y="368503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288.16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0"/>
          <p:cNvSpPr txBox="1"/>
          <p:nvPr/>
        </p:nvSpPr>
        <p:spPr>
          <a:xfrm>
            <a:off x="6949440" y="368503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24.6%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640080" y="4032504"/>
            <a:ext cx="9418320" cy="347472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0"/>
          <p:cNvSpPr txBox="1"/>
          <p:nvPr/>
        </p:nvSpPr>
        <p:spPr>
          <a:xfrm>
            <a:off x="731520" y="4032504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5.0x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0"/>
          <p:cNvSpPr txBox="1"/>
          <p:nvPr/>
        </p:nvSpPr>
        <p:spPr>
          <a:xfrm>
            <a:off x="3749040" y="4032504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480.27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0"/>
          <p:cNvSpPr txBox="1"/>
          <p:nvPr/>
        </p:nvSpPr>
        <p:spPr>
          <a:xfrm>
            <a:off x="6949440" y="4032504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38.0%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0"/>
          <p:cNvSpPr txBox="1"/>
          <p:nvPr/>
        </p:nvSpPr>
        <p:spPr>
          <a:xfrm>
            <a:off x="731520" y="4379976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8.0x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0"/>
          <p:cNvSpPr txBox="1"/>
          <p:nvPr/>
        </p:nvSpPr>
        <p:spPr>
          <a:xfrm>
            <a:off x="3749040" y="4379976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768.43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0"/>
          <p:cNvSpPr txBox="1"/>
          <p:nvPr/>
        </p:nvSpPr>
        <p:spPr>
          <a:xfrm>
            <a:off x="6949440" y="4379976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51.6%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0"/>
          <p:cNvSpPr/>
          <p:nvPr/>
        </p:nvSpPr>
        <p:spPr>
          <a:xfrm>
            <a:off x="640080" y="4727448"/>
            <a:ext cx="9418320" cy="347472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0"/>
          <p:cNvSpPr txBox="1"/>
          <p:nvPr/>
        </p:nvSpPr>
        <p:spPr>
          <a:xfrm>
            <a:off x="731520" y="472744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10.0x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0"/>
          <p:cNvSpPr txBox="1"/>
          <p:nvPr/>
        </p:nvSpPr>
        <p:spPr>
          <a:xfrm>
            <a:off x="3749040" y="4727448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960.54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0"/>
          <p:cNvSpPr txBox="1"/>
          <p:nvPr/>
        </p:nvSpPr>
        <p:spPr>
          <a:xfrm>
            <a:off x="6949440" y="4727448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58.5%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0"/>
          <p:cNvSpPr/>
          <p:nvPr/>
        </p:nvSpPr>
        <p:spPr>
          <a:xfrm>
            <a:off x="640080" y="5184648"/>
            <a:ext cx="10881360" cy="960120"/>
          </a:xfrm>
          <a:prstGeom prst="rect">
            <a:avLst/>
          </a:prstGeom>
          <a:solidFill>
            <a:srgbClr val="F3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0"/>
          <p:cNvSpPr txBox="1"/>
          <p:nvPr/>
        </p:nvSpPr>
        <p:spPr>
          <a:xfrm>
            <a:off x="914400" y="5294376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Illustrative target case   ·   ₹750 Cr exit → 7.8x MOIC, 50.8% 5Y IRR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0"/>
          <p:cNvSpPr txBox="1"/>
          <p:nvPr/>
        </p:nvSpPr>
        <p:spPr>
          <a:xfrm>
            <a:off x="914400" y="5605272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526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5262"/>
                </a:solidFill>
                <a:latin typeface="Calibri"/>
                <a:ea typeface="Calibri"/>
                <a:cs typeface="Calibri"/>
                <a:sym typeface="Calibri"/>
              </a:rPr>
              <a:t>6× Year-5 revenue cross-check on the prior ₹62.90 Cr base case implies a ₹377.40 Cr exit (3.9x MOIC, 31.5% IRR) — the 10x target requires an exit closer to ₹960 Cr, or roughly 11.9× Year-5 revenue. Exit values are scenario sensitivities, not forecasts.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0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0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0" name="Google Shape;690;p21"/>
          <p:cNvCxnSpPr/>
          <p:nvPr/>
        </p:nvCxnSpPr>
        <p:spPr>
          <a:xfrm>
            <a:off x="3538728" y="2331720"/>
            <a:ext cx="5120640" cy="0"/>
          </a:xfrm>
          <a:prstGeom prst="straightConnector1">
            <a:avLst/>
          </a:prstGeom>
          <a:noFill/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p21"/>
          <p:cNvCxnSpPr/>
          <p:nvPr/>
        </p:nvCxnSpPr>
        <p:spPr>
          <a:xfrm>
            <a:off x="3538728" y="2468880"/>
            <a:ext cx="5120640" cy="0"/>
          </a:xfrm>
          <a:prstGeom prst="straightConnector1">
            <a:avLst/>
          </a:prstGeom>
          <a:noFill/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nxance/logo_transparent.png" id="692" name="Google Shape;6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0008" y="2880360"/>
            <a:ext cx="2011680" cy="722376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21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800"/>
              <a:buFont typeface="Cambria"/>
              <a:buNone/>
            </a:pPr>
            <a:r>
              <a:rPr i="1" lang="en-US" sz="1800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Intelligence that leads to clearer decisions.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1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68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E7686"/>
                </a:solidFill>
                <a:latin typeface="Calibri"/>
                <a:ea typeface="Calibri"/>
                <a:cs typeface="Calibri"/>
                <a:sym typeface="Calibri"/>
              </a:rPr>
              <a:t>nxance.com   ·   Ohshn Intelligence LLP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Nxance · Ohshn Intelligence LLP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1"/>
          <p:cNvSpPr txBox="1"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1B0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2026-08-30T20:09:45Z</dcterms:created>
  <dc:creator>PptxGenJS</dc:creator>
</cp:coreProperties>
</file>